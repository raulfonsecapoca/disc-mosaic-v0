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sldIdLst>
    <p:sldId id="420" r:id="rId2"/>
    <p:sldId id="423" r:id="rId3"/>
    <p:sldId id="421" r:id="rId4"/>
    <p:sldId id="424" r:id="rId5"/>
    <p:sldId id="425" r:id="rId6"/>
    <p:sldId id="459" r:id="rId7"/>
    <p:sldId id="457" r:id="rId8"/>
    <p:sldId id="460" r:id="rId9"/>
    <p:sldId id="458" r:id="rId10"/>
    <p:sldId id="461" r:id="rId11"/>
    <p:sldId id="427" r:id="rId12"/>
    <p:sldId id="428" r:id="rId13"/>
    <p:sldId id="429" r:id="rId14"/>
    <p:sldId id="430" r:id="rId15"/>
    <p:sldId id="431" r:id="rId16"/>
    <p:sldId id="432" r:id="rId17"/>
    <p:sldId id="433" r:id="rId18"/>
    <p:sldId id="436" r:id="rId19"/>
    <p:sldId id="437" r:id="rId20"/>
    <p:sldId id="438" r:id="rId21"/>
    <p:sldId id="444" r:id="rId22"/>
    <p:sldId id="445" r:id="rId23"/>
    <p:sldId id="446" r:id="rId24"/>
    <p:sldId id="447" r:id="rId25"/>
    <p:sldId id="450" r:id="rId26"/>
    <p:sldId id="451" r:id="rId27"/>
    <p:sldId id="452" r:id="rId28"/>
    <p:sldId id="434" r:id="rId29"/>
    <p:sldId id="435" r:id="rId30"/>
    <p:sldId id="462" r:id="rId31"/>
    <p:sldId id="463" r:id="rId32"/>
    <p:sldId id="464" r:id="rId33"/>
    <p:sldId id="465" r:id="rId34"/>
    <p:sldId id="439" r:id="rId35"/>
    <p:sldId id="440" r:id="rId36"/>
    <p:sldId id="441" r:id="rId37"/>
    <p:sldId id="442" r:id="rId38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Symbol" panose="05050102010706020507" pitchFamily="18" charset="2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Symbol" panose="05050102010706020507" pitchFamily="18" charset="2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Symbol" panose="05050102010706020507" pitchFamily="18" charset="2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Symbol" panose="05050102010706020507" pitchFamily="18" charset="2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sz="2800" b="1" kern="1200">
        <a:solidFill>
          <a:schemeClr val="tx1"/>
        </a:solidFill>
        <a:latin typeface="Symbol" panose="05050102010706020507" pitchFamily="18" charset="2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sz="2800" b="1" kern="1200">
        <a:solidFill>
          <a:schemeClr val="tx1"/>
        </a:solidFill>
        <a:latin typeface="Symbol" panose="05050102010706020507" pitchFamily="18" charset="2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sz="2800" b="1" kern="1200">
        <a:solidFill>
          <a:schemeClr val="tx1"/>
        </a:solidFill>
        <a:latin typeface="Symbol" panose="05050102010706020507" pitchFamily="18" charset="2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sz="2800" b="1" kern="1200">
        <a:solidFill>
          <a:schemeClr val="tx1"/>
        </a:solidFill>
        <a:latin typeface="Symbol" panose="05050102010706020507" pitchFamily="18" charset="2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sz="2800" b="1" kern="1200">
        <a:solidFill>
          <a:schemeClr val="tx1"/>
        </a:solidFill>
        <a:latin typeface="Symbol" panose="05050102010706020507" pitchFamily="18" charset="2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00080"/>
    <a:srgbClr val="0000CC"/>
    <a:srgbClr val="006600"/>
    <a:srgbClr val="800000"/>
    <a:srgbClr val="CCFFFF"/>
    <a:srgbClr val="003300"/>
    <a:srgbClr val="FFFFCC"/>
    <a:srgbClr val="FFFF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23" autoAdjust="0"/>
    <p:restoredTop sz="90563" autoAdjust="0"/>
  </p:normalViewPr>
  <p:slideViewPr>
    <p:cSldViewPr snapToGrid="0">
      <p:cViewPr>
        <p:scale>
          <a:sx n="75" d="100"/>
          <a:sy n="75" d="100"/>
        </p:scale>
        <p:origin x="979" y="10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537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2.wmf"/><Relationship Id="rId1" Type="http://schemas.openxmlformats.org/officeDocument/2006/relationships/image" Target="../media/image31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5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4E5A29CE-BB24-4721-AAB6-77172F416CD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76323821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6699F06-EACC-40BC-839F-3125C6C29B6C}" type="slidenum">
              <a:rPr lang="fr-FR" altLang="fr-FR"/>
              <a:pPr>
                <a:spcBef>
                  <a:spcPct val="0"/>
                </a:spcBef>
              </a:pPr>
              <a:t>1</a:t>
            </a:fld>
            <a:endParaRPr lang="fr-FR" altLang="fr-FR"/>
          </a:p>
        </p:txBody>
      </p:sp>
      <p:sp>
        <p:nvSpPr>
          <p:cNvPr id="40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410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3999259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4D73EC7-F8D5-4585-8A38-0638F03A7FE8}" type="slidenum">
              <a:rPr lang="fr-FR" altLang="fr-FR"/>
              <a:pPr>
                <a:spcBef>
                  <a:spcPct val="0"/>
                </a:spcBef>
              </a:pPr>
              <a:t>2</a:t>
            </a:fld>
            <a:endParaRPr lang="fr-FR" altLang="fr-FR"/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614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31992178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8AB65FE-EC1F-471E-8B81-2B287B0F880D}" type="slidenum">
              <a:rPr lang="fr-FR" altLang="fr-FR"/>
              <a:pPr>
                <a:spcBef>
                  <a:spcPct val="0"/>
                </a:spcBef>
              </a:pPr>
              <a:t>3</a:t>
            </a:fld>
            <a:endParaRPr lang="fr-FR" altLang="fr-FR"/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819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870749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5DAA2A-94B8-4FD5-B4D0-80FC00B47643}" type="slidenum">
              <a:rPr lang="fr-FR" altLang="fr-FR"/>
              <a:pPr>
                <a:spcBef>
                  <a:spcPct val="0"/>
                </a:spcBef>
              </a:pPr>
              <a:t>4</a:t>
            </a:fld>
            <a:endParaRPr lang="fr-FR" altLang="fr-FR"/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1024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96087868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86DCD35-92AC-4CE3-B0AD-40519AB43F8C}" type="slidenum">
              <a:rPr lang="fr-FR" altLang="fr-FR"/>
              <a:pPr>
                <a:spcBef>
                  <a:spcPct val="0"/>
                </a:spcBef>
              </a:pPr>
              <a:t>5</a:t>
            </a:fld>
            <a:endParaRPr lang="fr-FR" altLang="fr-FR"/>
          </a:p>
        </p:txBody>
      </p:sp>
      <p:sp>
        <p:nvSpPr>
          <p:cNvPr id="1229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1229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7240400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283AE5-63E1-49EA-A171-AD26708C6FA4}" type="slidenum">
              <a:rPr lang="fr-FR" altLang="fr-FR"/>
              <a:pPr>
                <a:spcBef>
                  <a:spcPct val="0"/>
                </a:spcBef>
              </a:pPr>
              <a:t>6</a:t>
            </a:fld>
            <a:endParaRPr lang="fr-FR" altLang="fr-FR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1434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61408416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283AE5-63E1-49EA-A171-AD26708C6FA4}" type="slidenum">
              <a:rPr lang="fr-FR" altLang="fr-FR"/>
              <a:pPr>
                <a:spcBef>
                  <a:spcPct val="0"/>
                </a:spcBef>
              </a:pPr>
              <a:t>7</a:t>
            </a:fld>
            <a:endParaRPr lang="fr-FR" altLang="fr-FR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1434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354307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283AE5-63E1-49EA-A171-AD26708C6FA4}" type="slidenum">
              <a:rPr lang="fr-FR" altLang="fr-FR"/>
              <a:pPr>
                <a:spcBef>
                  <a:spcPct val="0"/>
                </a:spcBef>
              </a:pPr>
              <a:t>8</a:t>
            </a:fld>
            <a:endParaRPr lang="fr-FR" altLang="fr-FR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1434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99679934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283AE5-63E1-49EA-A171-AD26708C6FA4}" type="slidenum">
              <a:rPr lang="fr-FR" altLang="fr-FR"/>
              <a:pPr>
                <a:spcBef>
                  <a:spcPct val="0"/>
                </a:spcBef>
              </a:pPr>
              <a:t>9</a:t>
            </a:fld>
            <a:endParaRPr lang="fr-FR" altLang="fr-FR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1434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30153557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9283AE5-63E1-49EA-A171-AD26708C6FA4}" type="slidenum">
              <a:rPr lang="fr-FR" altLang="fr-FR"/>
              <a:pPr>
                <a:spcBef>
                  <a:spcPct val="0"/>
                </a:spcBef>
              </a:pPr>
              <a:t>10</a:t>
            </a:fld>
            <a:endParaRPr lang="fr-FR" altLang="fr-FR"/>
          </a:p>
        </p:txBody>
      </p:sp>
      <p:sp>
        <p:nvSpPr>
          <p:cNvPr id="1433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dirty="0" smtClean="0"/>
          </a:p>
        </p:txBody>
      </p:sp>
      <p:sp>
        <p:nvSpPr>
          <p:cNvPr id="1434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05338325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99BDBDA-56EB-4E65-A848-8E9E7415285D}" type="slidenum">
              <a:rPr lang="fr-FR" altLang="fr-FR"/>
              <a:pPr>
                <a:spcBef>
                  <a:spcPct val="0"/>
                </a:spcBef>
              </a:pPr>
              <a:t>11</a:t>
            </a:fld>
            <a:endParaRPr lang="fr-FR" altLang="fr-FR"/>
          </a:p>
        </p:txBody>
      </p:sp>
      <p:sp>
        <p:nvSpPr>
          <p:cNvPr id="1638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1638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26430096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86BAE96C-E83B-4F33-82EA-C220EC333F06}" type="slidenum">
              <a:rPr lang="fr-FR" altLang="fr-FR"/>
              <a:pPr>
                <a:spcBef>
                  <a:spcPct val="0"/>
                </a:spcBef>
              </a:pPr>
              <a:t>12</a:t>
            </a:fld>
            <a:endParaRPr lang="fr-FR" altLang="fr-FR"/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5506513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BDA112C-00B5-4D33-BB03-5BE1072B2E9F}" type="slidenum">
              <a:rPr lang="fr-FR" altLang="fr-FR"/>
              <a:pPr>
                <a:spcBef>
                  <a:spcPct val="0"/>
                </a:spcBef>
              </a:pPr>
              <a:t>13</a:t>
            </a:fld>
            <a:endParaRPr lang="fr-FR" altLang="fr-FR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4105774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C260E95D-495B-48E7-AB3F-56C9CB690D89}" type="slidenum">
              <a:rPr lang="fr-FR" altLang="fr-FR"/>
              <a:pPr>
                <a:spcBef>
                  <a:spcPct val="0"/>
                </a:spcBef>
              </a:pPr>
              <a:t>14</a:t>
            </a:fld>
            <a:endParaRPr lang="fr-FR" altLang="fr-FR"/>
          </a:p>
        </p:txBody>
      </p:sp>
      <p:sp>
        <p:nvSpPr>
          <p:cNvPr id="2253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2253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98965800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4381E3F-1F71-4865-A4A7-0F9027A6B76E}" type="slidenum">
              <a:rPr lang="fr-FR" altLang="fr-FR"/>
              <a:pPr>
                <a:spcBef>
                  <a:spcPct val="0"/>
                </a:spcBef>
              </a:pPr>
              <a:t>15</a:t>
            </a:fld>
            <a:endParaRPr lang="fr-FR" altLang="fr-FR"/>
          </a:p>
        </p:txBody>
      </p:sp>
      <p:sp>
        <p:nvSpPr>
          <p:cNvPr id="2457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2458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72274450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3EFCCA6-04E4-4046-A79D-1319CE257478}" type="slidenum">
              <a:rPr lang="fr-FR" altLang="fr-FR"/>
              <a:pPr>
                <a:spcBef>
                  <a:spcPct val="0"/>
                </a:spcBef>
              </a:pPr>
              <a:t>16</a:t>
            </a:fld>
            <a:endParaRPr lang="fr-FR" altLang="fr-FR"/>
          </a:p>
        </p:txBody>
      </p:sp>
      <p:sp>
        <p:nvSpPr>
          <p:cNvPr id="266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0161529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0DC901A-2295-4E4B-ADF7-EBB5E65AF822}" type="slidenum">
              <a:rPr lang="fr-FR" altLang="fr-FR"/>
              <a:pPr>
                <a:spcBef>
                  <a:spcPct val="0"/>
                </a:spcBef>
              </a:pPr>
              <a:t>17</a:t>
            </a:fld>
            <a:endParaRPr lang="fr-FR" altLang="fr-FR"/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fr-FR" altLang="fr-FR" smtClean="0"/>
          </a:p>
        </p:txBody>
      </p:sp>
    </p:spTree>
    <p:extLst>
      <p:ext uri="{BB962C8B-B14F-4D97-AF65-F5344CB8AC3E}">
        <p14:creationId xmlns:p14="http://schemas.microsoft.com/office/powerpoint/2010/main" val="16812310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BC766565-8801-4A87-AE6D-9F4546BC46F1}" type="slidenum">
              <a:rPr lang="fr-FR" altLang="fr-FR"/>
              <a:pPr>
                <a:spcBef>
                  <a:spcPct val="0"/>
                </a:spcBef>
              </a:pPr>
              <a:t>18</a:t>
            </a:fld>
            <a:endParaRPr lang="fr-FR" altLang="fr-FR"/>
          </a:p>
        </p:txBody>
      </p:sp>
      <p:sp>
        <p:nvSpPr>
          <p:cNvPr id="3072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3072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19583318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28152E8-58D0-4355-9E6A-6BB641705937}" type="slidenum">
              <a:rPr lang="fr-FR" altLang="fr-FR"/>
              <a:pPr>
                <a:spcBef>
                  <a:spcPct val="0"/>
                </a:spcBef>
              </a:pPr>
              <a:t>19</a:t>
            </a:fld>
            <a:endParaRPr lang="fr-FR" altLang="fr-FR"/>
          </a:p>
        </p:txBody>
      </p:sp>
      <p:sp>
        <p:nvSpPr>
          <p:cNvPr id="3277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3277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91679038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E2BAE06-45E3-47B0-8230-7C823E05C450}" type="slidenum">
              <a:rPr lang="fr-FR" altLang="fr-FR"/>
              <a:pPr>
                <a:spcBef>
                  <a:spcPct val="0"/>
                </a:spcBef>
              </a:pPr>
              <a:t>20</a:t>
            </a:fld>
            <a:endParaRPr lang="fr-FR" altLang="fr-FR"/>
          </a:p>
        </p:txBody>
      </p:sp>
      <p:sp>
        <p:nvSpPr>
          <p:cNvPr id="3481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3482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56256119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FFE031-7739-40C9-AEAF-ED877681DDCF}" type="slidenum">
              <a:rPr lang="fr-FR" altLang="fr-FR"/>
              <a:pPr>
                <a:spcBef>
                  <a:spcPct val="0"/>
                </a:spcBef>
              </a:pPr>
              <a:t>21</a:t>
            </a:fld>
            <a:endParaRPr lang="fr-FR" altLang="fr-FR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3686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75723225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78B07B-C61D-498A-A646-F06F90656786}" type="slidenum">
              <a:rPr lang="fr-FR" altLang="fr-FR"/>
              <a:pPr>
                <a:spcBef>
                  <a:spcPct val="0"/>
                </a:spcBef>
              </a:pPr>
              <a:t>22</a:t>
            </a:fld>
            <a:endParaRPr lang="fr-FR" altLang="fr-FR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3891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1097806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9230AB-D156-4295-A153-57E099D34A61}" type="slidenum">
              <a:rPr lang="fr-FR" altLang="fr-FR"/>
              <a:pPr>
                <a:spcBef>
                  <a:spcPct val="0"/>
                </a:spcBef>
              </a:pPr>
              <a:t>23</a:t>
            </a:fld>
            <a:endParaRPr lang="fr-FR" altLang="fr-FR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4096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899521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94C1391-48FD-4586-92D0-8426A23880C2}" type="slidenum">
              <a:rPr lang="fr-FR" altLang="fr-FR"/>
              <a:pPr>
                <a:spcBef>
                  <a:spcPct val="0"/>
                </a:spcBef>
              </a:pPr>
              <a:t>24</a:t>
            </a:fld>
            <a:endParaRPr lang="fr-FR" altLang="fr-FR"/>
          </a:p>
        </p:txBody>
      </p:sp>
      <p:sp>
        <p:nvSpPr>
          <p:cNvPr id="4301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4301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41190123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F5D3FCDD-FAA7-42E7-BFBC-B6496CE7CCD6}" type="slidenum">
              <a:rPr lang="fr-FR" altLang="fr-FR"/>
              <a:pPr>
                <a:spcBef>
                  <a:spcPct val="0"/>
                </a:spcBef>
              </a:pPr>
              <a:t>25</a:t>
            </a:fld>
            <a:endParaRPr lang="fr-FR" altLang="fr-FR"/>
          </a:p>
        </p:txBody>
      </p:sp>
      <p:sp>
        <p:nvSpPr>
          <p:cNvPr id="4505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4506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3928729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602E9CDB-C9E6-4425-A144-8F5934512409}" type="slidenum">
              <a:rPr lang="fr-FR" altLang="fr-FR"/>
              <a:pPr>
                <a:spcBef>
                  <a:spcPct val="0"/>
                </a:spcBef>
              </a:pPr>
              <a:t>26</a:t>
            </a:fld>
            <a:endParaRPr lang="fr-FR" altLang="fr-FR"/>
          </a:p>
        </p:txBody>
      </p:sp>
      <p:sp>
        <p:nvSpPr>
          <p:cNvPr id="4710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4710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138628883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79B87773-B501-4072-8D92-88FFC32EC03E}" type="slidenum">
              <a:rPr lang="fr-FR" altLang="fr-FR"/>
              <a:pPr>
                <a:spcBef>
                  <a:spcPct val="0"/>
                </a:spcBef>
              </a:pPr>
              <a:t>27</a:t>
            </a:fld>
            <a:endParaRPr lang="fr-FR" altLang="fr-FR"/>
          </a:p>
        </p:txBody>
      </p:sp>
      <p:sp>
        <p:nvSpPr>
          <p:cNvPr id="4915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4915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708895925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D2DB0CA-0634-4B95-8164-CC443E80E79E}" type="slidenum">
              <a:rPr lang="fr-FR" altLang="fr-FR"/>
              <a:pPr>
                <a:spcBef>
                  <a:spcPct val="0"/>
                </a:spcBef>
              </a:pPr>
              <a:t>28</a:t>
            </a:fld>
            <a:endParaRPr lang="fr-FR" altLang="fr-FR"/>
          </a:p>
        </p:txBody>
      </p:sp>
      <p:sp>
        <p:nvSpPr>
          <p:cNvPr id="5120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5120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472677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EF9CF2-EBCB-4A9A-B708-1974D4F55E8E}" type="slidenum">
              <a:rPr lang="fr-FR" altLang="fr-FR"/>
              <a:pPr>
                <a:spcBef>
                  <a:spcPct val="0"/>
                </a:spcBef>
              </a:pPr>
              <a:t>29</a:t>
            </a:fld>
            <a:endParaRPr lang="fr-FR" altLang="fr-FR"/>
          </a:p>
        </p:txBody>
      </p:sp>
      <p:sp>
        <p:nvSpPr>
          <p:cNvPr id="53251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53252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92034958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9pPr>
          </a:lstStyle>
          <a:p>
            <a:pPr eaLnBrk="1" hangingPunct="1"/>
            <a:fld id="{D5E9B131-1017-437D-AD3E-F9A8F07C4636}" type="slidenum">
              <a:rPr lang="fr-FR" altLang="fr-FR" sz="1200" b="0">
                <a:latin typeface="Times New Roman" panose="02020603050405020304" pitchFamily="18" charset="0"/>
              </a:rPr>
              <a:pPr eaLnBrk="1" hangingPunct="1"/>
              <a:t>30</a:t>
            </a:fld>
            <a:endParaRPr lang="fr-FR" altLang="fr-FR" sz="1200" b="0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3379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33958767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95FFE031-7739-40C9-AEAF-ED877681DDCF}" type="slidenum">
              <a:rPr lang="fr-FR" altLang="fr-FR"/>
              <a:pPr>
                <a:spcBef>
                  <a:spcPct val="0"/>
                </a:spcBef>
              </a:pPr>
              <a:t>31</a:t>
            </a:fld>
            <a:endParaRPr lang="fr-FR" altLang="fr-FR"/>
          </a:p>
        </p:txBody>
      </p:sp>
      <p:sp>
        <p:nvSpPr>
          <p:cNvPr id="3686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3686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64297341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0578B07B-C61D-498A-A646-F06F90656786}" type="slidenum">
              <a:rPr lang="fr-FR" altLang="fr-FR"/>
              <a:pPr>
                <a:spcBef>
                  <a:spcPct val="0"/>
                </a:spcBef>
              </a:pPr>
              <a:t>32</a:t>
            </a:fld>
            <a:endParaRPr lang="fr-FR" altLang="fr-FR"/>
          </a:p>
        </p:txBody>
      </p:sp>
      <p:sp>
        <p:nvSpPr>
          <p:cNvPr id="3891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3891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33074827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79230AB-D156-4295-A153-57E099D34A61}" type="slidenum">
              <a:rPr lang="fr-FR" altLang="fr-FR"/>
              <a:pPr>
                <a:spcBef>
                  <a:spcPct val="0"/>
                </a:spcBef>
              </a:pPr>
              <a:t>33</a:t>
            </a:fld>
            <a:endParaRPr lang="fr-FR" altLang="fr-FR"/>
          </a:p>
        </p:txBody>
      </p:sp>
      <p:sp>
        <p:nvSpPr>
          <p:cNvPr id="4096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4096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362706450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47B2700A-73B8-44F0-BB60-4D1FCC0EC891}" type="slidenum">
              <a:rPr lang="fr-FR" altLang="fr-FR"/>
              <a:pPr>
                <a:spcBef>
                  <a:spcPct val="0"/>
                </a:spcBef>
              </a:pPr>
              <a:t>34</a:t>
            </a:fld>
            <a:endParaRPr lang="fr-FR" altLang="fr-FR"/>
          </a:p>
        </p:txBody>
      </p:sp>
      <p:sp>
        <p:nvSpPr>
          <p:cNvPr id="55299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55300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7785398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1A77D877-F82F-475F-919B-61409E8FD085}" type="slidenum">
              <a:rPr lang="fr-FR" altLang="fr-FR"/>
              <a:pPr>
                <a:spcBef>
                  <a:spcPct val="0"/>
                </a:spcBef>
              </a:pPr>
              <a:t>35</a:t>
            </a:fld>
            <a:endParaRPr lang="fr-FR" altLang="fr-FR"/>
          </a:p>
        </p:txBody>
      </p:sp>
      <p:sp>
        <p:nvSpPr>
          <p:cNvPr id="57347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57348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651046834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E73DC54-3A00-46A3-A3DA-16E336C179E2}" type="slidenum">
              <a:rPr lang="fr-FR" altLang="fr-FR"/>
              <a:pPr>
                <a:spcBef>
                  <a:spcPct val="0"/>
                </a:spcBef>
              </a:pPr>
              <a:t>36</a:t>
            </a:fld>
            <a:endParaRPr lang="fr-FR" altLang="fr-FR"/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59396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25092135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E0059BDC-D38F-40FE-8DED-CD8F3D13B59F}" type="slidenum">
              <a:rPr lang="fr-FR" altLang="fr-FR"/>
              <a:pPr>
                <a:spcBef>
                  <a:spcPct val="0"/>
                </a:spcBef>
              </a:pPr>
              <a:t>37</a:t>
            </a:fld>
            <a:endParaRPr lang="fr-FR" altLang="fr-FR"/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914400" y="4343400"/>
            <a:ext cx="5026025" cy="4113213"/>
          </a:xfrm>
          <a:noFill/>
        </p:spPr>
        <p:txBody>
          <a:bodyPr lIns="91501" tIns="44948" rIns="91501" bIns="44948"/>
          <a:lstStyle/>
          <a:p>
            <a:pPr eaLnBrk="1" hangingPunct="1"/>
            <a:endParaRPr lang="fr-FR" altLang="fr-FR" smtClean="0"/>
          </a:p>
        </p:txBody>
      </p:sp>
      <p:sp>
        <p:nvSpPr>
          <p:cNvPr id="61444" name="Rectangle 3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0938" y="692150"/>
            <a:ext cx="4554537" cy="3414713"/>
          </a:xfrm>
          <a:ln w="12700" cap="flat">
            <a:solidFill>
              <a:schemeClr val="tx1"/>
            </a:solidFill>
          </a:ln>
        </p:spPr>
      </p:sp>
    </p:spTree>
    <p:extLst>
      <p:ext uri="{BB962C8B-B14F-4D97-AF65-F5344CB8AC3E}">
        <p14:creationId xmlns:p14="http://schemas.microsoft.com/office/powerpoint/2010/main" val="29581580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Modifiez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A70C3C-FEF5-4F9C-B1A6-81D932BFCE5A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6172473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436AA3-1192-47A1-AAD3-D0503F10152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407956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8AE590-D3B4-4158-B5D5-73C7B87BA6C5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42594521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637C8F-02AE-4E13-980C-47CFD24CE14A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1614504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3951F0-A7C5-4933-BBAE-A3449B566866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65737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743F2E-E0B4-4397-B685-D21462F86B4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386066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0CDBAE-B2F2-4C40-889A-B1A4F85CD63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9986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2EE682-F9C9-4521-AA56-E6CA09794F59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156854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733136-4015-4B49-A6EA-E7397F80235B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568658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C8F287-785F-459C-B661-DC6F5B7D3662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30086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8D3BD-2B63-4C8A-BEFB-085D2334B4C4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  <p:extLst>
      <p:ext uri="{BB962C8B-B14F-4D97-AF65-F5344CB8AC3E}">
        <p14:creationId xmlns:p14="http://schemas.microsoft.com/office/powerpoint/2010/main" val="2906655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C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 style du titre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smtClean="0"/>
              <a:t>Cliquez pour modifier les styles du texte du masque</a:t>
            </a:r>
          </a:p>
          <a:p>
            <a:pPr lvl="1"/>
            <a:r>
              <a:rPr lang="fr-FR" altLang="fr-FR" smtClean="0"/>
              <a:t>Deuxième niveau</a:t>
            </a:r>
          </a:p>
          <a:p>
            <a:pPr lvl="2"/>
            <a:r>
              <a:rPr lang="fr-FR" altLang="fr-FR" smtClean="0"/>
              <a:t>Troisième niveau</a:t>
            </a:r>
          </a:p>
          <a:p>
            <a:pPr lvl="3"/>
            <a:r>
              <a:rPr lang="fr-FR" altLang="fr-FR" smtClean="0"/>
              <a:t>Quatrième niveau</a:t>
            </a:r>
          </a:p>
          <a:p>
            <a:pPr lvl="4"/>
            <a:r>
              <a:rPr lang="fr-FR" altLang="fr-FR" smtClean="0"/>
              <a:t>Cinquième niveau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 b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FE91419-47B5-4AEF-9FA5-633714B23973}" type="slidenum">
              <a:rPr lang="fr-FR" altLang="fr-FR"/>
              <a:pPr>
                <a:defRPr/>
              </a:pPr>
              <a:t>‹N°›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image" Target="../media/image2.wmf"/><Relationship Id="rId7" Type="http://schemas.openxmlformats.org/officeDocument/2006/relationships/image" Target="../media/image5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4.wmf"/><Relationship Id="rId4" Type="http://schemas.openxmlformats.org/officeDocument/2006/relationships/image" Target="../media/image3.w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w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wmf"/><Relationship Id="rId4" Type="http://schemas.openxmlformats.org/officeDocument/2006/relationships/image" Target="../media/image5.w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emf"/><Relationship Id="rId9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13" Type="http://schemas.openxmlformats.org/officeDocument/2006/relationships/image" Target="../media/image29.png"/><Relationship Id="rId3" Type="http://schemas.openxmlformats.org/officeDocument/2006/relationships/image" Target="../media/image13.png"/><Relationship Id="rId7" Type="http://schemas.openxmlformats.org/officeDocument/2006/relationships/image" Target="../media/image23.png"/><Relationship Id="rId12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14.emf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29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80.png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0.wmf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10" Type="http://schemas.openxmlformats.org/officeDocument/2006/relationships/image" Target="../media/image38.png"/><Relationship Id="rId4" Type="http://schemas.openxmlformats.org/officeDocument/2006/relationships/image" Target="../media/image29.emf"/><Relationship Id="rId9" Type="http://schemas.openxmlformats.org/officeDocument/2006/relationships/image" Target="../media/image37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5" Type="http://schemas.openxmlformats.org/officeDocument/2006/relationships/image" Target="../media/image5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Relationship Id="rId14" Type="http://schemas.openxmlformats.org/officeDocument/2006/relationships/image" Target="../media/image5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wmf"/><Relationship Id="rId3" Type="http://schemas.openxmlformats.org/officeDocument/2006/relationships/notesSlide" Target="../notesSlides/notesSlide11.xml"/><Relationship Id="rId7" Type="http://schemas.openxmlformats.org/officeDocument/2006/relationships/oleObject" Target="../embeddings/oleObject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1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5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7" Type="http://schemas.openxmlformats.org/officeDocument/2006/relationships/image" Target="../media/image54.wmf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5" Type="http://schemas.openxmlformats.org/officeDocument/2006/relationships/image" Target="../media/image53.png"/><Relationship Id="rId4" Type="http://schemas.openxmlformats.org/officeDocument/2006/relationships/image" Target="../media/image5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wmf"/><Relationship Id="rId3" Type="http://schemas.openxmlformats.org/officeDocument/2006/relationships/notesSlide" Target="../notesSlides/notesSlide13.xml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53.png"/><Relationship Id="rId5" Type="http://schemas.openxmlformats.org/officeDocument/2006/relationships/image" Target="../media/image55.png"/><Relationship Id="rId4" Type="http://schemas.openxmlformats.org/officeDocument/2006/relationships/image" Target="../media/image5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9.wmf"/><Relationship Id="rId4" Type="http://schemas.openxmlformats.org/officeDocument/2006/relationships/image" Target="../media/image5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1.emf"/><Relationship Id="rId4" Type="http://schemas.openxmlformats.org/officeDocument/2006/relationships/image" Target="../media/image59.w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60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2.png"/><Relationship Id="rId5" Type="http://schemas.openxmlformats.org/officeDocument/2006/relationships/image" Target="../media/image53.png"/><Relationship Id="rId4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wmf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3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6.emf"/><Relationship Id="rId4" Type="http://schemas.openxmlformats.org/officeDocument/2006/relationships/image" Target="../media/image65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e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6.e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8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6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emf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2.png"/><Relationship Id="rId5" Type="http://schemas.openxmlformats.org/officeDocument/2006/relationships/image" Target="../media/image71.png"/><Relationship Id="rId4" Type="http://schemas.openxmlformats.org/officeDocument/2006/relationships/image" Target="../media/image6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7" Type="http://schemas.openxmlformats.org/officeDocument/2006/relationships/image" Target="../media/image73.emf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1.png"/><Relationship Id="rId4" Type="http://schemas.openxmlformats.org/officeDocument/2006/relationships/image" Target="../media/image68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wmf"/><Relationship Id="rId3" Type="http://schemas.openxmlformats.org/officeDocument/2006/relationships/image" Target="../media/image1.png"/><Relationship Id="rId7" Type="http://schemas.openxmlformats.org/officeDocument/2006/relationships/image" Target="../media/image78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emf"/><Relationship Id="rId5" Type="http://schemas.openxmlformats.org/officeDocument/2006/relationships/image" Target="../media/image77.png"/><Relationship Id="rId10" Type="http://schemas.openxmlformats.org/officeDocument/2006/relationships/image" Target="../media/image66.emf"/><Relationship Id="rId4" Type="http://schemas.openxmlformats.org/officeDocument/2006/relationships/image" Target="../media/image5.wmf"/><Relationship Id="rId9" Type="http://schemas.openxmlformats.org/officeDocument/2006/relationships/image" Target="../media/image64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9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0.png"/><Relationship Id="rId4" Type="http://schemas.openxmlformats.org/officeDocument/2006/relationships/image" Target="../media/image6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1.png"/><Relationship Id="rId4" Type="http://schemas.openxmlformats.org/officeDocument/2006/relationships/image" Target="../media/image6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0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wmf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3.wmf"/><Relationship Id="rId4" Type="http://schemas.openxmlformats.org/officeDocument/2006/relationships/image" Target="../media/image82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ext Box 2"/>
          <p:cNvSpPr txBox="1">
            <a:spLocks noChangeArrowheads="1"/>
          </p:cNvSpPr>
          <p:nvPr/>
        </p:nvSpPr>
        <p:spPr bwMode="auto">
          <a:xfrm>
            <a:off x="957263" y="457200"/>
            <a:ext cx="6913562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Restauration d’un signal :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Le filtre de Wiener</a:t>
            </a:r>
          </a:p>
        </p:txBody>
      </p:sp>
      <p:sp>
        <p:nvSpPr>
          <p:cNvPr id="3075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076" name="Text Box 4"/>
          <p:cNvSpPr txBox="1">
            <a:spLocks noChangeArrowheads="1"/>
          </p:cNvSpPr>
          <p:nvPr/>
        </p:nvSpPr>
        <p:spPr bwMode="auto">
          <a:xfrm>
            <a:off x="115888" y="1701800"/>
            <a:ext cx="87725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On connaît l’existence d’une impulsion et on cherche à déterminer sa position.</a:t>
            </a:r>
          </a:p>
        </p:txBody>
      </p:sp>
      <p:sp>
        <p:nvSpPr>
          <p:cNvPr id="3077" name="Text Box 41"/>
          <p:cNvSpPr txBox="1">
            <a:spLocks noChangeArrowheads="1"/>
          </p:cNvSpPr>
          <p:nvPr/>
        </p:nvSpPr>
        <p:spPr bwMode="auto">
          <a:xfrm>
            <a:off x="117475" y="3375025"/>
            <a:ext cx="87725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On connaît la position éventuelle d’une impulsion, et on cherche à déterminer si elle est présente ou non.</a:t>
            </a:r>
          </a:p>
        </p:txBody>
      </p:sp>
      <p:sp>
        <p:nvSpPr>
          <p:cNvPr id="3078" name="Text Box 42"/>
          <p:cNvSpPr txBox="1">
            <a:spLocks noChangeArrowheads="1"/>
          </p:cNvSpPr>
          <p:nvPr/>
        </p:nvSpPr>
        <p:spPr bwMode="auto">
          <a:xfrm>
            <a:off x="3194050" y="2586038"/>
            <a:ext cx="28225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>
                <a:solidFill>
                  <a:schemeClr val="tx2"/>
                </a:solidFill>
                <a:latin typeface="Arial" panose="020B0604020202020204" pitchFamily="34" charset="0"/>
              </a:rPr>
              <a:t>Estimation</a:t>
            </a:r>
          </a:p>
        </p:txBody>
      </p:sp>
      <p:sp>
        <p:nvSpPr>
          <p:cNvPr id="3079" name="Text Box 43"/>
          <p:cNvSpPr txBox="1">
            <a:spLocks noChangeArrowheads="1"/>
          </p:cNvSpPr>
          <p:nvPr/>
        </p:nvSpPr>
        <p:spPr bwMode="auto">
          <a:xfrm>
            <a:off x="3194050" y="4273550"/>
            <a:ext cx="23336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>
                <a:solidFill>
                  <a:schemeClr val="tx2"/>
                </a:solidFill>
                <a:latin typeface="Arial" panose="020B0604020202020204" pitchFamily="34" charset="0"/>
              </a:rPr>
              <a:t>Détection</a:t>
            </a:r>
          </a:p>
        </p:txBody>
      </p:sp>
      <p:sp>
        <p:nvSpPr>
          <p:cNvPr id="3080" name="AutoShape 45"/>
          <p:cNvSpPr>
            <a:spLocks noChangeArrowheads="1"/>
          </p:cNvSpPr>
          <p:nvPr/>
        </p:nvSpPr>
        <p:spPr bwMode="auto">
          <a:xfrm>
            <a:off x="2597150" y="2779713"/>
            <a:ext cx="428625" cy="192087"/>
          </a:xfrm>
          <a:prstGeom prst="rightArrow">
            <a:avLst>
              <a:gd name="adj1" fmla="val 67315"/>
              <a:gd name="adj2" fmla="val 115703"/>
            </a:avLst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3081" name="AutoShape 46"/>
          <p:cNvSpPr>
            <a:spLocks noChangeArrowheads="1"/>
          </p:cNvSpPr>
          <p:nvPr/>
        </p:nvSpPr>
        <p:spPr bwMode="auto">
          <a:xfrm>
            <a:off x="2597150" y="4481513"/>
            <a:ext cx="428625" cy="192087"/>
          </a:xfrm>
          <a:prstGeom prst="rightArrow">
            <a:avLst>
              <a:gd name="adj1" fmla="val 67315"/>
              <a:gd name="adj2" fmla="val 115703"/>
            </a:avLst>
          </a:prstGeom>
          <a:noFill/>
          <a:ln w="762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456751" name="Text Box 47"/>
          <p:cNvSpPr txBox="1">
            <a:spLocks noChangeArrowheads="1"/>
          </p:cNvSpPr>
          <p:nvPr/>
        </p:nvSpPr>
        <p:spPr bwMode="auto">
          <a:xfrm>
            <a:off x="100013" y="5054600"/>
            <a:ext cx="87725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solidFill>
                  <a:srgbClr val="003300"/>
                </a:solidFill>
                <a:latin typeface="Arial" panose="020B0604020202020204" pitchFamily="34" charset="0"/>
              </a:rPr>
              <a:t> On mesure un signal perturbé par un bruit, et on veut reconstituer au mieux </a:t>
            </a:r>
            <a:r>
              <a:rPr lang="fr-FR" altLang="fr-FR" sz="2400">
                <a:solidFill>
                  <a:srgbClr val="003300"/>
                </a:solidFill>
                <a:latin typeface="Arial" panose="020B0604020202020204" pitchFamily="34" charset="0"/>
              </a:rPr>
              <a:t>la forme</a:t>
            </a:r>
            <a:r>
              <a:rPr lang="fr-FR" altLang="fr-FR" sz="2400" b="0">
                <a:solidFill>
                  <a:srgbClr val="003300"/>
                </a:solidFill>
                <a:latin typeface="Arial" panose="020B0604020202020204" pitchFamily="34" charset="0"/>
              </a:rPr>
              <a:t> de ce signal</a:t>
            </a:r>
          </a:p>
        </p:txBody>
      </p:sp>
      <p:sp>
        <p:nvSpPr>
          <p:cNvPr id="456752" name="Text Box 48"/>
          <p:cNvSpPr txBox="1">
            <a:spLocks noChangeArrowheads="1"/>
          </p:cNvSpPr>
          <p:nvPr/>
        </p:nvSpPr>
        <p:spPr bwMode="auto">
          <a:xfrm>
            <a:off x="3194050" y="5995988"/>
            <a:ext cx="279717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>
                <a:solidFill>
                  <a:srgbClr val="800000"/>
                </a:solidFill>
                <a:latin typeface="Arial" panose="020B0604020202020204" pitchFamily="34" charset="0"/>
              </a:rPr>
              <a:t>Restauration</a:t>
            </a:r>
          </a:p>
        </p:txBody>
      </p:sp>
      <p:sp>
        <p:nvSpPr>
          <p:cNvPr id="456753" name="AutoShape 49"/>
          <p:cNvSpPr>
            <a:spLocks noChangeArrowheads="1"/>
          </p:cNvSpPr>
          <p:nvPr/>
        </p:nvSpPr>
        <p:spPr bwMode="auto">
          <a:xfrm>
            <a:off x="2597150" y="6189663"/>
            <a:ext cx="428625" cy="192087"/>
          </a:xfrm>
          <a:prstGeom prst="rightArrow">
            <a:avLst>
              <a:gd name="adj1" fmla="val 67315"/>
              <a:gd name="adj2" fmla="val 115703"/>
            </a:avLst>
          </a:prstGeom>
          <a:noFill/>
          <a:ln w="762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6751" grpId="0"/>
      <p:bldP spid="456752" grpId="0"/>
      <p:bldP spid="45675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957263" y="457200"/>
            <a:ext cx="6913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Position du problème</a:t>
            </a:r>
          </a:p>
        </p:txBody>
      </p:sp>
      <p:sp>
        <p:nvSpPr>
          <p:cNvPr id="5123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124" name="Text Box 4"/>
          <p:cNvSpPr txBox="1">
            <a:spLocks noChangeArrowheads="1"/>
          </p:cNvSpPr>
          <p:nvPr/>
        </p:nvSpPr>
        <p:spPr bwMode="auto">
          <a:xfrm>
            <a:off x="115888" y="1316038"/>
            <a:ext cx="87725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Modèle du signal mesuré :</a:t>
            </a:r>
          </a:p>
        </p:txBody>
      </p:sp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9138" y="1984375"/>
            <a:ext cx="4468812" cy="568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6214" name="Text Box 6"/>
          <p:cNvSpPr txBox="1">
            <a:spLocks noChangeArrowheads="1"/>
          </p:cNvSpPr>
          <p:nvPr/>
        </p:nvSpPr>
        <p:spPr bwMode="auto">
          <a:xfrm>
            <a:off x="1393825" y="2911475"/>
            <a:ext cx="2298700" cy="466725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400" b="0" i="1">
                <a:solidFill>
                  <a:srgbClr val="003300"/>
                </a:solidFill>
                <a:latin typeface="Arial" panose="020B0604020202020204" pitchFamily="34" charset="0"/>
              </a:rPr>
              <a:t>Signal « utile »</a:t>
            </a:r>
          </a:p>
        </p:txBody>
      </p:sp>
      <p:sp>
        <p:nvSpPr>
          <p:cNvPr id="606215" name="Text Box 7"/>
          <p:cNvSpPr txBox="1">
            <a:spLocks noChangeArrowheads="1"/>
          </p:cNvSpPr>
          <p:nvPr/>
        </p:nvSpPr>
        <p:spPr bwMode="auto">
          <a:xfrm>
            <a:off x="5940425" y="2909888"/>
            <a:ext cx="2298700" cy="466725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400" b="0" i="1">
                <a:solidFill>
                  <a:srgbClr val="003300"/>
                </a:solidFill>
                <a:latin typeface="Arial" panose="020B0604020202020204" pitchFamily="34" charset="0"/>
              </a:rPr>
              <a:t>« Bruit »</a:t>
            </a:r>
          </a:p>
        </p:txBody>
      </p:sp>
      <p:sp>
        <p:nvSpPr>
          <p:cNvPr id="606216" name="Line 8"/>
          <p:cNvSpPr>
            <a:spLocks noChangeShapeType="1"/>
          </p:cNvSpPr>
          <p:nvPr/>
        </p:nvSpPr>
        <p:spPr bwMode="auto">
          <a:xfrm flipV="1">
            <a:off x="3700463" y="2438400"/>
            <a:ext cx="247650" cy="449263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06217" name="Line 9"/>
          <p:cNvSpPr>
            <a:spLocks noChangeShapeType="1"/>
          </p:cNvSpPr>
          <p:nvPr/>
        </p:nvSpPr>
        <p:spPr bwMode="auto">
          <a:xfrm flipH="1" flipV="1">
            <a:off x="5599113" y="2436813"/>
            <a:ext cx="361950" cy="477837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06218" name="Text Box 10"/>
          <p:cNvSpPr txBox="1">
            <a:spLocks noChangeArrowheads="1"/>
          </p:cNvSpPr>
          <p:nvPr/>
        </p:nvSpPr>
        <p:spPr bwMode="auto">
          <a:xfrm>
            <a:off x="111125" y="3765550"/>
            <a:ext cx="77120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Le signal utile et le bruit sont tous deux des fonctions aléatoires !</a:t>
            </a:r>
          </a:p>
        </p:txBody>
      </p:sp>
      <p:sp>
        <p:nvSpPr>
          <p:cNvPr id="606219" name="Text Box 11"/>
          <p:cNvSpPr txBox="1">
            <a:spLocks noChangeArrowheads="1"/>
          </p:cNvSpPr>
          <p:nvPr/>
        </p:nvSpPr>
        <p:spPr bwMode="auto">
          <a:xfrm>
            <a:off x="98425" y="4667250"/>
            <a:ext cx="87566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On les supposera à valeurs réelles, </a:t>
            </a:r>
            <a:r>
              <a:rPr lang="fr-FR" altLang="fr-FR" sz="2400">
                <a:latin typeface="Arial" panose="020B0604020202020204" pitchFamily="34" charset="0"/>
              </a:rPr>
              <a:t>stationnaires</a:t>
            </a:r>
            <a:r>
              <a:rPr lang="fr-FR" altLang="fr-FR" sz="2400" b="0">
                <a:latin typeface="Arial" panose="020B0604020202020204" pitchFamily="34" charset="0"/>
              </a:rPr>
              <a:t>, ergodiques et de </a:t>
            </a:r>
            <a:r>
              <a:rPr lang="fr-FR" altLang="fr-FR" sz="2400">
                <a:latin typeface="Arial" panose="020B0604020202020204" pitchFamily="34" charset="0"/>
              </a:rPr>
              <a:t>moyennes nulles</a:t>
            </a:r>
            <a:r>
              <a:rPr lang="fr-FR" altLang="fr-FR" sz="2400" b="0"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606220" name="Text Box 12"/>
          <p:cNvSpPr txBox="1">
            <a:spLocks noChangeArrowheads="1"/>
          </p:cNvSpPr>
          <p:nvPr/>
        </p:nvSpPr>
        <p:spPr bwMode="auto">
          <a:xfrm>
            <a:off x="114300" y="5626100"/>
            <a:ext cx="87566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Elles sont donc caractérisées par leurs </a:t>
            </a:r>
            <a:r>
              <a:rPr lang="fr-FR" altLang="fr-FR" sz="2400">
                <a:latin typeface="Arial" panose="020B0604020202020204" pitchFamily="34" charset="0"/>
              </a:rPr>
              <a:t>densités spectrales de puissance.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6214" grpId="0" animBg="1"/>
      <p:bldP spid="606215" grpId="0" animBg="1"/>
      <p:bldP spid="606216" grpId="0" animBg="1"/>
      <p:bldP spid="606217" grpId="0" animBg="1"/>
      <p:bldP spid="606218" grpId="0"/>
      <p:bldP spid="606219" grpId="0"/>
      <p:bldP spid="60622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ext Box 2"/>
          <p:cNvSpPr txBox="1">
            <a:spLocks noChangeArrowheads="1"/>
          </p:cNvSpPr>
          <p:nvPr/>
        </p:nvSpPr>
        <p:spPr bwMode="auto">
          <a:xfrm>
            <a:off x="957263" y="457200"/>
            <a:ext cx="6913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Position du problème</a:t>
            </a:r>
          </a:p>
        </p:txBody>
      </p:sp>
      <p:sp>
        <p:nvSpPr>
          <p:cNvPr id="7171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7172" name="Text Box 4"/>
          <p:cNvSpPr txBox="1">
            <a:spLocks noChangeArrowheads="1"/>
          </p:cNvSpPr>
          <p:nvPr/>
        </p:nvSpPr>
        <p:spPr bwMode="auto">
          <a:xfrm>
            <a:off x="115888" y="1887538"/>
            <a:ext cx="9028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On suppose que l’algorithme de traitement est un filtre linéaire.</a:t>
            </a:r>
          </a:p>
        </p:txBody>
      </p:sp>
      <p:grpSp>
        <p:nvGrpSpPr>
          <p:cNvPr id="7173" name="Group 25"/>
          <p:cNvGrpSpPr>
            <a:grpSpLocks/>
          </p:cNvGrpSpPr>
          <p:nvPr/>
        </p:nvGrpSpPr>
        <p:grpSpPr bwMode="auto">
          <a:xfrm>
            <a:off x="314325" y="2493963"/>
            <a:ext cx="8539163" cy="1069975"/>
            <a:chOff x="198" y="1220"/>
            <a:chExt cx="5379" cy="674"/>
          </a:xfrm>
        </p:grpSpPr>
        <p:sp>
          <p:nvSpPr>
            <p:cNvPr id="7179" name="Text Box 21"/>
            <p:cNvSpPr txBox="1">
              <a:spLocks noChangeArrowheads="1"/>
            </p:cNvSpPr>
            <p:nvPr/>
          </p:nvSpPr>
          <p:spPr bwMode="auto">
            <a:xfrm>
              <a:off x="198" y="1220"/>
              <a:ext cx="5379" cy="674"/>
            </a:xfrm>
            <a:prstGeom prst="rect">
              <a:avLst/>
            </a:prstGeom>
            <a:noFill/>
            <a:ln w="28575">
              <a:solidFill>
                <a:srgbClr val="003300"/>
              </a:solidFill>
              <a:miter lim="800000"/>
              <a:headEnd type="none" w="sm" len="sm"/>
              <a:tailEnd type="none" w="sm" len="sm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>
                <a:lnSpc>
                  <a:spcPct val="130000"/>
                </a:lnSpc>
                <a:spcBef>
                  <a:spcPct val="0"/>
                </a:spcBef>
                <a:buFontTx/>
                <a:buNone/>
              </a:pPr>
              <a:r>
                <a:rPr lang="fr-FR" altLang="fr-FR" sz="2400" b="0" dirty="0">
                  <a:solidFill>
                    <a:srgbClr val="003300"/>
                  </a:solidFill>
                  <a:latin typeface="Arial" panose="020B0604020202020204" pitchFamily="34" charset="0"/>
                </a:rPr>
                <a:t>On va chercher le filtre           tel que                         est le « plus proche possible » de </a:t>
              </a:r>
            </a:p>
          </p:txBody>
        </p:sp>
        <p:pic>
          <p:nvPicPr>
            <p:cNvPr id="7180" name="Picture 2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47" y="1313"/>
              <a:ext cx="1108" cy="2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81" name="Picture 23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1" y="1616"/>
              <a:ext cx="473" cy="22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33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7182" name="Picture 2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239" y="1339"/>
              <a:ext cx="394" cy="21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7174" name="Picture 2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7713" y="1211263"/>
            <a:ext cx="4468812" cy="56832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2139" name="Text Box 27"/>
          <p:cNvSpPr txBox="1">
            <a:spLocks noChangeArrowheads="1"/>
          </p:cNvSpPr>
          <p:nvPr/>
        </p:nvSpPr>
        <p:spPr bwMode="auto">
          <a:xfrm>
            <a:off x="115888" y="3844925"/>
            <a:ext cx="26130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Critère à optimiser ?</a:t>
            </a:r>
          </a:p>
        </p:txBody>
      </p:sp>
      <p:pic>
        <p:nvPicPr>
          <p:cNvPr id="602140" name="Picture 2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925" y="3852863"/>
            <a:ext cx="6418263" cy="855662"/>
          </a:xfrm>
          <a:prstGeom prst="rect">
            <a:avLst/>
          </a:prstGeom>
          <a:noFill/>
          <a:ln w="28575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2142" name="Picture 30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1888" y="4965700"/>
            <a:ext cx="7024687" cy="1001713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2143" name="Text Box 31"/>
          <p:cNvSpPr txBox="1">
            <a:spLocks noChangeArrowheads="1"/>
          </p:cNvSpPr>
          <p:nvPr/>
        </p:nvSpPr>
        <p:spPr bwMode="auto">
          <a:xfrm>
            <a:off x="436563" y="6210300"/>
            <a:ext cx="8578850" cy="48577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400" b="0">
                <a:solidFill>
                  <a:srgbClr val="800000"/>
                </a:solidFill>
                <a:latin typeface="Arial" panose="020B0604020202020204" pitchFamily="34" charset="0"/>
              </a:rPr>
              <a:t>Le filtre </a:t>
            </a:r>
            <a:r>
              <a:rPr lang="fr-FR" altLang="fr-FR" sz="2400" b="0" i="1">
                <a:solidFill>
                  <a:srgbClr val="800000"/>
                </a:solidFill>
                <a:latin typeface="Arial" panose="020B0604020202020204" pitchFamily="34" charset="0"/>
              </a:rPr>
              <a:t>w(t)</a:t>
            </a:r>
            <a:r>
              <a:rPr lang="fr-FR" altLang="fr-FR" sz="2400" b="0">
                <a:solidFill>
                  <a:srgbClr val="800000"/>
                </a:solidFill>
                <a:latin typeface="Arial" panose="020B0604020202020204" pitchFamily="34" charset="0"/>
              </a:rPr>
              <a:t> qui optimise l’EQM est appelé </a:t>
            </a:r>
            <a:r>
              <a:rPr lang="fr-FR" altLang="fr-FR" sz="2400">
                <a:solidFill>
                  <a:srgbClr val="800000"/>
                </a:solidFill>
                <a:latin typeface="Arial" panose="020B0604020202020204" pitchFamily="34" charset="0"/>
              </a:rPr>
              <a:t>filtre de Wiener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2139" grpId="0"/>
      <p:bldP spid="60214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957263" y="457200"/>
            <a:ext cx="6913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Expression du filtre de Wiener</a:t>
            </a:r>
          </a:p>
        </p:txBody>
      </p:sp>
      <p:sp>
        <p:nvSpPr>
          <p:cNvPr id="9219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9220" name="Text Box 4"/>
          <p:cNvSpPr txBox="1">
            <a:spLocks noChangeArrowheads="1"/>
          </p:cNvSpPr>
          <p:nvPr/>
        </p:nvSpPr>
        <p:spPr bwMode="auto">
          <a:xfrm>
            <a:off x="115888" y="1258888"/>
            <a:ext cx="9028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Développons l’expression de l’EQM:</a:t>
            </a:r>
          </a:p>
        </p:txBody>
      </p:sp>
      <p:pic>
        <p:nvPicPr>
          <p:cNvPr id="608271" name="Picture 1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925" y="3573463"/>
            <a:ext cx="8637588" cy="504825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2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5238" y="1965325"/>
            <a:ext cx="6418262" cy="855663"/>
          </a:xfrm>
          <a:prstGeom prst="rect">
            <a:avLst/>
          </a:prstGeom>
          <a:noFill/>
          <a:ln w="12700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8273" name="AutoShape 17"/>
          <p:cNvSpPr>
            <a:spLocks noChangeArrowheads="1"/>
          </p:cNvSpPr>
          <p:nvPr/>
        </p:nvSpPr>
        <p:spPr bwMode="auto">
          <a:xfrm rot="5400000">
            <a:off x="4412457" y="3051969"/>
            <a:ext cx="342900" cy="293687"/>
          </a:xfrm>
          <a:prstGeom prst="rightArrow">
            <a:avLst>
              <a:gd name="adj1" fmla="val 50269"/>
              <a:gd name="adj2" fmla="val 58919"/>
            </a:avLst>
          </a:prstGeom>
          <a:noFill/>
          <a:ln w="762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pic>
        <p:nvPicPr>
          <p:cNvPr id="608274" name="Picture 1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1200" y="4713288"/>
            <a:ext cx="5164138" cy="1789112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8275" name="Text Box 19"/>
          <p:cNvSpPr txBox="1">
            <a:spLocks noChangeArrowheads="1"/>
          </p:cNvSpPr>
          <p:nvPr/>
        </p:nvSpPr>
        <p:spPr bwMode="auto">
          <a:xfrm>
            <a:off x="100013" y="4641850"/>
            <a:ext cx="3135312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C’est une somme de trois termes 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08273" grpId="0" animBg="1"/>
      <p:bldP spid="60827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425" y="1871663"/>
            <a:ext cx="8945563" cy="609600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267" name="Text Box 2"/>
          <p:cNvSpPr txBox="1">
            <a:spLocks noChangeArrowheads="1"/>
          </p:cNvSpPr>
          <p:nvPr/>
        </p:nvSpPr>
        <p:spPr bwMode="auto">
          <a:xfrm>
            <a:off x="957263" y="457200"/>
            <a:ext cx="6913562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Expression du filtre de Wiener</a:t>
            </a:r>
          </a:p>
        </p:txBody>
      </p:sp>
      <p:sp>
        <p:nvSpPr>
          <p:cNvPr id="11268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1269" name="Text Box 4"/>
          <p:cNvSpPr txBox="1">
            <a:spLocks noChangeArrowheads="1"/>
          </p:cNvSpPr>
          <p:nvPr/>
        </p:nvSpPr>
        <p:spPr bwMode="auto">
          <a:xfrm>
            <a:off x="115888" y="1258888"/>
            <a:ext cx="9028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On obtient :</a:t>
            </a:r>
          </a:p>
        </p:txBody>
      </p:sp>
      <p:sp>
        <p:nvSpPr>
          <p:cNvPr id="11270" name="Text Box 11"/>
          <p:cNvSpPr txBox="1">
            <a:spLocks noChangeArrowheads="1"/>
          </p:cNvSpPr>
          <p:nvPr/>
        </p:nvSpPr>
        <p:spPr bwMode="auto">
          <a:xfrm>
            <a:off x="115888" y="2922588"/>
            <a:ext cx="8796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 dirty="0">
                <a:latin typeface="Arial" panose="020B0604020202020204" pitchFamily="34" charset="0"/>
              </a:rPr>
              <a:t> Comment déterminer </a:t>
            </a:r>
            <a:r>
              <a:rPr lang="fr-FR" altLang="fr-FR" sz="2400" b="0" i="1" dirty="0">
                <a:latin typeface="Arial" panose="020B0604020202020204" pitchFamily="34" charset="0"/>
              </a:rPr>
              <a:t>w(t)</a:t>
            </a:r>
            <a:r>
              <a:rPr lang="fr-FR" altLang="fr-FR" sz="2400" b="0" dirty="0">
                <a:latin typeface="Arial" panose="020B0604020202020204" pitchFamily="34" charset="0"/>
              </a:rPr>
              <a:t> qui optimise l’EQM ?</a:t>
            </a:r>
          </a:p>
        </p:txBody>
      </p:sp>
      <p:sp>
        <p:nvSpPr>
          <p:cNvPr id="610316" name="Text Box 12"/>
          <p:cNvSpPr txBox="1">
            <a:spLocks noChangeArrowheads="1"/>
          </p:cNvSpPr>
          <p:nvPr/>
        </p:nvSpPr>
        <p:spPr bwMode="auto">
          <a:xfrm>
            <a:off x="4454525" y="3702050"/>
            <a:ext cx="3844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800000"/>
                </a:solidFill>
                <a:latin typeface="Arial" panose="020B0604020202020204" pitchFamily="34" charset="0"/>
              </a:rPr>
              <a:t>Dérivation fonctionnelle</a:t>
            </a:r>
          </a:p>
        </p:txBody>
      </p:sp>
      <p:sp>
        <p:nvSpPr>
          <p:cNvPr id="610317" name="AutoShape 13"/>
          <p:cNvSpPr>
            <a:spLocks noChangeArrowheads="1"/>
          </p:cNvSpPr>
          <p:nvPr/>
        </p:nvSpPr>
        <p:spPr bwMode="auto">
          <a:xfrm rot="10800000" flipH="1">
            <a:off x="3925888" y="3784600"/>
            <a:ext cx="342900" cy="293688"/>
          </a:xfrm>
          <a:prstGeom prst="rightArrow">
            <a:avLst>
              <a:gd name="adj1" fmla="val 50269"/>
              <a:gd name="adj2" fmla="val 58919"/>
            </a:avLst>
          </a:prstGeom>
          <a:noFill/>
          <a:ln w="762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pic>
        <p:nvPicPr>
          <p:cNvPr id="610318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238" y="3502025"/>
            <a:ext cx="2419350" cy="86677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0319" name="Picture 1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063" y="4795838"/>
            <a:ext cx="8648700" cy="1354137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0323" name="Text Box 19"/>
          <p:cNvSpPr txBox="1">
            <a:spLocks noChangeArrowheads="1"/>
          </p:cNvSpPr>
          <p:nvPr/>
        </p:nvSpPr>
        <p:spPr bwMode="auto">
          <a:xfrm>
            <a:off x="5178425" y="4124325"/>
            <a:ext cx="24685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i="1" dirty="0">
                <a:solidFill>
                  <a:srgbClr val="003300"/>
                </a:solidFill>
                <a:latin typeface="Arial" panose="020B0604020202020204" pitchFamily="34" charset="0"/>
              </a:rPr>
              <a:t>Annexe </a:t>
            </a:r>
            <a:r>
              <a:rPr lang="fr-FR" altLang="fr-FR" sz="1800" i="1" dirty="0" smtClean="0">
                <a:solidFill>
                  <a:srgbClr val="003300"/>
                </a:solidFill>
                <a:latin typeface="Arial" panose="020B0604020202020204" pitchFamily="34" charset="0"/>
              </a:rPr>
              <a:t>B , </a:t>
            </a:r>
            <a:r>
              <a:rPr lang="fr-FR" altLang="fr-FR" sz="1800" i="1" dirty="0">
                <a:solidFill>
                  <a:srgbClr val="003300"/>
                </a:solidFill>
                <a:latin typeface="Arial" panose="020B0604020202020204" pitchFamily="34" charset="0"/>
              </a:rPr>
              <a:t>p. </a:t>
            </a:r>
            <a:r>
              <a:rPr lang="fr-FR" altLang="fr-FR" sz="1800" i="1" dirty="0" smtClean="0">
                <a:solidFill>
                  <a:srgbClr val="003300"/>
                </a:solidFill>
                <a:latin typeface="Arial" panose="020B0604020202020204" pitchFamily="34" charset="0"/>
              </a:rPr>
              <a:t>115</a:t>
            </a:r>
            <a:endParaRPr lang="fr-FR" altLang="fr-FR" sz="1800" i="1" dirty="0">
              <a:solidFill>
                <a:srgbClr val="003300"/>
              </a:solidFill>
              <a:latin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ZoneTexte 1"/>
              <p:cNvSpPr txBox="1"/>
              <p:nvPr/>
            </p:nvSpPr>
            <p:spPr>
              <a:xfrm>
                <a:off x="5841064" y="1149648"/>
                <a:ext cx="307116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𝑋𝑎</m:t>
                          </m:r>
                        </m:sub>
                      </m:sSub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2" name="ZoneTexte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41064" y="1149648"/>
                <a:ext cx="3071162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1190"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necteur droit avec flèche 3"/>
          <p:cNvCxnSpPr/>
          <p:nvPr/>
        </p:nvCxnSpPr>
        <p:spPr bwMode="auto">
          <a:xfrm flipV="1">
            <a:off x="7366000" y="1458913"/>
            <a:ext cx="139700" cy="56197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0" grpId="0"/>
      <p:bldP spid="610316" grpId="0"/>
      <p:bldP spid="610317" grpId="0" animBg="1"/>
      <p:bldP spid="610323" grpId="0"/>
      <p:bldP spid="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Solution de l’équation de Wiener-Hopf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3320" name="Text Box 28"/>
          <p:cNvSpPr txBox="1">
            <a:spLocks noChangeArrowheads="1"/>
          </p:cNvSpPr>
          <p:nvPr/>
        </p:nvSpPr>
        <p:spPr bwMode="auto">
          <a:xfrm>
            <a:off x="100014" y="1243013"/>
            <a:ext cx="534178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>
                <a:latin typeface="Arial" panose="020B0604020202020204" pitchFamily="34" charset="0"/>
              </a:rPr>
              <a:t> Dans l’espace de Fourier : </a:t>
            </a:r>
          </a:p>
        </p:txBody>
      </p:sp>
      <p:pic>
        <p:nvPicPr>
          <p:cNvPr id="13322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779588"/>
            <a:ext cx="361950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2383" name="AutoShape 31"/>
          <p:cNvSpPr>
            <a:spLocks noChangeArrowheads="1"/>
          </p:cNvSpPr>
          <p:nvPr/>
        </p:nvSpPr>
        <p:spPr bwMode="auto">
          <a:xfrm rot="10800000" flipH="1">
            <a:off x="4606925" y="1884363"/>
            <a:ext cx="342900" cy="293687"/>
          </a:xfrm>
          <a:prstGeom prst="rightArrow">
            <a:avLst>
              <a:gd name="adj1" fmla="val 50278"/>
              <a:gd name="adj2" fmla="val 58919"/>
            </a:avLst>
          </a:prstGeom>
          <a:noFill/>
          <a:ln w="762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612384" name="Text Box 32"/>
          <p:cNvSpPr txBox="1">
            <a:spLocks noChangeArrowheads="1"/>
          </p:cNvSpPr>
          <p:nvPr/>
        </p:nvSpPr>
        <p:spPr bwMode="auto">
          <a:xfrm>
            <a:off x="4484688" y="1416050"/>
            <a:ext cx="668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800000"/>
                </a:solidFill>
                <a:latin typeface="Arial" panose="020B0604020202020204" pitchFamily="34" charset="0"/>
              </a:rPr>
              <a:t>TF</a:t>
            </a:r>
          </a:p>
        </p:txBody>
      </p:sp>
      <p:sp>
        <p:nvSpPr>
          <p:cNvPr id="612386" name="Text Box 34"/>
          <p:cNvSpPr txBox="1">
            <a:spLocks noChangeArrowheads="1"/>
          </p:cNvSpPr>
          <p:nvPr/>
        </p:nvSpPr>
        <p:spPr bwMode="auto">
          <a:xfrm>
            <a:off x="566738" y="2490788"/>
            <a:ext cx="1573212" cy="376237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1800" i="1">
                <a:solidFill>
                  <a:srgbClr val="003300"/>
                </a:solidFill>
                <a:latin typeface="Arial" panose="020B0604020202020204" pitchFamily="34" charset="0"/>
              </a:rPr>
              <a:t>convolution</a:t>
            </a:r>
          </a:p>
        </p:txBody>
      </p:sp>
      <p:sp>
        <p:nvSpPr>
          <p:cNvPr id="612387" name="Line 35"/>
          <p:cNvSpPr>
            <a:spLocks noChangeShapeType="1"/>
          </p:cNvSpPr>
          <p:nvPr/>
        </p:nvSpPr>
        <p:spPr bwMode="auto">
          <a:xfrm flipV="1">
            <a:off x="1393825" y="2306638"/>
            <a:ext cx="290513" cy="160337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2388" name="Text Box 36"/>
          <p:cNvSpPr txBox="1">
            <a:spLocks noChangeArrowheads="1"/>
          </p:cNvSpPr>
          <p:nvPr/>
        </p:nvSpPr>
        <p:spPr bwMode="auto">
          <a:xfrm>
            <a:off x="90488" y="3154363"/>
            <a:ext cx="80883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dirty="0">
                <a:latin typeface="Arial" panose="020B0604020202020204" pitchFamily="34" charset="0"/>
              </a:rPr>
              <a:t> Si les signaux a(t) et b(t) sont indépendants ? 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124" y="1690983"/>
            <a:ext cx="1906175" cy="731566"/>
          </a:xfrm>
          <a:prstGeom prst="rect">
            <a:avLst/>
          </a:prstGeom>
          <a:ln w="12700">
            <a:solidFill>
              <a:srgbClr val="80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6" name="ZoneTexte 15"/>
              <p:cNvSpPr txBox="1"/>
              <p:nvPr/>
            </p:nvSpPr>
            <p:spPr>
              <a:xfrm>
                <a:off x="566738" y="3834309"/>
                <a:ext cx="3071162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𝑋𝑎</m:t>
                          </m:r>
                        </m:sub>
                      </m:sSub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16" name="ZoneTexte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6738" y="3834309"/>
                <a:ext cx="3071162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1389" b="-4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ZoneTexte 16"/>
              <p:cNvSpPr txBox="1"/>
              <p:nvPr/>
            </p:nvSpPr>
            <p:spPr>
              <a:xfrm>
                <a:off x="3637900" y="3817937"/>
                <a:ext cx="362400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</m:e>
                          </m:d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</m:oMath>
                  </m:oMathPara>
                </a14:m>
                <a:endParaRPr lang="fr-FR" sz="2000" b="0" dirty="0"/>
              </a:p>
            </p:txBody>
          </p:sp>
        </mc:Choice>
        <mc:Fallback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37900" y="3817937"/>
                <a:ext cx="3624004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337" b="-372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ZoneTexte 17"/>
              <p:cNvSpPr txBox="1"/>
              <p:nvPr/>
            </p:nvSpPr>
            <p:spPr>
              <a:xfrm>
                <a:off x="1451051" y="4327623"/>
                <a:ext cx="482818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r>
                          <a:rPr lang="fr-FR" sz="2000" b="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sSub>
                          <m:sSub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r>
                  <a:rPr lang="fr-FR" sz="2000" b="0" dirty="0" smtClean="0"/>
                  <a:t> +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fr-FR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r>
                          <a:rPr lang="fr-FR" sz="2000" b="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sSub>
                          <m:sSub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r>
                          <a:rPr lang="fr-FR" sz="2000" b="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d>
                  </m:oMath>
                </a14:m>
                <a:endParaRPr lang="fr-FR" sz="2000" b="0" dirty="0"/>
              </a:p>
            </p:txBody>
          </p:sp>
        </mc:Choice>
        <mc:Fallback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1051" y="4327623"/>
                <a:ext cx="4828181" cy="307777"/>
              </a:xfrm>
              <a:prstGeom prst="rect">
                <a:avLst/>
              </a:prstGeom>
              <a:blipFill rotWithShape="0">
                <a:blip r:embed="rId7"/>
                <a:stretch>
                  <a:fillRect l="-1136" t="-26000" b="-5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Accolade ouvrante 3"/>
          <p:cNvSpPr/>
          <p:nvPr/>
        </p:nvSpPr>
        <p:spPr bwMode="auto">
          <a:xfrm rot="16200000">
            <a:off x="2641744" y="3824780"/>
            <a:ext cx="122237" cy="1870075"/>
          </a:xfrm>
          <a:prstGeom prst="leftBrace">
            <a:avLst>
              <a:gd name="adj1" fmla="val 2733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Symbol" pitchFamily="18" charset="2"/>
            </a:endParaRPr>
          </a:p>
        </p:txBody>
      </p:sp>
      <p:sp>
        <p:nvSpPr>
          <p:cNvPr id="20" name="Accolade ouvrante 19"/>
          <p:cNvSpPr/>
          <p:nvPr/>
        </p:nvSpPr>
        <p:spPr bwMode="auto">
          <a:xfrm rot="16200000">
            <a:off x="5135731" y="3677435"/>
            <a:ext cx="122237" cy="2164764"/>
          </a:xfrm>
          <a:prstGeom prst="leftBrace">
            <a:avLst>
              <a:gd name="adj1" fmla="val 2733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ZoneTexte 32"/>
              <p:cNvSpPr txBox="1"/>
              <p:nvPr/>
            </p:nvSpPr>
            <p:spPr>
              <a:xfrm>
                <a:off x="2407376" y="4903027"/>
                <a:ext cx="79008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  <m:d>
                        <m:dPr>
                          <m:ctrlP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fr-FR" sz="20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3" name="ZoneTexte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7376" y="4903027"/>
                <a:ext cx="790088" cy="307777"/>
              </a:xfrm>
              <a:prstGeom prst="rect">
                <a:avLst/>
              </a:prstGeom>
              <a:blipFill rotWithShape="0">
                <a:blip r:embed="rId8"/>
                <a:stretch>
                  <a:fillRect l="-6923" b="-137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ZoneTexte 33"/>
              <p:cNvSpPr txBox="1"/>
              <p:nvPr/>
            </p:nvSpPr>
            <p:spPr>
              <a:xfrm>
                <a:off x="5093455" y="4903026"/>
                <a:ext cx="20678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2000" b="0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4" name="ZoneTexte 3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3455" y="4903026"/>
                <a:ext cx="206788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30303" r="-27273" b="-9804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ZoneTexte 28"/>
              <p:cNvSpPr txBox="1"/>
              <p:nvPr/>
            </p:nvSpPr>
            <p:spPr>
              <a:xfrm>
                <a:off x="2340940" y="5733753"/>
                <a:ext cx="3887539" cy="5539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Xa</m:t>
                        </m:r>
                      </m:sub>
                    </m:sSub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TF</m:t>
                    </m:r>
                    <m:d>
                      <m:dPr>
                        <m:begChr m:val="["/>
                        <m:endChr m:val="]"/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4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fr-FR" sz="2400" b="0" i="1">
                                <a:latin typeface="Cambria Math" panose="02040503050406030204" pitchFamily="18" charset="0"/>
                              </a:rPr>
                              <m:t>𝑋𝑎</m:t>
                            </m:r>
                          </m:sub>
                        </m:sSub>
                        <m:d>
                          <m:dPr>
                            <m:ctrlPr>
                              <a:rPr lang="fr-FR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400" b="0" dirty="0" smtClean="0">
                    <a:latin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fr-FR" sz="2400" b="0" dirty="0">
                  <a:latin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29" name="ZoneTexte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40940" y="5733753"/>
                <a:ext cx="3887539" cy="553998"/>
              </a:xfrm>
              <a:prstGeom prst="rect">
                <a:avLst/>
              </a:prstGeom>
              <a:blipFill rotWithShape="0">
                <a:blip r:embed="rId10"/>
                <a:stretch>
                  <a:fillRect l="-781" b="-21739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1617195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2383" grpId="0" animBg="1"/>
      <p:bldP spid="612384" grpId="0"/>
      <p:bldP spid="612386" grpId="0" animBg="1"/>
      <p:bldP spid="612387" grpId="0" animBg="1"/>
      <p:bldP spid="612388" grpId="0"/>
      <p:bldP spid="16" grpId="0" animBg="1"/>
      <p:bldP spid="17" grpId="0" animBg="1"/>
      <p:bldP spid="18" grpId="0" animBg="1"/>
      <p:bldP spid="4" grpId="0" animBg="1"/>
      <p:bldP spid="20" grpId="0" animBg="1"/>
      <p:bldP spid="33" grpId="0" animBg="1"/>
      <p:bldP spid="34" grpId="0" animBg="1"/>
      <p:bldP spid="2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Solution de l’équation de Wiener-Hopf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3320" name="Text Box 28"/>
          <p:cNvSpPr txBox="1">
            <a:spLocks noChangeArrowheads="1"/>
          </p:cNvSpPr>
          <p:nvPr/>
        </p:nvSpPr>
        <p:spPr bwMode="auto">
          <a:xfrm>
            <a:off x="100014" y="1243013"/>
            <a:ext cx="534178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>
                <a:latin typeface="Arial" panose="020B0604020202020204" pitchFamily="34" charset="0"/>
              </a:rPr>
              <a:t> Dans l’espace de Fourier : </a:t>
            </a:r>
          </a:p>
        </p:txBody>
      </p:sp>
      <p:pic>
        <p:nvPicPr>
          <p:cNvPr id="13322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779588"/>
            <a:ext cx="361950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2383" name="AutoShape 31"/>
          <p:cNvSpPr>
            <a:spLocks noChangeArrowheads="1"/>
          </p:cNvSpPr>
          <p:nvPr/>
        </p:nvSpPr>
        <p:spPr bwMode="auto">
          <a:xfrm rot="10800000" flipH="1">
            <a:off x="4606925" y="1884363"/>
            <a:ext cx="342900" cy="293687"/>
          </a:xfrm>
          <a:prstGeom prst="rightArrow">
            <a:avLst>
              <a:gd name="adj1" fmla="val 50278"/>
              <a:gd name="adj2" fmla="val 58919"/>
            </a:avLst>
          </a:prstGeom>
          <a:noFill/>
          <a:ln w="762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612384" name="Text Box 32"/>
          <p:cNvSpPr txBox="1">
            <a:spLocks noChangeArrowheads="1"/>
          </p:cNvSpPr>
          <p:nvPr/>
        </p:nvSpPr>
        <p:spPr bwMode="auto">
          <a:xfrm>
            <a:off x="4484688" y="1416050"/>
            <a:ext cx="668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800000"/>
                </a:solidFill>
                <a:latin typeface="Arial" panose="020B0604020202020204" pitchFamily="34" charset="0"/>
              </a:rPr>
              <a:t>TF</a:t>
            </a:r>
          </a:p>
        </p:txBody>
      </p:sp>
      <p:sp>
        <p:nvSpPr>
          <p:cNvPr id="612386" name="Text Box 34"/>
          <p:cNvSpPr txBox="1">
            <a:spLocks noChangeArrowheads="1"/>
          </p:cNvSpPr>
          <p:nvPr/>
        </p:nvSpPr>
        <p:spPr bwMode="auto">
          <a:xfrm>
            <a:off x="566738" y="2490788"/>
            <a:ext cx="1573212" cy="376237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1800" i="1">
                <a:solidFill>
                  <a:srgbClr val="003300"/>
                </a:solidFill>
                <a:latin typeface="Arial" panose="020B0604020202020204" pitchFamily="34" charset="0"/>
              </a:rPr>
              <a:t>convolution</a:t>
            </a:r>
          </a:p>
        </p:txBody>
      </p:sp>
      <p:sp>
        <p:nvSpPr>
          <p:cNvPr id="612387" name="Line 35"/>
          <p:cNvSpPr>
            <a:spLocks noChangeShapeType="1"/>
          </p:cNvSpPr>
          <p:nvPr/>
        </p:nvSpPr>
        <p:spPr bwMode="auto">
          <a:xfrm flipV="1">
            <a:off x="1393825" y="2306638"/>
            <a:ext cx="290513" cy="160337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2388" name="Text Box 36"/>
          <p:cNvSpPr txBox="1">
            <a:spLocks noChangeArrowheads="1"/>
          </p:cNvSpPr>
          <p:nvPr/>
        </p:nvSpPr>
        <p:spPr bwMode="auto">
          <a:xfrm>
            <a:off x="90488" y="3154363"/>
            <a:ext cx="80883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dirty="0">
                <a:latin typeface="Arial" panose="020B0604020202020204" pitchFamily="34" charset="0"/>
              </a:rPr>
              <a:t> Si les signaux a(t) et b(t) sont indépendants ? 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124" y="1690983"/>
            <a:ext cx="1906175" cy="731566"/>
          </a:xfrm>
          <a:prstGeom prst="rect">
            <a:avLst/>
          </a:prstGeom>
          <a:ln w="12700">
            <a:solidFill>
              <a:srgbClr val="80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369888" y="4647110"/>
                <a:ext cx="317490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𝑋𝑋</m:t>
                          </m:r>
                        </m:sub>
                      </m:sSub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b>
                            <m:sSub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9888" y="4647110"/>
                <a:ext cx="3174908" cy="307777"/>
              </a:xfrm>
              <a:prstGeom prst="rect">
                <a:avLst/>
              </a:prstGeom>
              <a:blipFill rotWithShape="0">
                <a:blip r:embed="rId5"/>
                <a:stretch>
                  <a:fillRect l="-192" b="-372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/>
              <p:cNvSpPr txBox="1"/>
              <p:nvPr/>
            </p:nvSpPr>
            <p:spPr>
              <a:xfrm>
                <a:off x="3452067" y="4641755"/>
                <a:ext cx="5058244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⟨"/>
                          <m:endChr m:val="⟩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</m:d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  <m:d>
                            <m:dPr>
                              <m:begChr m:val="["/>
                              <m:endChr m:val="]"/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  <m:sub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𝑢</m:t>
                                  </m:r>
                                </m:e>
                              </m:d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sSub>
                                <m:sSub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  <m:sub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sub>
                              </m:sSub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 (</m:t>
                              </m:r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𝑢</m:t>
                              </m:r>
                              <m:r>
                                <a:rPr lang="fr-FR" sz="2000" b="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d>
                        </m:e>
                      </m:d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2067" y="4641755"/>
                <a:ext cx="5058244" cy="307777"/>
              </a:xfrm>
              <a:prstGeom prst="rect">
                <a:avLst/>
              </a:prstGeom>
              <a:blipFill rotWithShape="0">
                <a:blip r:embed="rId6"/>
                <a:stretch>
                  <a:fillRect b="-3725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ZoneTexte 22"/>
              <p:cNvSpPr txBox="1"/>
              <p:nvPr/>
            </p:nvSpPr>
            <p:spPr>
              <a:xfrm>
                <a:off x="700530" y="5115979"/>
                <a:ext cx="4033861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fr-FR" sz="18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⟨"/>
                        <m:endChr m:val="⟩"/>
                        <m:ctrlPr>
                          <a:rPr lang="fr-FR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18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1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800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sSub>
                          <m:sSubPr>
                            <m:ctrlPr>
                              <a:rPr lang="fr-FR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sz="18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fr-FR" sz="1800" b="0" dirty="0" smtClean="0"/>
                  <a:t> + </a:t>
                </a:r>
                <a14:m>
                  <m:oMath xmlns:m="http://schemas.openxmlformats.org/officeDocument/2006/math">
                    <m:d>
                      <m:dPr>
                        <m:begChr m:val="⟨"/>
                        <m:endChr m:val="⟩"/>
                        <m:ctrlPr>
                          <a:rPr lang="fr-FR" sz="18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8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 </m:t>
                        </m:r>
                        <m:d>
                          <m:dPr>
                            <m:ctrlPr>
                              <a:rPr lang="fr-FR" sz="18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1800" b="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d>
                        <m:sSub>
                          <m:sSubPr>
                            <m:ctrlPr>
                              <a:rPr lang="fr-FR" sz="18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sz="18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b>
                            <m:r>
                              <a:rPr lang="fr-FR" sz="1800" b="0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sub>
                        </m:sSub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 (</m:t>
                        </m:r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fr-FR" sz="1800" b="0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fr-FR" sz="1800" b="0" dirty="0"/>
              </a:p>
            </p:txBody>
          </p:sp>
        </mc:Choice>
        <mc:Fallback xmlns="">
          <p:sp>
            <p:nvSpPr>
              <p:cNvPr id="23" name="ZoneTexte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0530" y="5115979"/>
                <a:ext cx="4033861" cy="276999"/>
              </a:xfrm>
              <a:prstGeom prst="rect">
                <a:avLst/>
              </a:prstGeom>
              <a:blipFill rotWithShape="0">
                <a:blip r:embed="rId7"/>
                <a:stretch>
                  <a:fillRect l="-1360" t="-28261" b="-5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Accolade ouvrante 23"/>
          <p:cNvSpPr/>
          <p:nvPr/>
        </p:nvSpPr>
        <p:spPr bwMode="auto">
          <a:xfrm rot="16200000">
            <a:off x="1768358" y="4737233"/>
            <a:ext cx="133302" cy="1640118"/>
          </a:xfrm>
          <a:prstGeom prst="leftBrace">
            <a:avLst>
              <a:gd name="adj1" fmla="val 2733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mbol" pitchFamily="18" charset="2"/>
            </a:endParaRPr>
          </a:p>
        </p:txBody>
      </p:sp>
      <p:sp>
        <p:nvSpPr>
          <p:cNvPr id="25" name="Accolade ouvrante 24"/>
          <p:cNvSpPr/>
          <p:nvPr/>
        </p:nvSpPr>
        <p:spPr bwMode="auto">
          <a:xfrm rot="16200000">
            <a:off x="3708157" y="4671351"/>
            <a:ext cx="164361" cy="1740818"/>
          </a:xfrm>
          <a:prstGeom prst="leftBrace">
            <a:avLst>
              <a:gd name="adj1" fmla="val 2733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4734391" y="5122999"/>
                <a:ext cx="4112408" cy="276999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+ </m:t>
                      </m:r>
                      <m:d>
                        <m:dPr>
                          <m:begChr m:val="⟨"/>
                          <m:endChr m:val="⟩"/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fr-FR" sz="18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fr-FR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8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b>
                            <m:sSubPr>
                              <m:ctrlP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  <m:r>
                        <a:rPr lang="fr-FR" sz="1800" b="0" i="1">
                          <a:latin typeface="Cambria Math" panose="02040503050406030204" pitchFamily="18" charset="0"/>
                        </a:rPr>
                        <m:t>+</m:t>
                      </m:r>
                      <m:d>
                        <m:dPr>
                          <m:begChr m:val="⟨"/>
                          <m:endChr m:val="⟩"/>
                          <m:ctrlPr>
                            <a:rPr lang="fr-FR" sz="18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fr-FR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fr-FR" sz="1800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fr-FR" sz="1800" b="0" i="1">
                              <a:latin typeface="Cambria Math" panose="02040503050406030204" pitchFamily="18" charset="0"/>
                            </a:rPr>
                            <m:t> </m:t>
                          </m:r>
                          <m:d>
                            <m:dPr>
                              <m:ctrlPr>
                                <a:rPr lang="fr-FR" sz="1800" b="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1800" b="0" i="1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</m:d>
                          <m:sSub>
                            <m:sSubPr>
                              <m:ctrlPr>
                                <a:rPr lang="fr-FR" sz="18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fr-FR" sz="18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fr-FR" sz="1800" b="0" i="1">
                                  <a:latin typeface="Cambria Math" panose="02040503050406030204" pitchFamily="18" charset="0"/>
                                </a:rPr>
                                <m:t>𝜆</m:t>
                              </m:r>
                            </m:sub>
                          </m:sSub>
                          <m:r>
                            <a:rPr lang="fr-FR" sz="1800" b="0" i="1">
                              <a:latin typeface="Cambria Math" panose="02040503050406030204" pitchFamily="18" charset="0"/>
                            </a:rPr>
                            <m:t> (</m:t>
                          </m:r>
                          <m:r>
                            <a:rPr lang="fr-FR" sz="1800" b="0" i="1"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lang="fr-FR" sz="1800" b="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fr-FR" sz="1800" b="0" i="1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fr-FR" sz="1800" b="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fr-FR" sz="1800" b="0" dirty="0"/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34391" y="5122999"/>
                <a:ext cx="4112408" cy="276999"/>
              </a:xfrm>
              <a:prstGeom prst="rect">
                <a:avLst/>
              </a:prstGeom>
              <a:blipFill rotWithShape="0">
                <a:blip r:embed="rId8"/>
                <a:stretch>
                  <a:fillRect l="-742" b="-36957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Accolade ouvrante 26"/>
          <p:cNvSpPr/>
          <p:nvPr/>
        </p:nvSpPr>
        <p:spPr bwMode="auto">
          <a:xfrm rot="16200000">
            <a:off x="6844610" y="3729883"/>
            <a:ext cx="135614" cy="3660774"/>
          </a:xfrm>
          <a:prstGeom prst="leftBrace">
            <a:avLst>
              <a:gd name="adj1" fmla="val 27335"/>
              <a:gd name="adj2" fmla="val 50000"/>
            </a:avLst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5" name="ZoneTexte 34"/>
              <p:cNvSpPr txBox="1"/>
              <p:nvPr/>
            </p:nvSpPr>
            <p:spPr>
              <a:xfrm>
                <a:off x="1393825" y="5675954"/>
                <a:ext cx="790088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  <m:d>
                        <m:dPr>
                          <m:ctrlP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fr-FR" sz="20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5" name="ZoneTexte 3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393825" y="5675954"/>
                <a:ext cx="790088" cy="307777"/>
              </a:xfrm>
              <a:prstGeom prst="rect">
                <a:avLst/>
              </a:prstGeom>
              <a:blipFill rotWithShape="0">
                <a:blip r:embed="rId9"/>
                <a:stretch>
                  <a:fillRect l="-6977" b="-13725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6" name="ZoneTexte 35"/>
              <p:cNvSpPr txBox="1"/>
              <p:nvPr/>
            </p:nvSpPr>
            <p:spPr>
              <a:xfrm>
                <a:off x="3524198" y="5650110"/>
                <a:ext cx="780919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 i="0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𝑏𝑏</m:t>
                          </m:r>
                        </m:sub>
                      </m:sSub>
                      <m:d>
                        <m:dPr>
                          <m:ctrlP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</m:d>
                    </m:oMath>
                  </m:oMathPara>
                </a14:m>
                <a:endParaRPr lang="fr-FR" sz="20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6" name="ZoneTexte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24198" y="5650110"/>
                <a:ext cx="780919" cy="307777"/>
              </a:xfrm>
              <a:prstGeom prst="rect">
                <a:avLst/>
              </a:prstGeom>
              <a:blipFill rotWithShape="0">
                <a:blip r:embed="rId10"/>
                <a:stretch>
                  <a:fillRect l="-6250" b="-22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7" name="ZoneTexte 36"/>
              <p:cNvSpPr txBox="1"/>
              <p:nvPr/>
            </p:nvSpPr>
            <p:spPr>
              <a:xfrm>
                <a:off x="6631949" y="5650110"/>
                <a:ext cx="535191" cy="307777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fr-FR" sz="2000" b="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37" name="ZoneTexte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1949" y="5650110"/>
                <a:ext cx="535191" cy="307777"/>
              </a:xfrm>
              <a:prstGeom prst="rect">
                <a:avLst/>
              </a:prstGeom>
              <a:blipFill rotWithShape="0">
                <a:blip r:embed="rId11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ZoneTexte 37"/>
              <p:cNvSpPr txBox="1"/>
              <p:nvPr/>
            </p:nvSpPr>
            <p:spPr>
              <a:xfrm>
                <a:off x="2183032" y="3796214"/>
                <a:ext cx="4023794" cy="553998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6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sz="2400" b="0" i="0" smtClean="0">
                            <a:latin typeface="Cambria Math" panose="02040503050406030204" pitchFamily="18" charset="0"/>
                          </a:rPr>
                          <m:t>  </m:t>
                        </m:r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Xa</m:t>
                        </m:r>
                      </m:sub>
                    </m:sSub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TF</m:t>
                    </m:r>
                    <m:d>
                      <m:dPr>
                        <m:begChr m:val="["/>
                        <m:endChr m:val="]"/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4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fr-FR" sz="2400" b="0" i="1">
                                <a:latin typeface="Cambria Math" panose="02040503050406030204" pitchFamily="18" charset="0"/>
                              </a:rPr>
                              <m:t>𝑋𝑎</m:t>
                            </m:r>
                          </m:sub>
                        </m:sSub>
                        <m:d>
                          <m:dPr>
                            <m:ctrlPr>
                              <a:rPr lang="fr-FR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400" b="0" dirty="0" smtClean="0">
                    <a:latin typeface="Calibri" panose="020F0502020204030204" pitchFamily="34" charset="0"/>
                  </a:rPr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r>
                  <a:rPr lang="fr-FR" sz="2400" b="0" dirty="0" smtClean="0">
                    <a:latin typeface="Calibri" panose="020F0502020204030204" pitchFamily="34" charset="0"/>
                  </a:rPr>
                  <a:t> </a:t>
                </a:r>
              </a:p>
            </p:txBody>
          </p:sp>
        </mc:Choice>
        <mc:Fallback>
          <p:sp>
            <p:nvSpPr>
              <p:cNvPr id="38" name="ZoneTexte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32" y="3796214"/>
                <a:ext cx="4023794" cy="553998"/>
              </a:xfrm>
              <a:prstGeom prst="rect">
                <a:avLst/>
              </a:prstGeom>
              <a:blipFill rotWithShape="0">
                <a:blip r:embed="rId12"/>
                <a:stretch>
                  <a:fillRect b="-20430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/>
              <p:cNvSpPr txBox="1"/>
              <p:nvPr/>
            </p:nvSpPr>
            <p:spPr>
              <a:xfrm>
                <a:off x="2305050" y="6188850"/>
                <a:ext cx="4877617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XX</m:t>
                        </m:r>
                      </m:sub>
                    </m:sSub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TF</m:t>
                    </m:r>
                    <m:d>
                      <m:dPr>
                        <m:begChr m:val="["/>
                        <m:endChr m:val="]"/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4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fr-FR" sz="2400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FR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400" b="0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r>
                  <a:rPr lang="fr-FR" sz="2400" b="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bb</m:t>
                        </m:r>
                      </m:sub>
                    </m:sSub>
                    <m:d>
                      <m:d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fr-FR" sz="2400" b="0" dirty="0"/>
              </a:p>
            </p:txBody>
          </p:sp>
        </mc:Choice>
        <mc:Fallback xmlns="">
          <p:sp>
            <p:nvSpPr>
              <p:cNvPr id="39" name="ZoneTexte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05050" y="6188850"/>
                <a:ext cx="4877617" cy="369332"/>
              </a:xfrm>
              <a:prstGeom prst="rect">
                <a:avLst/>
              </a:prstGeom>
              <a:blipFill rotWithShape="0">
                <a:blip r:embed="rId13"/>
                <a:stretch>
                  <a:fillRect l="-1995" t="-22222" b="-4603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4926118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35" grpId="0" animBg="1"/>
      <p:bldP spid="36" grpId="0" animBg="1"/>
      <p:bldP spid="37" grpId="0" animBg="1"/>
      <p:bldP spid="3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Solution de l’équation de Wiener-Hopf</a:t>
            </a:r>
          </a:p>
        </p:txBody>
      </p:sp>
      <p:sp>
        <p:nvSpPr>
          <p:cNvPr id="13315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3320" name="Text Box 28"/>
          <p:cNvSpPr txBox="1">
            <a:spLocks noChangeArrowheads="1"/>
          </p:cNvSpPr>
          <p:nvPr/>
        </p:nvSpPr>
        <p:spPr bwMode="auto">
          <a:xfrm>
            <a:off x="100014" y="1243013"/>
            <a:ext cx="534178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>
                <a:latin typeface="Arial" panose="020B0604020202020204" pitchFamily="34" charset="0"/>
              </a:rPr>
              <a:t> Dans l’espace de Fourier : </a:t>
            </a:r>
          </a:p>
        </p:txBody>
      </p:sp>
      <p:pic>
        <p:nvPicPr>
          <p:cNvPr id="13322" name="Picture 30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9888" y="1779588"/>
            <a:ext cx="3619500" cy="619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2383" name="AutoShape 31"/>
          <p:cNvSpPr>
            <a:spLocks noChangeArrowheads="1"/>
          </p:cNvSpPr>
          <p:nvPr/>
        </p:nvSpPr>
        <p:spPr bwMode="auto">
          <a:xfrm rot="10800000" flipH="1">
            <a:off x="4606925" y="1884363"/>
            <a:ext cx="342900" cy="293687"/>
          </a:xfrm>
          <a:prstGeom prst="rightArrow">
            <a:avLst>
              <a:gd name="adj1" fmla="val 50278"/>
              <a:gd name="adj2" fmla="val 58919"/>
            </a:avLst>
          </a:prstGeom>
          <a:noFill/>
          <a:ln w="762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612384" name="Text Box 32"/>
          <p:cNvSpPr txBox="1">
            <a:spLocks noChangeArrowheads="1"/>
          </p:cNvSpPr>
          <p:nvPr/>
        </p:nvSpPr>
        <p:spPr bwMode="auto">
          <a:xfrm>
            <a:off x="4484688" y="1416050"/>
            <a:ext cx="668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>
                <a:solidFill>
                  <a:srgbClr val="800000"/>
                </a:solidFill>
                <a:latin typeface="Arial" panose="020B0604020202020204" pitchFamily="34" charset="0"/>
              </a:rPr>
              <a:t>TF</a:t>
            </a:r>
          </a:p>
        </p:txBody>
      </p:sp>
      <p:sp>
        <p:nvSpPr>
          <p:cNvPr id="612386" name="Text Box 34"/>
          <p:cNvSpPr txBox="1">
            <a:spLocks noChangeArrowheads="1"/>
          </p:cNvSpPr>
          <p:nvPr/>
        </p:nvSpPr>
        <p:spPr bwMode="auto">
          <a:xfrm>
            <a:off x="566738" y="2490788"/>
            <a:ext cx="1573212" cy="376237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1800" i="1">
                <a:solidFill>
                  <a:srgbClr val="003300"/>
                </a:solidFill>
                <a:latin typeface="Arial" panose="020B0604020202020204" pitchFamily="34" charset="0"/>
              </a:rPr>
              <a:t>convolution</a:t>
            </a:r>
          </a:p>
        </p:txBody>
      </p:sp>
      <p:sp>
        <p:nvSpPr>
          <p:cNvPr id="612387" name="Line 35"/>
          <p:cNvSpPr>
            <a:spLocks noChangeShapeType="1"/>
          </p:cNvSpPr>
          <p:nvPr/>
        </p:nvSpPr>
        <p:spPr bwMode="auto">
          <a:xfrm flipV="1">
            <a:off x="1393825" y="2306638"/>
            <a:ext cx="290513" cy="160337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12388" name="Text Box 36"/>
          <p:cNvSpPr txBox="1">
            <a:spLocks noChangeArrowheads="1"/>
          </p:cNvSpPr>
          <p:nvPr/>
        </p:nvSpPr>
        <p:spPr bwMode="auto">
          <a:xfrm>
            <a:off x="90488" y="3154363"/>
            <a:ext cx="80883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dirty="0">
                <a:latin typeface="Arial" panose="020B0604020202020204" pitchFamily="34" charset="0"/>
              </a:rPr>
              <a:t> Si les signaux a(t) et b(t) sont indépendants ?  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4124" y="1690983"/>
            <a:ext cx="1906175" cy="731566"/>
          </a:xfrm>
          <a:prstGeom prst="rect">
            <a:avLst/>
          </a:prstGeom>
          <a:ln w="12700">
            <a:solidFill>
              <a:srgbClr val="80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/>
              <p:cNvSpPr txBox="1"/>
              <p:nvPr/>
            </p:nvSpPr>
            <p:spPr>
              <a:xfrm>
                <a:off x="2183032" y="3867334"/>
                <a:ext cx="3842655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Xa</m:t>
                        </m:r>
                      </m:sub>
                    </m:sSub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TF</m:t>
                    </m:r>
                    <m:d>
                      <m:dPr>
                        <m:begChr m:val="["/>
                        <m:endChr m:val="]"/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4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fr-FR" sz="2400" b="0" i="1">
                                <a:latin typeface="Cambria Math" panose="02040503050406030204" pitchFamily="18" charset="0"/>
                              </a:rPr>
                              <m:t>𝑋𝑎</m:t>
                            </m:r>
                          </m:sub>
                        </m:sSub>
                        <m:d>
                          <m:dPr>
                            <m:ctrlPr>
                              <a:rPr lang="fr-FR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400" b="0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fr-FR" sz="2400" b="0" dirty="0"/>
              </a:p>
            </p:txBody>
          </p:sp>
        </mc:Choice>
        <mc:Fallback xmlns="">
          <p:sp>
            <p:nvSpPr>
              <p:cNvPr id="38" name="ZoneTexte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3032" y="3867334"/>
                <a:ext cx="3842655" cy="369332"/>
              </a:xfrm>
              <a:prstGeom prst="rect">
                <a:avLst/>
              </a:prstGeom>
              <a:blipFill rotWithShape="0">
                <a:blip r:embed="rId5"/>
                <a:stretch>
                  <a:fillRect l="-2532" t="-22222" b="-46032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ZoneTexte 38"/>
              <p:cNvSpPr txBox="1"/>
              <p:nvPr/>
            </p:nvSpPr>
            <p:spPr>
              <a:xfrm>
                <a:off x="2139950" y="4516438"/>
                <a:ext cx="4877617" cy="36933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rgbClr val="FF0000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XX</m:t>
                        </m:r>
                      </m:sub>
                    </m:sSub>
                    <m:d>
                      <m:dPr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400" b="0" i="0" smtClean="0">
                        <a:latin typeface="Cambria Math" panose="02040503050406030204" pitchFamily="18" charset="0"/>
                      </a:rPr>
                      <m:t>TF</m:t>
                    </m:r>
                    <m:d>
                      <m:dPr>
                        <m:begChr m:val="["/>
                        <m:endChr m:val="]"/>
                        <m:ctrlPr>
                          <a:rPr lang="fr-F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4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4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fr-FR" sz="2400" b="0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fr-FR" sz="24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sub>
                        </m:sSub>
                        <m:d>
                          <m:dPr>
                            <m:ctrlPr>
                              <a:rPr lang="fr-FR" sz="24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400" b="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</m:d>
                      </m:e>
                    </m:d>
                    <m:r>
                      <a:rPr lang="fr-FR" sz="24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400" b="0" dirty="0" smtClean="0"/>
                  <a:t>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a</m:t>
                        </m:r>
                      </m:sub>
                    </m:sSub>
                    <m:d>
                      <m:d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r>
                  <a:rPr lang="fr-FR" sz="2400" b="0" dirty="0" smtClean="0"/>
                  <a:t>+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400" b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400" b="0" i="0" smtClean="0">
                            <a:latin typeface="Cambria Math" panose="02040503050406030204" pitchFamily="18" charset="0"/>
                          </a:rPr>
                          <m:t>bb</m:t>
                        </m:r>
                      </m:sub>
                    </m:sSub>
                    <m:d>
                      <m:dPr>
                        <m:ctrlPr>
                          <a:rPr lang="fr-FR" sz="24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400" b="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</m:oMath>
                </a14:m>
                <a:endParaRPr lang="fr-FR" sz="2400" b="0" dirty="0"/>
              </a:p>
            </p:txBody>
          </p:sp>
        </mc:Choice>
        <mc:Fallback xmlns="">
          <p:sp>
            <p:nvSpPr>
              <p:cNvPr id="39" name="ZoneTexte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39950" y="4516438"/>
                <a:ext cx="4877617" cy="369332"/>
              </a:xfrm>
              <a:prstGeom prst="rect">
                <a:avLst/>
              </a:prstGeom>
              <a:blipFill rotWithShape="0">
                <a:blip r:embed="rId6"/>
                <a:stretch>
                  <a:fillRect l="-1995" t="-24194" b="-46774"/>
                </a:stretch>
              </a:blipFill>
              <a:ln>
                <a:solidFill>
                  <a:srgbClr val="FF0000"/>
                </a:solidFill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8" name="Image 2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51926" y="5501367"/>
            <a:ext cx="3365436" cy="872149"/>
          </a:xfrm>
          <a:prstGeom prst="rect">
            <a:avLst/>
          </a:prstGeom>
          <a:ln w="28575">
            <a:solidFill>
              <a:srgbClr val="800000"/>
            </a:solidFill>
          </a:ln>
        </p:spPr>
      </p:pic>
    </p:spTree>
    <p:extLst>
      <p:ext uri="{BB962C8B-B14F-4D97-AF65-F5344CB8AC3E}">
        <p14:creationId xmlns:p14="http://schemas.microsoft.com/office/powerpoint/2010/main" val="300484557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376" name="Text Box 24"/>
          <p:cNvSpPr txBox="1">
            <a:spLocks noChangeArrowheads="1"/>
          </p:cNvSpPr>
          <p:nvPr/>
        </p:nvSpPr>
        <p:spPr bwMode="auto">
          <a:xfrm>
            <a:off x="185802" y="166687"/>
            <a:ext cx="8796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>
                <a:latin typeface="Arial" panose="020B0604020202020204" pitchFamily="34" charset="0"/>
              </a:rPr>
              <a:t> Application au « débruitage »:</a:t>
            </a:r>
          </a:p>
        </p:txBody>
      </p:sp>
      <p:pic>
        <p:nvPicPr>
          <p:cNvPr id="612378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377" y="858837"/>
            <a:ext cx="7434262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12379" name="Text Box 27"/>
          <p:cNvSpPr txBox="1">
            <a:spLocks noChangeArrowheads="1"/>
          </p:cNvSpPr>
          <p:nvPr/>
        </p:nvSpPr>
        <p:spPr bwMode="auto">
          <a:xfrm>
            <a:off x="1789177" y="1617662"/>
            <a:ext cx="5761037" cy="46672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i="1">
                <a:solidFill>
                  <a:srgbClr val="800000"/>
                </a:solidFill>
                <a:latin typeface="Arial" panose="020B0604020202020204" pitchFamily="34" charset="0"/>
              </a:rPr>
              <a:t>Quelle est l’allure du filtre de Wiener ? </a:t>
            </a:r>
          </a:p>
        </p:txBody>
      </p:sp>
      <p:pic>
        <p:nvPicPr>
          <p:cNvPr id="3" name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9700" y="27824"/>
            <a:ext cx="2641600" cy="684568"/>
          </a:xfrm>
          <a:prstGeom prst="rect">
            <a:avLst/>
          </a:prstGeom>
          <a:ln w="28575">
            <a:solidFill>
              <a:srgbClr val="800000"/>
            </a:solidFill>
          </a:ln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ZoneTexte 16"/>
              <p:cNvSpPr txBox="1"/>
              <p:nvPr/>
            </p:nvSpPr>
            <p:spPr>
              <a:xfrm>
                <a:off x="4374344" y="2263190"/>
                <a:ext cx="4522072" cy="56323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aa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TF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0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𝑎𝑎</m:t>
                            </m:r>
                          </m:sub>
                        </m:sSub>
                        <m:d>
                          <m:d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func>
                      <m:funcPr>
                        <m:ctrlPr>
                          <a:rPr lang="fr-FR" sz="20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sSup>
                              <m:sSupPr>
                                <m:ctrlPr>
                                  <a:rPr lang="fr-FR" sz="2000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fr-F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f>
                                      <m:fPr>
                                        <m:ctrlP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a:rPr lang="fr-FR" sz="2000" b="0" i="1" smtClean="0">
                                            <a:latin typeface="Cambria Math" panose="02040503050406030204" pitchFamily="18" charset="0"/>
                                          </a:rPr>
                                          <m:t>𝜈</m:t>
                                        </m:r>
                                      </m:num>
                                      <m:den>
                                        <m:rad>
                                          <m:radPr>
                                            <m:degHide m:val="on"/>
                                            <m:ctrlPr>
                                              <a:rPr lang="fr-FR" sz="2000" b="0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radPr>
                                          <m:deg/>
                                          <m:e>
                                            <m:r>
                                              <a:rPr lang="fr-FR" sz="2000" b="0" i="1">
                                                <a:latin typeface="Cambria Math" panose="02040503050406030204" pitchFamily="18" charset="0"/>
                                              </a:rPr>
                                              <m:t>𝑎</m:t>
                                            </m:r>
                                          </m:e>
                                        </m:rad>
                                      </m:den>
                                    </m:f>
                                    <m:r>
                                      <a:rPr lang="fr-FR" sz="2000" b="0" i="1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fr-FR" sz="2000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e>
                    </m:func>
                  </m:oMath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17" name="ZoneTexte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4344" y="2263190"/>
                <a:ext cx="4522072" cy="563231"/>
              </a:xfrm>
              <a:prstGeom prst="rect">
                <a:avLst/>
              </a:prstGeom>
              <a:blipFill rotWithShape="0">
                <a:blip r:embed="rId5"/>
                <a:stretch>
                  <a:fillRect b="-430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ZoneTexte 17"/>
              <p:cNvSpPr txBox="1"/>
              <p:nvPr/>
            </p:nvSpPr>
            <p:spPr>
              <a:xfrm>
                <a:off x="634130" y="2389187"/>
                <a:ext cx="3052823" cy="31123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2000" b="0">
                              <a:latin typeface="Cambria Math" panose="02040503050406030204" pitchFamily="18" charset="0"/>
                            </a:rPr>
                            <m:t>Γ</m:t>
                          </m:r>
                        </m:e>
                        <m:sub>
                          <m:r>
                            <a:rPr lang="fr-FR" sz="2000" b="0" i="1"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  <m:d>
                        <m:dPr>
                          <m:ctrlPr>
                            <a:rPr lang="fr-FR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𝐴</m:t>
                      </m:r>
                      <m:func>
                        <m:func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fr-FR" sz="2000" b="0" i="0" smtClean="0">
                              <a:latin typeface="Cambria Math" panose="02040503050406030204" pitchFamily="18" charset="0"/>
                            </a:rPr>
                            <m:t>exp</m:t>
                          </m:r>
                        </m:fName>
                        <m:e>
                          <m:d>
                            <m:d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  <m:sSup>
                                <m:sSupPr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ad>
                                        <m:radPr>
                                          <m:degHide m:val="on"/>
                                          <m:ctrlP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radPr>
                                        <m:deg/>
                                        <m:e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e>
                                      </m:rad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𝑡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18" name="ZoneTexte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4130" y="2389187"/>
                <a:ext cx="3052823" cy="311239"/>
              </a:xfrm>
              <a:prstGeom prst="rect">
                <a:avLst/>
              </a:prstGeom>
              <a:blipFill rotWithShape="0">
                <a:blip r:embed="rId6"/>
                <a:stretch>
                  <a:fillRect l="-1198" b="-2745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6632307" y="2826421"/>
                <a:ext cx="1857047" cy="5105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r>
                  <a:rPr lang="fr-FR" sz="2000" b="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func>
                      <m:funcPr>
                        <m:ctrlPr>
                          <a:rPr lang="fr-FR" sz="20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f>
                              <m:fPr>
                                <m:ctrlPr>
                                  <a:rPr lang="fr-FR" sz="2000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32307" y="2826421"/>
                <a:ext cx="1857047" cy="510524"/>
              </a:xfrm>
              <a:prstGeom prst="rect">
                <a:avLst/>
              </a:prstGeom>
              <a:blipFill rotWithShape="0">
                <a:blip r:embed="rId7"/>
                <a:stretch>
                  <a:fillRect l="-8525" b="-9639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655625" y="3151945"/>
                <a:ext cx="4056175" cy="5105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bb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fr-FR" sz="2000" b="0" i="0" smtClean="0">
                        <a:latin typeface="Cambria Math" panose="02040503050406030204" pitchFamily="18" charset="0"/>
                      </a:rPr>
                      <m:t>TF</m:t>
                    </m:r>
                    <m:d>
                      <m:dPr>
                        <m:begChr m:val="["/>
                        <m:endChr m:val="]"/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fr-FR" sz="2000" b="0">
                                <a:latin typeface="Cambria Math" panose="02040503050406030204" pitchFamily="18" charset="0"/>
                              </a:rPr>
                              <m:t>Γ</m:t>
                            </m:r>
                          </m:e>
                          <m:sub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𝑏𝑏</m:t>
                            </m:r>
                          </m:sub>
                        </m:sSub>
                        <m:d>
                          <m:d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</m:d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0" dirty="0" smtClean="0"/>
                  <a:t>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  <m:r>
                          <a:rPr lang="fr-FR" sz="2000" b="0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func>
                      <m:funcPr>
                        <m:ctrlPr>
                          <a:rPr lang="fr-FR" sz="20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f>
                              <m:fPr>
                                <m:ctrlPr>
                                  <a:rPr lang="fr-FR" sz="2000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fr-F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p>
                                    <m:r>
                                      <a:rPr lang="fr-FR" sz="20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5625" y="3151945"/>
                <a:ext cx="4056175" cy="510524"/>
              </a:xfrm>
              <a:prstGeom prst="rect">
                <a:avLst/>
              </a:prstGeom>
              <a:blipFill rotWithShape="0">
                <a:blip r:embed="rId8"/>
                <a:stretch>
                  <a:fillRect b="-952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ZoneTexte 20"/>
              <p:cNvSpPr txBox="1"/>
              <p:nvPr/>
            </p:nvSpPr>
            <p:spPr>
              <a:xfrm>
                <a:off x="1789177" y="4468289"/>
                <a:ext cx="2118016" cy="89736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d>
                        <m:d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𝑏𝑏</m:t>
                                  </m:r>
                                </m:sub>
                              </m:s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𝑆</m:t>
                                  </m:r>
                                </m:e>
                                <m:sub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𝑎𝑎</m:t>
                                  </m:r>
                                </m:sub>
                              </m:sSub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𝜈</m:t>
                              </m:r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den>
                      </m:f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21" name="ZoneTexte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89177" y="4468289"/>
                <a:ext cx="2118016" cy="897362"/>
              </a:xfrm>
              <a:prstGeom prst="rect">
                <a:avLst/>
              </a:prstGeom>
              <a:blipFill rotWithShape="0">
                <a:blip r:embed="rId9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/>
              <p:cNvSpPr txBox="1"/>
              <p:nvPr/>
            </p:nvSpPr>
            <p:spPr>
              <a:xfrm>
                <a:off x="3907193" y="4465726"/>
                <a:ext cx="3550972" cy="1026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rad>
                            </m:den>
                          </m:f>
                          <m:func>
                            <m:funcPr>
                              <m:ctrlPr>
                                <a:rPr lang="fr-FR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000" b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fr-FR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b="0" i="1"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e>
                                    <m:sup>
                                      <m:r>
                                        <a:rPr lang="fr-FR" sz="20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fr-FR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sz="20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7193" y="4465726"/>
                <a:ext cx="3550972" cy="1026178"/>
              </a:xfrm>
              <a:prstGeom prst="rect">
                <a:avLst/>
              </a:prstGeom>
              <a:blipFill rotWithShape="0">
                <a:blip r:embed="rId10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8432375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9" name="ZoneTexte 18"/>
              <p:cNvSpPr txBox="1"/>
              <p:nvPr/>
            </p:nvSpPr>
            <p:spPr>
              <a:xfrm>
                <a:off x="612507" y="258205"/>
                <a:ext cx="2642968" cy="510524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 b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000" b="0">
                            <a:latin typeface="Cambria Math" panose="02040503050406030204" pitchFamily="18" charset="0"/>
                          </a:rPr>
                          <m:t>aa</m:t>
                        </m:r>
                      </m:sub>
                    </m:sSub>
                    <m:d>
                      <m:dPr>
                        <m:ctrlPr>
                          <a:rPr lang="fr-FR" sz="2000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fr-FR" sz="2000" b="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fr-FR" sz="2000" b="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</m:rad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func>
                      <m:funcPr>
                        <m:ctrlPr>
                          <a:rPr lang="fr-FR" sz="20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f>
                              <m:fPr>
                                <m:ctrlPr>
                                  <a:rPr lang="fr-FR" sz="2000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p>
                                    <m:r>
                                      <a:rPr lang="fr-FR" sz="20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19" name="ZoneTexte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2507" y="258205"/>
                <a:ext cx="2642968" cy="510524"/>
              </a:xfrm>
              <a:prstGeom prst="rect">
                <a:avLst/>
              </a:prstGeom>
              <a:blipFill rotWithShape="0">
                <a:blip r:embed="rId3"/>
                <a:stretch>
                  <a:fillRect b="-119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ZoneTexte 19"/>
              <p:cNvSpPr txBox="1"/>
              <p:nvPr/>
            </p:nvSpPr>
            <p:spPr>
              <a:xfrm>
                <a:off x="660854" y="1019422"/>
                <a:ext cx="2594621" cy="494815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fr-FR" sz="2000" b="0" i="0" smtClean="0">
                            <a:latin typeface="Cambria Math" panose="02040503050406030204" pitchFamily="18" charset="0"/>
                          </a:rPr>
                          <m:t>bb</m:t>
                        </m:r>
                      </m:sub>
                    </m:sSub>
                    <m:d>
                      <m:dPr>
                        <m:ctrlPr>
                          <a:rPr 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𝜈</m:t>
                        </m:r>
                      </m:e>
                    </m:d>
                    <m:r>
                      <a:rPr lang="fr-FR" sz="20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fr-FR" sz="2000" b="0" dirty="0" smtClean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fr-FR" sz="2000" b="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fr-FR" sz="20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fr-FR" sz="20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</m:rad>
                        <m:r>
                          <a:rPr lang="fr-FR" sz="2000" b="0" i="1">
                            <a:latin typeface="Cambria Math" panose="02040503050406030204" pitchFamily="18" charset="0"/>
                          </a:rPr>
                          <m:t> </m:t>
                        </m:r>
                      </m:den>
                    </m:f>
                    <m:func>
                      <m:funcPr>
                        <m:ctrlPr>
                          <a:rPr lang="fr-FR" sz="2000" b="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fr-FR" sz="2000" b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fr-FR" sz="2000" b="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fr-FR" sz="2000" b="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f>
                              <m:fPr>
                                <m:ctrlPr>
                                  <a:rPr lang="fr-FR" sz="2000" b="0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sSupPr>
                                    <m:ctrlPr>
                                      <a:rPr lang="fr-FR" sz="2000" b="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fr-FR" sz="2000" b="0" i="1">
                                        <a:latin typeface="Cambria Math" panose="02040503050406030204" pitchFamily="18" charset="0"/>
                                      </a:rPr>
                                      <m:t>𝜈</m:t>
                                    </m:r>
                                  </m:e>
                                  <m:sup>
                                    <m:r>
                                      <a:rPr lang="fr-FR" sz="2000" b="0" i="1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fr-FR" sz="20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20" name="ZoneTexte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0854" y="1019422"/>
                <a:ext cx="2594621" cy="494815"/>
              </a:xfrm>
              <a:prstGeom prst="rect">
                <a:avLst/>
              </a:prstGeom>
              <a:blipFill rotWithShape="0">
                <a:blip r:embed="rId4"/>
                <a:stretch>
                  <a:fillRect b="-1358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ZoneTexte 21"/>
              <p:cNvSpPr txBox="1"/>
              <p:nvPr/>
            </p:nvSpPr>
            <p:spPr>
              <a:xfrm>
                <a:off x="4050749" y="358537"/>
                <a:ext cx="3971279" cy="102617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fr-FR" sz="20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2000" b="0" i="1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d>
                        <m:dPr>
                          <m:ctrlPr>
                            <a:rPr lang="fr-FR" sz="20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2000" b="0" i="1"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  <m:r>
                        <a:rPr lang="fr-FR" sz="2000" b="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fr-FR" sz="20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fr-FR" sz="20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20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rad>
                            </m:den>
                          </m:f>
                          <m:func>
                            <m:funcPr>
                              <m:ctrlPr>
                                <a:rPr lang="fr-FR" sz="2000" b="0" i="1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m:rPr>
                                  <m:sty m:val="p"/>
                                </m:rPr>
                                <a:rPr lang="fr-FR" sz="2000" b="0">
                                  <a:latin typeface="Cambria Math" panose="02040503050406030204" pitchFamily="18" charset="0"/>
                                </a:rPr>
                                <m:t>exp</m:t>
                              </m:r>
                            </m:fName>
                            <m:e>
                              <m:d>
                                <m:dPr>
                                  <m:ctrlP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fr-FR" sz="2000" b="0" i="1">
                                      <a:latin typeface="Cambria Math" panose="02040503050406030204" pitchFamily="18" charset="0"/>
                                    </a:rPr>
                                    <m:t>𝜋</m:t>
                                  </m:r>
                                  <m:sSup>
                                    <m:sSupPr>
                                      <m:ctrlPr>
                                        <a:rPr lang="fr-FR" sz="2000" b="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fr-FR" sz="2000" b="0" i="1">
                                          <a:latin typeface="Cambria Math" panose="02040503050406030204" pitchFamily="18" charset="0"/>
                                        </a:rPr>
                                        <m:t>𝜈</m:t>
                                      </m:r>
                                    </m:e>
                                    <m:sup>
                                      <m:r>
                                        <a:rPr lang="fr-FR" sz="2000" b="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d>
                                    <m:dPr>
                                      <m:ctrlP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𝑎</m:t>
                                          </m:r>
                                        </m:den>
                                      </m:f>
                                      <m:r>
                                        <a:rPr lang="fr-FR" sz="20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f>
                                        <m:fPr>
                                          <m:ctrlPr>
                                            <a:rPr lang="fr-FR" sz="2000" b="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fr-FR" sz="2000" b="0" i="1"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fr-FR" sz="2000" b="0" i="1" smtClean="0">
                                              <a:latin typeface="Cambria Math" panose="02040503050406030204" pitchFamily="18" charset="0"/>
                                            </a:rPr>
                                            <m:t>𝑏</m:t>
                                          </m:r>
                                        </m:den>
                                      </m:f>
                                    </m:e>
                                  </m:d>
                                </m:e>
                              </m:d>
                            </m:e>
                          </m:func>
                        </m:den>
                      </m:f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22" name="ZoneTexte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749" y="358537"/>
                <a:ext cx="3971279" cy="1026178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6"/>
          <p:cNvSpPr txBox="1">
            <a:spLocks noChangeArrowheads="1"/>
          </p:cNvSpPr>
          <p:nvPr/>
        </p:nvSpPr>
        <p:spPr bwMode="auto">
          <a:xfrm>
            <a:off x="212318" y="1733419"/>
            <a:ext cx="13822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dirty="0">
                <a:latin typeface="Calibri" panose="020F0502020204030204" pitchFamily="34" charset="0"/>
              </a:rPr>
              <a:t> </a:t>
            </a:r>
            <a:r>
              <a:rPr lang="fr-FR" altLang="fr-FR" sz="2400" dirty="0" smtClean="0">
                <a:latin typeface="Calibri" panose="020F0502020204030204" pitchFamily="34" charset="0"/>
              </a:rPr>
              <a:t>Cas 1: </a:t>
            </a:r>
            <a:endParaRPr lang="fr-FR" altLang="fr-FR" sz="24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ZoneTexte 12"/>
              <p:cNvSpPr txBox="1"/>
              <p:nvPr/>
            </p:nvSpPr>
            <p:spPr>
              <a:xfrm>
                <a:off x="1532072" y="1772906"/>
                <a:ext cx="691408" cy="3077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&lt;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13" name="ZoneTexte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072" y="1772906"/>
                <a:ext cx="691408" cy="307777"/>
              </a:xfrm>
              <a:prstGeom prst="rect">
                <a:avLst/>
              </a:prstGeom>
              <a:blipFill rotWithShape="0">
                <a:blip r:embed="rId6"/>
                <a:stretch>
                  <a:fillRect l="-3509" r="-7018" b="-12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2419652" y="1616849"/>
                <a:ext cx="1414938" cy="520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⟹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&gt;0</m:t>
                      </m:r>
                    </m:oMath>
                  </m:oMathPara>
                </a14:m>
                <a:endParaRPr lang="fr-FR" sz="1800" b="0" dirty="0"/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652" y="1616849"/>
                <a:ext cx="1414938" cy="520399"/>
              </a:xfrm>
              <a:prstGeom prst="rect">
                <a:avLst/>
              </a:prstGeom>
              <a:blipFill rotWithShape="0">
                <a:blip r:embed="rId7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Connecteur droit avec flèche 3"/>
          <p:cNvCxnSpPr/>
          <p:nvPr/>
        </p:nvCxnSpPr>
        <p:spPr bwMode="auto">
          <a:xfrm>
            <a:off x="919021" y="2399268"/>
            <a:ext cx="12700" cy="16501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3" name="Connecteur droit avec flèche 22"/>
          <p:cNvCxnSpPr/>
          <p:nvPr/>
        </p:nvCxnSpPr>
        <p:spPr bwMode="auto">
          <a:xfrm rot="5400000">
            <a:off x="1588240" y="3046968"/>
            <a:ext cx="12700" cy="16501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" name="Forme libre 5"/>
          <p:cNvSpPr/>
          <p:nvPr/>
        </p:nvSpPr>
        <p:spPr bwMode="auto">
          <a:xfrm>
            <a:off x="916250" y="2504209"/>
            <a:ext cx="576349" cy="1374772"/>
          </a:xfrm>
          <a:custGeom>
            <a:avLst/>
            <a:gdLst>
              <a:gd name="connsiteX0" fmla="*/ 0 w 1002804"/>
              <a:gd name="connsiteY0" fmla="*/ 2891 h 1377262"/>
              <a:gd name="connsiteX1" fmla="*/ 94211 w 1002804"/>
              <a:gd name="connsiteY1" fmla="*/ 36142 h 1377262"/>
              <a:gd name="connsiteX2" fmla="*/ 182880 w 1002804"/>
              <a:gd name="connsiteY2" fmla="*/ 257815 h 1377262"/>
              <a:gd name="connsiteX3" fmla="*/ 254924 w 1002804"/>
              <a:gd name="connsiteY3" fmla="*/ 512738 h 1377262"/>
              <a:gd name="connsiteX4" fmla="*/ 343593 w 1002804"/>
              <a:gd name="connsiteY4" fmla="*/ 762120 h 1377262"/>
              <a:gd name="connsiteX5" fmla="*/ 437804 w 1002804"/>
              <a:gd name="connsiteY5" fmla="*/ 939458 h 1377262"/>
              <a:gd name="connsiteX6" fmla="*/ 581891 w 1002804"/>
              <a:gd name="connsiteY6" fmla="*/ 1122338 h 1377262"/>
              <a:gd name="connsiteX7" fmla="*/ 809106 w 1002804"/>
              <a:gd name="connsiteY7" fmla="*/ 1316302 h 1377262"/>
              <a:gd name="connsiteX8" fmla="*/ 991986 w 1002804"/>
              <a:gd name="connsiteY8" fmla="*/ 1366178 h 1377262"/>
              <a:gd name="connsiteX9" fmla="*/ 980902 w 1002804"/>
              <a:gd name="connsiteY9" fmla="*/ 1377262 h 1377262"/>
              <a:gd name="connsiteX0" fmla="*/ 0 w 1002804"/>
              <a:gd name="connsiteY0" fmla="*/ 2891 h 1377262"/>
              <a:gd name="connsiteX1" fmla="*/ 94211 w 1002804"/>
              <a:gd name="connsiteY1" fmla="*/ 36142 h 1377262"/>
              <a:gd name="connsiteX2" fmla="*/ 182880 w 1002804"/>
              <a:gd name="connsiteY2" fmla="*/ 257815 h 1377262"/>
              <a:gd name="connsiteX3" fmla="*/ 254924 w 1002804"/>
              <a:gd name="connsiteY3" fmla="*/ 512738 h 1377262"/>
              <a:gd name="connsiteX4" fmla="*/ 343593 w 1002804"/>
              <a:gd name="connsiteY4" fmla="*/ 762120 h 1377262"/>
              <a:gd name="connsiteX5" fmla="*/ 437804 w 1002804"/>
              <a:gd name="connsiteY5" fmla="*/ 939458 h 1377262"/>
              <a:gd name="connsiteX6" fmla="*/ 543098 w 1002804"/>
              <a:gd name="connsiteY6" fmla="*/ 1144505 h 1377262"/>
              <a:gd name="connsiteX7" fmla="*/ 809106 w 1002804"/>
              <a:gd name="connsiteY7" fmla="*/ 1316302 h 1377262"/>
              <a:gd name="connsiteX8" fmla="*/ 991986 w 1002804"/>
              <a:gd name="connsiteY8" fmla="*/ 1366178 h 1377262"/>
              <a:gd name="connsiteX9" fmla="*/ 980902 w 1002804"/>
              <a:gd name="connsiteY9" fmla="*/ 1377262 h 1377262"/>
              <a:gd name="connsiteX0" fmla="*/ 0 w 1009266"/>
              <a:gd name="connsiteY0" fmla="*/ 2891 h 1377262"/>
              <a:gd name="connsiteX1" fmla="*/ 94211 w 1009266"/>
              <a:gd name="connsiteY1" fmla="*/ 36142 h 1377262"/>
              <a:gd name="connsiteX2" fmla="*/ 182880 w 1009266"/>
              <a:gd name="connsiteY2" fmla="*/ 257815 h 1377262"/>
              <a:gd name="connsiteX3" fmla="*/ 254924 w 1009266"/>
              <a:gd name="connsiteY3" fmla="*/ 512738 h 1377262"/>
              <a:gd name="connsiteX4" fmla="*/ 343593 w 1009266"/>
              <a:gd name="connsiteY4" fmla="*/ 762120 h 1377262"/>
              <a:gd name="connsiteX5" fmla="*/ 437804 w 1009266"/>
              <a:gd name="connsiteY5" fmla="*/ 939458 h 1377262"/>
              <a:gd name="connsiteX6" fmla="*/ 543098 w 1009266"/>
              <a:gd name="connsiteY6" fmla="*/ 1144505 h 1377262"/>
              <a:gd name="connsiteX7" fmla="*/ 720437 w 1009266"/>
              <a:gd name="connsiteY7" fmla="*/ 1327386 h 1377262"/>
              <a:gd name="connsiteX8" fmla="*/ 991986 w 1009266"/>
              <a:gd name="connsiteY8" fmla="*/ 1366178 h 1377262"/>
              <a:gd name="connsiteX9" fmla="*/ 980902 w 1009266"/>
              <a:gd name="connsiteY9" fmla="*/ 1377262 h 1377262"/>
              <a:gd name="connsiteX0" fmla="*/ 0 w 1009266"/>
              <a:gd name="connsiteY0" fmla="*/ 2891 h 1377262"/>
              <a:gd name="connsiteX1" fmla="*/ 94211 w 1009266"/>
              <a:gd name="connsiteY1" fmla="*/ 36142 h 1377262"/>
              <a:gd name="connsiteX2" fmla="*/ 182880 w 1009266"/>
              <a:gd name="connsiteY2" fmla="*/ 257815 h 1377262"/>
              <a:gd name="connsiteX3" fmla="*/ 254924 w 1009266"/>
              <a:gd name="connsiteY3" fmla="*/ 512738 h 1377262"/>
              <a:gd name="connsiteX4" fmla="*/ 360218 w 1009266"/>
              <a:gd name="connsiteY4" fmla="*/ 762120 h 1377262"/>
              <a:gd name="connsiteX5" fmla="*/ 437804 w 1009266"/>
              <a:gd name="connsiteY5" fmla="*/ 939458 h 1377262"/>
              <a:gd name="connsiteX6" fmla="*/ 543098 w 1009266"/>
              <a:gd name="connsiteY6" fmla="*/ 1144505 h 1377262"/>
              <a:gd name="connsiteX7" fmla="*/ 720437 w 1009266"/>
              <a:gd name="connsiteY7" fmla="*/ 1327386 h 1377262"/>
              <a:gd name="connsiteX8" fmla="*/ 991986 w 1009266"/>
              <a:gd name="connsiteY8" fmla="*/ 1366178 h 1377262"/>
              <a:gd name="connsiteX9" fmla="*/ 980902 w 1009266"/>
              <a:gd name="connsiteY9" fmla="*/ 1377262 h 1377262"/>
              <a:gd name="connsiteX0" fmla="*/ 0 w 1009266"/>
              <a:gd name="connsiteY0" fmla="*/ 2539 h 1376910"/>
              <a:gd name="connsiteX1" fmla="*/ 94211 w 1009266"/>
              <a:gd name="connsiteY1" fmla="*/ 35790 h 1376910"/>
              <a:gd name="connsiteX2" fmla="*/ 205047 w 1009266"/>
              <a:gd name="connsiteY2" fmla="*/ 246379 h 1376910"/>
              <a:gd name="connsiteX3" fmla="*/ 254924 w 1009266"/>
              <a:gd name="connsiteY3" fmla="*/ 512386 h 1376910"/>
              <a:gd name="connsiteX4" fmla="*/ 360218 w 1009266"/>
              <a:gd name="connsiteY4" fmla="*/ 761768 h 1376910"/>
              <a:gd name="connsiteX5" fmla="*/ 437804 w 1009266"/>
              <a:gd name="connsiteY5" fmla="*/ 939106 h 1376910"/>
              <a:gd name="connsiteX6" fmla="*/ 543098 w 1009266"/>
              <a:gd name="connsiteY6" fmla="*/ 1144153 h 1376910"/>
              <a:gd name="connsiteX7" fmla="*/ 720437 w 1009266"/>
              <a:gd name="connsiteY7" fmla="*/ 1327034 h 1376910"/>
              <a:gd name="connsiteX8" fmla="*/ 991986 w 1009266"/>
              <a:gd name="connsiteY8" fmla="*/ 1365826 h 1376910"/>
              <a:gd name="connsiteX9" fmla="*/ 980902 w 1009266"/>
              <a:gd name="connsiteY9" fmla="*/ 1376910 h 1376910"/>
              <a:gd name="connsiteX0" fmla="*/ 0 w 1009266"/>
              <a:gd name="connsiteY0" fmla="*/ 401 h 1374772"/>
              <a:gd name="connsiteX1" fmla="*/ 121920 w 1009266"/>
              <a:gd name="connsiteY1" fmla="*/ 72445 h 1374772"/>
              <a:gd name="connsiteX2" fmla="*/ 205047 w 1009266"/>
              <a:gd name="connsiteY2" fmla="*/ 244241 h 1374772"/>
              <a:gd name="connsiteX3" fmla="*/ 254924 w 1009266"/>
              <a:gd name="connsiteY3" fmla="*/ 510248 h 1374772"/>
              <a:gd name="connsiteX4" fmla="*/ 360218 w 1009266"/>
              <a:gd name="connsiteY4" fmla="*/ 759630 h 1374772"/>
              <a:gd name="connsiteX5" fmla="*/ 437804 w 1009266"/>
              <a:gd name="connsiteY5" fmla="*/ 936968 h 1374772"/>
              <a:gd name="connsiteX6" fmla="*/ 543098 w 1009266"/>
              <a:gd name="connsiteY6" fmla="*/ 1142015 h 1374772"/>
              <a:gd name="connsiteX7" fmla="*/ 720437 w 1009266"/>
              <a:gd name="connsiteY7" fmla="*/ 1324896 h 1374772"/>
              <a:gd name="connsiteX8" fmla="*/ 991986 w 1009266"/>
              <a:gd name="connsiteY8" fmla="*/ 1363688 h 1374772"/>
              <a:gd name="connsiteX9" fmla="*/ 980902 w 1009266"/>
              <a:gd name="connsiteY9" fmla="*/ 1374772 h 1374772"/>
              <a:gd name="connsiteX0" fmla="*/ 0 w 1009266"/>
              <a:gd name="connsiteY0" fmla="*/ 401 h 1374772"/>
              <a:gd name="connsiteX1" fmla="*/ 121920 w 1009266"/>
              <a:gd name="connsiteY1" fmla="*/ 72445 h 1374772"/>
              <a:gd name="connsiteX2" fmla="*/ 205047 w 1009266"/>
              <a:gd name="connsiteY2" fmla="*/ 244241 h 1374772"/>
              <a:gd name="connsiteX3" fmla="*/ 282633 w 1009266"/>
              <a:gd name="connsiteY3" fmla="*/ 504706 h 1374772"/>
              <a:gd name="connsiteX4" fmla="*/ 360218 w 1009266"/>
              <a:gd name="connsiteY4" fmla="*/ 759630 h 1374772"/>
              <a:gd name="connsiteX5" fmla="*/ 437804 w 1009266"/>
              <a:gd name="connsiteY5" fmla="*/ 936968 h 1374772"/>
              <a:gd name="connsiteX6" fmla="*/ 543098 w 1009266"/>
              <a:gd name="connsiteY6" fmla="*/ 1142015 h 1374772"/>
              <a:gd name="connsiteX7" fmla="*/ 720437 w 1009266"/>
              <a:gd name="connsiteY7" fmla="*/ 1324896 h 1374772"/>
              <a:gd name="connsiteX8" fmla="*/ 991986 w 1009266"/>
              <a:gd name="connsiteY8" fmla="*/ 1363688 h 1374772"/>
              <a:gd name="connsiteX9" fmla="*/ 980902 w 1009266"/>
              <a:gd name="connsiteY9" fmla="*/ 1374772 h 137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9266" h="1374772">
                <a:moveTo>
                  <a:pt x="0" y="401"/>
                </a:moveTo>
                <a:cubicBezTo>
                  <a:pt x="31865" y="-4217"/>
                  <a:pt x="87746" y="31805"/>
                  <a:pt x="121920" y="72445"/>
                </a:cubicBezTo>
                <a:cubicBezTo>
                  <a:pt x="156094" y="113085"/>
                  <a:pt x="178262" y="172198"/>
                  <a:pt x="205047" y="244241"/>
                </a:cubicBezTo>
                <a:cubicBezTo>
                  <a:pt x="231833" y="316285"/>
                  <a:pt x="256771" y="418808"/>
                  <a:pt x="282633" y="504706"/>
                </a:cubicBezTo>
                <a:cubicBezTo>
                  <a:pt x="308495" y="590604"/>
                  <a:pt x="334356" y="687586"/>
                  <a:pt x="360218" y="759630"/>
                </a:cubicBezTo>
                <a:cubicBezTo>
                  <a:pt x="386080" y="831674"/>
                  <a:pt x="407324" y="873237"/>
                  <a:pt x="437804" y="936968"/>
                </a:cubicBezTo>
                <a:cubicBezTo>
                  <a:pt x="468284" y="1000699"/>
                  <a:pt x="495993" y="1077360"/>
                  <a:pt x="543098" y="1142015"/>
                </a:cubicBezTo>
                <a:cubicBezTo>
                  <a:pt x="590204" y="1206670"/>
                  <a:pt x="645622" y="1287951"/>
                  <a:pt x="720437" y="1324896"/>
                </a:cubicBezTo>
                <a:cubicBezTo>
                  <a:pt x="795252" y="1361841"/>
                  <a:pt x="948575" y="1355375"/>
                  <a:pt x="991986" y="1363688"/>
                </a:cubicBezTo>
                <a:cubicBezTo>
                  <a:pt x="1035397" y="1372001"/>
                  <a:pt x="983673" y="1373848"/>
                  <a:pt x="980902" y="1374772"/>
                </a:cubicBezTo>
              </a:path>
            </a:pathLst>
          </a:cu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mbol" pitchFamily="18" charset="2"/>
            </a:endParaRPr>
          </a:p>
        </p:txBody>
      </p:sp>
      <p:sp>
        <p:nvSpPr>
          <p:cNvPr id="25" name="Forme libre 24"/>
          <p:cNvSpPr/>
          <p:nvPr/>
        </p:nvSpPr>
        <p:spPr bwMode="auto">
          <a:xfrm>
            <a:off x="916921" y="3075415"/>
            <a:ext cx="1434038" cy="667017"/>
          </a:xfrm>
          <a:custGeom>
            <a:avLst/>
            <a:gdLst>
              <a:gd name="connsiteX0" fmla="*/ 0 w 1002804"/>
              <a:gd name="connsiteY0" fmla="*/ 2891 h 1377262"/>
              <a:gd name="connsiteX1" fmla="*/ 94211 w 1002804"/>
              <a:gd name="connsiteY1" fmla="*/ 36142 h 1377262"/>
              <a:gd name="connsiteX2" fmla="*/ 182880 w 1002804"/>
              <a:gd name="connsiteY2" fmla="*/ 257815 h 1377262"/>
              <a:gd name="connsiteX3" fmla="*/ 254924 w 1002804"/>
              <a:gd name="connsiteY3" fmla="*/ 512738 h 1377262"/>
              <a:gd name="connsiteX4" fmla="*/ 343593 w 1002804"/>
              <a:gd name="connsiteY4" fmla="*/ 762120 h 1377262"/>
              <a:gd name="connsiteX5" fmla="*/ 437804 w 1002804"/>
              <a:gd name="connsiteY5" fmla="*/ 939458 h 1377262"/>
              <a:gd name="connsiteX6" fmla="*/ 581891 w 1002804"/>
              <a:gd name="connsiteY6" fmla="*/ 1122338 h 1377262"/>
              <a:gd name="connsiteX7" fmla="*/ 809106 w 1002804"/>
              <a:gd name="connsiteY7" fmla="*/ 1316302 h 1377262"/>
              <a:gd name="connsiteX8" fmla="*/ 991986 w 1002804"/>
              <a:gd name="connsiteY8" fmla="*/ 1366178 h 1377262"/>
              <a:gd name="connsiteX9" fmla="*/ 980902 w 1002804"/>
              <a:gd name="connsiteY9" fmla="*/ 1377262 h 1377262"/>
              <a:gd name="connsiteX0" fmla="*/ 0 w 1002804"/>
              <a:gd name="connsiteY0" fmla="*/ 2891 h 1377262"/>
              <a:gd name="connsiteX1" fmla="*/ 94211 w 1002804"/>
              <a:gd name="connsiteY1" fmla="*/ 36142 h 1377262"/>
              <a:gd name="connsiteX2" fmla="*/ 182880 w 1002804"/>
              <a:gd name="connsiteY2" fmla="*/ 257815 h 1377262"/>
              <a:gd name="connsiteX3" fmla="*/ 254924 w 1002804"/>
              <a:gd name="connsiteY3" fmla="*/ 512738 h 1377262"/>
              <a:gd name="connsiteX4" fmla="*/ 343593 w 1002804"/>
              <a:gd name="connsiteY4" fmla="*/ 762120 h 1377262"/>
              <a:gd name="connsiteX5" fmla="*/ 437804 w 1002804"/>
              <a:gd name="connsiteY5" fmla="*/ 939458 h 1377262"/>
              <a:gd name="connsiteX6" fmla="*/ 543098 w 1002804"/>
              <a:gd name="connsiteY6" fmla="*/ 1144505 h 1377262"/>
              <a:gd name="connsiteX7" fmla="*/ 809106 w 1002804"/>
              <a:gd name="connsiteY7" fmla="*/ 1316302 h 1377262"/>
              <a:gd name="connsiteX8" fmla="*/ 991986 w 1002804"/>
              <a:gd name="connsiteY8" fmla="*/ 1366178 h 1377262"/>
              <a:gd name="connsiteX9" fmla="*/ 980902 w 1002804"/>
              <a:gd name="connsiteY9" fmla="*/ 1377262 h 1377262"/>
              <a:gd name="connsiteX0" fmla="*/ 0 w 1009266"/>
              <a:gd name="connsiteY0" fmla="*/ 2891 h 1377262"/>
              <a:gd name="connsiteX1" fmla="*/ 94211 w 1009266"/>
              <a:gd name="connsiteY1" fmla="*/ 36142 h 1377262"/>
              <a:gd name="connsiteX2" fmla="*/ 182880 w 1009266"/>
              <a:gd name="connsiteY2" fmla="*/ 257815 h 1377262"/>
              <a:gd name="connsiteX3" fmla="*/ 254924 w 1009266"/>
              <a:gd name="connsiteY3" fmla="*/ 512738 h 1377262"/>
              <a:gd name="connsiteX4" fmla="*/ 343593 w 1009266"/>
              <a:gd name="connsiteY4" fmla="*/ 762120 h 1377262"/>
              <a:gd name="connsiteX5" fmla="*/ 437804 w 1009266"/>
              <a:gd name="connsiteY5" fmla="*/ 939458 h 1377262"/>
              <a:gd name="connsiteX6" fmla="*/ 543098 w 1009266"/>
              <a:gd name="connsiteY6" fmla="*/ 1144505 h 1377262"/>
              <a:gd name="connsiteX7" fmla="*/ 720437 w 1009266"/>
              <a:gd name="connsiteY7" fmla="*/ 1327386 h 1377262"/>
              <a:gd name="connsiteX8" fmla="*/ 991986 w 1009266"/>
              <a:gd name="connsiteY8" fmla="*/ 1366178 h 1377262"/>
              <a:gd name="connsiteX9" fmla="*/ 980902 w 1009266"/>
              <a:gd name="connsiteY9" fmla="*/ 1377262 h 1377262"/>
              <a:gd name="connsiteX0" fmla="*/ 0 w 1009266"/>
              <a:gd name="connsiteY0" fmla="*/ 2891 h 1377262"/>
              <a:gd name="connsiteX1" fmla="*/ 94211 w 1009266"/>
              <a:gd name="connsiteY1" fmla="*/ 36142 h 1377262"/>
              <a:gd name="connsiteX2" fmla="*/ 182880 w 1009266"/>
              <a:gd name="connsiteY2" fmla="*/ 257815 h 1377262"/>
              <a:gd name="connsiteX3" fmla="*/ 254924 w 1009266"/>
              <a:gd name="connsiteY3" fmla="*/ 512738 h 1377262"/>
              <a:gd name="connsiteX4" fmla="*/ 360218 w 1009266"/>
              <a:gd name="connsiteY4" fmla="*/ 762120 h 1377262"/>
              <a:gd name="connsiteX5" fmla="*/ 437804 w 1009266"/>
              <a:gd name="connsiteY5" fmla="*/ 939458 h 1377262"/>
              <a:gd name="connsiteX6" fmla="*/ 543098 w 1009266"/>
              <a:gd name="connsiteY6" fmla="*/ 1144505 h 1377262"/>
              <a:gd name="connsiteX7" fmla="*/ 720437 w 1009266"/>
              <a:gd name="connsiteY7" fmla="*/ 1327386 h 1377262"/>
              <a:gd name="connsiteX8" fmla="*/ 991986 w 1009266"/>
              <a:gd name="connsiteY8" fmla="*/ 1366178 h 1377262"/>
              <a:gd name="connsiteX9" fmla="*/ 980902 w 1009266"/>
              <a:gd name="connsiteY9" fmla="*/ 1377262 h 1377262"/>
              <a:gd name="connsiteX0" fmla="*/ 0 w 1009266"/>
              <a:gd name="connsiteY0" fmla="*/ 2539 h 1376910"/>
              <a:gd name="connsiteX1" fmla="*/ 94211 w 1009266"/>
              <a:gd name="connsiteY1" fmla="*/ 35790 h 1376910"/>
              <a:gd name="connsiteX2" fmla="*/ 205047 w 1009266"/>
              <a:gd name="connsiteY2" fmla="*/ 246379 h 1376910"/>
              <a:gd name="connsiteX3" fmla="*/ 254924 w 1009266"/>
              <a:gd name="connsiteY3" fmla="*/ 512386 h 1376910"/>
              <a:gd name="connsiteX4" fmla="*/ 360218 w 1009266"/>
              <a:gd name="connsiteY4" fmla="*/ 761768 h 1376910"/>
              <a:gd name="connsiteX5" fmla="*/ 437804 w 1009266"/>
              <a:gd name="connsiteY5" fmla="*/ 939106 h 1376910"/>
              <a:gd name="connsiteX6" fmla="*/ 543098 w 1009266"/>
              <a:gd name="connsiteY6" fmla="*/ 1144153 h 1376910"/>
              <a:gd name="connsiteX7" fmla="*/ 720437 w 1009266"/>
              <a:gd name="connsiteY7" fmla="*/ 1327034 h 1376910"/>
              <a:gd name="connsiteX8" fmla="*/ 991986 w 1009266"/>
              <a:gd name="connsiteY8" fmla="*/ 1365826 h 1376910"/>
              <a:gd name="connsiteX9" fmla="*/ 980902 w 1009266"/>
              <a:gd name="connsiteY9" fmla="*/ 1376910 h 1376910"/>
              <a:gd name="connsiteX0" fmla="*/ 0 w 1009266"/>
              <a:gd name="connsiteY0" fmla="*/ 401 h 1374772"/>
              <a:gd name="connsiteX1" fmla="*/ 121920 w 1009266"/>
              <a:gd name="connsiteY1" fmla="*/ 72445 h 1374772"/>
              <a:gd name="connsiteX2" fmla="*/ 205047 w 1009266"/>
              <a:gd name="connsiteY2" fmla="*/ 244241 h 1374772"/>
              <a:gd name="connsiteX3" fmla="*/ 254924 w 1009266"/>
              <a:gd name="connsiteY3" fmla="*/ 510248 h 1374772"/>
              <a:gd name="connsiteX4" fmla="*/ 360218 w 1009266"/>
              <a:gd name="connsiteY4" fmla="*/ 759630 h 1374772"/>
              <a:gd name="connsiteX5" fmla="*/ 437804 w 1009266"/>
              <a:gd name="connsiteY5" fmla="*/ 936968 h 1374772"/>
              <a:gd name="connsiteX6" fmla="*/ 543098 w 1009266"/>
              <a:gd name="connsiteY6" fmla="*/ 1142015 h 1374772"/>
              <a:gd name="connsiteX7" fmla="*/ 720437 w 1009266"/>
              <a:gd name="connsiteY7" fmla="*/ 1324896 h 1374772"/>
              <a:gd name="connsiteX8" fmla="*/ 991986 w 1009266"/>
              <a:gd name="connsiteY8" fmla="*/ 1363688 h 1374772"/>
              <a:gd name="connsiteX9" fmla="*/ 980902 w 1009266"/>
              <a:gd name="connsiteY9" fmla="*/ 1374772 h 1374772"/>
              <a:gd name="connsiteX0" fmla="*/ 0 w 1009266"/>
              <a:gd name="connsiteY0" fmla="*/ 401 h 1374772"/>
              <a:gd name="connsiteX1" fmla="*/ 121920 w 1009266"/>
              <a:gd name="connsiteY1" fmla="*/ 72445 h 1374772"/>
              <a:gd name="connsiteX2" fmla="*/ 205047 w 1009266"/>
              <a:gd name="connsiteY2" fmla="*/ 244241 h 1374772"/>
              <a:gd name="connsiteX3" fmla="*/ 282633 w 1009266"/>
              <a:gd name="connsiteY3" fmla="*/ 504706 h 1374772"/>
              <a:gd name="connsiteX4" fmla="*/ 360218 w 1009266"/>
              <a:gd name="connsiteY4" fmla="*/ 759630 h 1374772"/>
              <a:gd name="connsiteX5" fmla="*/ 437804 w 1009266"/>
              <a:gd name="connsiteY5" fmla="*/ 936968 h 1374772"/>
              <a:gd name="connsiteX6" fmla="*/ 543098 w 1009266"/>
              <a:gd name="connsiteY6" fmla="*/ 1142015 h 1374772"/>
              <a:gd name="connsiteX7" fmla="*/ 720437 w 1009266"/>
              <a:gd name="connsiteY7" fmla="*/ 1324896 h 1374772"/>
              <a:gd name="connsiteX8" fmla="*/ 991986 w 1009266"/>
              <a:gd name="connsiteY8" fmla="*/ 1363688 h 1374772"/>
              <a:gd name="connsiteX9" fmla="*/ 980902 w 1009266"/>
              <a:gd name="connsiteY9" fmla="*/ 1374772 h 1374772"/>
              <a:gd name="connsiteX0" fmla="*/ 0 w 980902"/>
              <a:gd name="connsiteY0" fmla="*/ 401 h 1374772"/>
              <a:gd name="connsiteX1" fmla="*/ 121920 w 980902"/>
              <a:gd name="connsiteY1" fmla="*/ 72445 h 1374772"/>
              <a:gd name="connsiteX2" fmla="*/ 205047 w 980902"/>
              <a:gd name="connsiteY2" fmla="*/ 244241 h 1374772"/>
              <a:gd name="connsiteX3" fmla="*/ 282633 w 980902"/>
              <a:gd name="connsiteY3" fmla="*/ 504706 h 1374772"/>
              <a:gd name="connsiteX4" fmla="*/ 360218 w 980902"/>
              <a:gd name="connsiteY4" fmla="*/ 759630 h 1374772"/>
              <a:gd name="connsiteX5" fmla="*/ 437804 w 980902"/>
              <a:gd name="connsiteY5" fmla="*/ 936968 h 1374772"/>
              <a:gd name="connsiteX6" fmla="*/ 543098 w 980902"/>
              <a:gd name="connsiteY6" fmla="*/ 1142015 h 1374772"/>
              <a:gd name="connsiteX7" fmla="*/ 720437 w 980902"/>
              <a:gd name="connsiteY7" fmla="*/ 1324896 h 1374772"/>
              <a:gd name="connsiteX8" fmla="*/ 980902 w 980902"/>
              <a:gd name="connsiteY8" fmla="*/ 1374772 h 1374772"/>
              <a:gd name="connsiteX0" fmla="*/ 0 w 720437"/>
              <a:gd name="connsiteY0" fmla="*/ 401 h 1324896"/>
              <a:gd name="connsiteX1" fmla="*/ 121920 w 720437"/>
              <a:gd name="connsiteY1" fmla="*/ 72445 h 1324896"/>
              <a:gd name="connsiteX2" fmla="*/ 205047 w 720437"/>
              <a:gd name="connsiteY2" fmla="*/ 244241 h 1324896"/>
              <a:gd name="connsiteX3" fmla="*/ 282633 w 720437"/>
              <a:gd name="connsiteY3" fmla="*/ 504706 h 1324896"/>
              <a:gd name="connsiteX4" fmla="*/ 360218 w 720437"/>
              <a:gd name="connsiteY4" fmla="*/ 759630 h 1324896"/>
              <a:gd name="connsiteX5" fmla="*/ 437804 w 720437"/>
              <a:gd name="connsiteY5" fmla="*/ 936968 h 1324896"/>
              <a:gd name="connsiteX6" fmla="*/ 543098 w 720437"/>
              <a:gd name="connsiteY6" fmla="*/ 1142015 h 1324896"/>
              <a:gd name="connsiteX7" fmla="*/ 720437 w 720437"/>
              <a:gd name="connsiteY7" fmla="*/ 1324896 h 1324896"/>
              <a:gd name="connsiteX0" fmla="*/ 0 w 543098"/>
              <a:gd name="connsiteY0" fmla="*/ 401 h 1142016"/>
              <a:gd name="connsiteX1" fmla="*/ 121920 w 543098"/>
              <a:gd name="connsiteY1" fmla="*/ 72445 h 1142016"/>
              <a:gd name="connsiteX2" fmla="*/ 205047 w 543098"/>
              <a:gd name="connsiteY2" fmla="*/ 244241 h 1142016"/>
              <a:gd name="connsiteX3" fmla="*/ 282633 w 543098"/>
              <a:gd name="connsiteY3" fmla="*/ 504706 h 1142016"/>
              <a:gd name="connsiteX4" fmla="*/ 360218 w 543098"/>
              <a:gd name="connsiteY4" fmla="*/ 759630 h 1142016"/>
              <a:gd name="connsiteX5" fmla="*/ 437804 w 543098"/>
              <a:gd name="connsiteY5" fmla="*/ 936968 h 1142016"/>
              <a:gd name="connsiteX6" fmla="*/ 543098 w 543098"/>
              <a:gd name="connsiteY6" fmla="*/ 1142015 h 1142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3098" h="1142016">
                <a:moveTo>
                  <a:pt x="0" y="401"/>
                </a:moveTo>
                <a:cubicBezTo>
                  <a:pt x="31865" y="-4217"/>
                  <a:pt x="87746" y="31805"/>
                  <a:pt x="121920" y="72445"/>
                </a:cubicBezTo>
                <a:cubicBezTo>
                  <a:pt x="156094" y="113085"/>
                  <a:pt x="178262" y="172198"/>
                  <a:pt x="205047" y="244241"/>
                </a:cubicBezTo>
                <a:cubicBezTo>
                  <a:pt x="231833" y="316285"/>
                  <a:pt x="256771" y="418808"/>
                  <a:pt x="282633" y="504706"/>
                </a:cubicBezTo>
                <a:cubicBezTo>
                  <a:pt x="308495" y="590604"/>
                  <a:pt x="334356" y="687586"/>
                  <a:pt x="360218" y="759630"/>
                </a:cubicBezTo>
                <a:cubicBezTo>
                  <a:pt x="386080" y="831674"/>
                  <a:pt x="407324" y="873237"/>
                  <a:pt x="437804" y="936968"/>
                </a:cubicBezTo>
                <a:cubicBezTo>
                  <a:pt x="468284" y="1000699"/>
                  <a:pt x="495993" y="1077360"/>
                  <a:pt x="543098" y="1142015"/>
                </a:cubicBezTo>
              </a:path>
            </a:pathLst>
          </a:cu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ZoneTexte 25"/>
              <p:cNvSpPr txBox="1"/>
              <p:nvPr/>
            </p:nvSpPr>
            <p:spPr>
              <a:xfrm>
                <a:off x="1142223" y="2339352"/>
                <a:ext cx="609654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600" b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600" b="0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aa</m:t>
                          </m:r>
                        </m:sub>
                      </m:sSub>
                      <m:d>
                        <m:dPr>
                          <m:ctrlPr>
                            <a:rPr lang="fr-FR" sz="1600" b="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>
                              <a:solidFill>
                                <a:schemeClr val="accent6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</m:oMath>
                  </m:oMathPara>
                </a14:m>
                <a:endParaRPr lang="fr-FR" sz="1600" b="0" dirty="0">
                  <a:solidFill>
                    <a:schemeClr val="accent6"/>
                  </a:solidFill>
                </a:endParaRPr>
              </a:p>
            </p:txBody>
          </p:sp>
        </mc:Choice>
        <mc:Fallback xmlns="">
          <p:sp>
            <p:nvSpPr>
              <p:cNvPr id="26" name="ZoneTexte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223" y="2339352"/>
                <a:ext cx="609654" cy="246221"/>
              </a:xfrm>
              <a:prstGeom prst="rect">
                <a:avLst/>
              </a:prstGeom>
              <a:blipFill rotWithShape="0">
                <a:blip r:embed="rId8"/>
                <a:stretch>
                  <a:fillRect l="-6000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ZoneTexte 26"/>
              <p:cNvSpPr txBox="1"/>
              <p:nvPr/>
            </p:nvSpPr>
            <p:spPr>
              <a:xfrm>
                <a:off x="1594590" y="3043611"/>
                <a:ext cx="628890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bb</m:t>
                          </m:r>
                        </m:sub>
                      </m:sSub>
                      <m:d>
                        <m:dPr>
                          <m:ctrlPr>
                            <a:rPr lang="fr-FR" sz="1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</m:oMath>
                  </m:oMathPara>
                </a14:m>
                <a:endParaRPr lang="fr-FR" sz="16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7" name="ZoneTexte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590" y="3043611"/>
                <a:ext cx="628890" cy="246221"/>
              </a:xfrm>
              <a:prstGeom prst="rect">
                <a:avLst/>
              </a:prstGeom>
              <a:blipFill rotWithShape="0">
                <a:blip r:embed="rId9"/>
                <a:stretch>
                  <a:fillRect l="-6796" b="-195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Connecteur droit avec flèche 27"/>
          <p:cNvCxnSpPr/>
          <p:nvPr/>
        </p:nvCxnSpPr>
        <p:spPr bwMode="auto">
          <a:xfrm>
            <a:off x="4790656" y="3289832"/>
            <a:ext cx="12700" cy="16501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29" name="Connecteur droit avec flèche 28"/>
          <p:cNvCxnSpPr/>
          <p:nvPr/>
        </p:nvCxnSpPr>
        <p:spPr bwMode="auto">
          <a:xfrm flipH="1" flipV="1">
            <a:off x="4641163" y="4768945"/>
            <a:ext cx="3406291" cy="317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0" name="ZoneTexte 29"/>
              <p:cNvSpPr txBox="1"/>
              <p:nvPr/>
            </p:nvSpPr>
            <p:spPr>
              <a:xfrm>
                <a:off x="4050749" y="3652284"/>
                <a:ext cx="602088" cy="572593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2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200" b="0" i="1" smtClean="0">
                              <a:latin typeface="Cambria Math" panose="02040503050406030204" pitchFamily="18" charset="0"/>
                            </a:rPr>
                            <m:t>1+</m:t>
                          </m:r>
                          <m:f>
                            <m:fPr>
                              <m:ctrlP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𝑎</m:t>
                                  </m:r>
                                </m:e>
                              </m:rad>
                            </m:num>
                            <m:den>
                              <m:r>
                                <a:rPr lang="fr-FR" sz="12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ad>
                                <m:radPr>
                                  <m:degHide m:val="on"/>
                                  <m:ctrlP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fr-FR" sz="1200" b="0" i="1" smtClean="0">
                                      <a:latin typeface="Cambria Math" panose="02040503050406030204" pitchFamily="18" charset="0"/>
                                    </a:rPr>
                                    <m:t>𝑏</m:t>
                                  </m:r>
                                </m:e>
                              </m:rad>
                            </m:den>
                          </m:f>
                        </m:den>
                      </m:f>
                    </m:oMath>
                  </m:oMathPara>
                </a14:m>
                <a:endParaRPr lang="fr-FR" sz="1200" b="0" dirty="0"/>
              </a:p>
            </p:txBody>
          </p:sp>
        </mc:Choice>
        <mc:Fallback xmlns="">
          <p:sp>
            <p:nvSpPr>
              <p:cNvPr id="30" name="ZoneTexte 2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0749" y="3652284"/>
                <a:ext cx="602088" cy="572593"/>
              </a:xfrm>
              <a:prstGeom prst="rect">
                <a:avLst/>
              </a:prstGeom>
              <a:blipFill rotWithShape="0">
                <a:blip r:embed="rId10"/>
                <a:stretch>
                  <a:fillRect l="-5051" t="-2128" r="-4040" b="-8511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5" name="Connecteur droit 14"/>
          <p:cNvCxnSpPr/>
          <p:nvPr/>
        </p:nvCxnSpPr>
        <p:spPr bwMode="auto">
          <a:xfrm>
            <a:off x="4721963" y="3938581"/>
            <a:ext cx="8139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34" name="Forme libre 33"/>
          <p:cNvSpPr/>
          <p:nvPr/>
        </p:nvSpPr>
        <p:spPr bwMode="auto">
          <a:xfrm>
            <a:off x="4809402" y="3945998"/>
            <a:ext cx="2334409" cy="842453"/>
          </a:xfrm>
          <a:custGeom>
            <a:avLst/>
            <a:gdLst>
              <a:gd name="connsiteX0" fmla="*/ 0 w 2414169"/>
              <a:gd name="connsiteY0" fmla="*/ 13456 h 874528"/>
              <a:gd name="connsiteX1" fmla="*/ 225910 w 2414169"/>
              <a:gd name="connsiteY1" fmla="*/ 13456 h 874528"/>
              <a:gd name="connsiteX2" fmla="*/ 527124 w 2414169"/>
              <a:gd name="connsiteY2" fmla="*/ 153305 h 874528"/>
              <a:gd name="connsiteX3" fmla="*/ 839096 w 2414169"/>
              <a:gd name="connsiteY3" fmla="*/ 400731 h 874528"/>
              <a:gd name="connsiteX4" fmla="*/ 1215614 w 2414169"/>
              <a:gd name="connsiteY4" fmla="*/ 626642 h 874528"/>
              <a:gd name="connsiteX5" fmla="*/ 1699708 w 2414169"/>
              <a:gd name="connsiteY5" fmla="*/ 766491 h 874528"/>
              <a:gd name="connsiteX6" fmla="*/ 2334409 w 2414169"/>
              <a:gd name="connsiteY6" fmla="*/ 852552 h 874528"/>
              <a:gd name="connsiteX7" fmla="*/ 2334409 w 2414169"/>
              <a:gd name="connsiteY7" fmla="*/ 820279 h 874528"/>
              <a:gd name="connsiteX8" fmla="*/ 2409713 w 2414169"/>
              <a:gd name="connsiteY8" fmla="*/ 874067 h 874528"/>
              <a:gd name="connsiteX9" fmla="*/ 2398955 w 2414169"/>
              <a:gd name="connsiteY9" fmla="*/ 841794 h 874528"/>
              <a:gd name="connsiteX0" fmla="*/ 0 w 2409713"/>
              <a:gd name="connsiteY0" fmla="*/ 13456 h 874067"/>
              <a:gd name="connsiteX1" fmla="*/ 225910 w 2409713"/>
              <a:gd name="connsiteY1" fmla="*/ 13456 h 874067"/>
              <a:gd name="connsiteX2" fmla="*/ 527124 w 2409713"/>
              <a:gd name="connsiteY2" fmla="*/ 153305 h 874067"/>
              <a:gd name="connsiteX3" fmla="*/ 839096 w 2409713"/>
              <a:gd name="connsiteY3" fmla="*/ 400731 h 874067"/>
              <a:gd name="connsiteX4" fmla="*/ 1215614 w 2409713"/>
              <a:gd name="connsiteY4" fmla="*/ 626642 h 874067"/>
              <a:gd name="connsiteX5" fmla="*/ 1699708 w 2409713"/>
              <a:gd name="connsiteY5" fmla="*/ 766491 h 874067"/>
              <a:gd name="connsiteX6" fmla="*/ 2334409 w 2409713"/>
              <a:gd name="connsiteY6" fmla="*/ 852552 h 874067"/>
              <a:gd name="connsiteX7" fmla="*/ 2334409 w 2409713"/>
              <a:gd name="connsiteY7" fmla="*/ 820279 h 874067"/>
              <a:gd name="connsiteX8" fmla="*/ 2409713 w 2409713"/>
              <a:gd name="connsiteY8" fmla="*/ 874067 h 874067"/>
              <a:gd name="connsiteX0" fmla="*/ 0 w 2378756"/>
              <a:gd name="connsiteY0" fmla="*/ 13456 h 853740"/>
              <a:gd name="connsiteX1" fmla="*/ 225910 w 2378756"/>
              <a:gd name="connsiteY1" fmla="*/ 13456 h 853740"/>
              <a:gd name="connsiteX2" fmla="*/ 527124 w 2378756"/>
              <a:gd name="connsiteY2" fmla="*/ 153305 h 853740"/>
              <a:gd name="connsiteX3" fmla="*/ 839096 w 2378756"/>
              <a:gd name="connsiteY3" fmla="*/ 400731 h 853740"/>
              <a:gd name="connsiteX4" fmla="*/ 1215614 w 2378756"/>
              <a:gd name="connsiteY4" fmla="*/ 626642 h 853740"/>
              <a:gd name="connsiteX5" fmla="*/ 1699708 w 2378756"/>
              <a:gd name="connsiteY5" fmla="*/ 766491 h 853740"/>
              <a:gd name="connsiteX6" fmla="*/ 2334409 w 2378756"/>
              <a:gd name="connsiteY6" fmla="*/ 852552 h 853740"/>
              <a:gd name="connsiteX7" fmla="*/ 2334409 w 2378756"/>
              <a:gd name="connsiteY7" fmla="*/ 820279 h 853740"/>
              <a:gd name="connsiteX0" fmla="*/ 0 w 2334409"/>
              <a:gd name="connsiteY0" fmla="*/ 13456 h 852552"/>
              <a:gd name="connsiteX1" fmla="*/ 225910 w 2334409"/>
              <a:gd name="connsiteY1" fmla="*/ 13456 h 852552"/>
              <a:gd name="connsiteX2" fmla="*/ 527124 w 2334409"/>
              <a:gd name="connsiteY2" fmla="*/ 153305 h 852552"/>
              <a:gd name="connsiteX3" fmla="*/ 839096 w 2334409"/>
              <a:gd name="connsiteY3" fmla="*/ 400731 h 852552"/>
              <a:gd name="connsiteX4" fmla="*/ 1215614 w 2334409"/>
              <a:gd name="connsiteY4" fmla="*/ 626642 h 852552"/>
              <a:gd name="connsiteX5" fmla="*/ 1699708 w 2334409"/>
              <a:gd name="connsiteY5" fmla="*/ 766491 h 852552"/>
              <a:gd name="connsiteX6" fmla="*/ 2334409 w 2334409"/>
              <a:gd name="connsiteY6" fmla="*/ 852552 h 852552"/>
              <a:gd name="connsiteX0" fmla="*/ 0 w 2334409"/>
              <a:gd name="connsiteY0" fmla="*/ 3357 h 842453"/>
              <a:gd name="connsiteX1" fmla="*/ 279698 w 2334409"/>
              <a:gd name="connsiteY1" fmla="*/ 35630 h 842453"/>
              <a:gd name="connsiteX2" fmla="*/ 527124 w 2334409"/>
              <a:gd name="connsiteY2" fmla="*/ 143206 h 842453"/>
              <a:gd name="connsiteX3" fmla="*/ 839096 w 2334409"/>
              <a:gd name="connsiteY3" fmla="*/ 390632 h 842453"/>
              <a:gd name="connsiteX4" fmla="*/ 1215614 w 2334409"/>
              <a:gd name="connsiteY4" fmla="*/ 616543 h 842453"/>
              <a:gd name="connsiteX5" fmla="*/ 1699708 w 2334409"/>
              <a:gd name="connsiteY5" fmla="*/ 756392 h 842453"/>
              <a:gd name="connsiteX6" fmla="*/ 2334409 w 2334409"/>
              <a:gd name="connsiteY6" fmla="*/ 842453 h 8424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34409" h="842453">
                <a:moveTo>
                  <a:pt x="0" y="3357"/>
                </a:moveTo>
                <a:cubicBezTo>
                  <a:pt x="69028" y="-8297"/>
                  <a:pt x="191844" y="12322"/>
                  <a:pt x="279698" y="35630"/>
                </a:cubicBezTo>
                <a:cubicBezTo>
                  <a:pt x="367552" y="58938"/>
                  <a:pt x="433891" y="84039"/>
                  <a:pt x="527124" y="143206"/>
                </a:cubicBezTo>
                <a:cubicBezTo>
                  <a:pt x="620357" y="202373"/>
                  <a:pt x="724348" y="311743"/>
                  <a:pt x="839096" y="390632"/>
                </a:cubicBezTo>
                <a:cubicBezTo>
                  <a:pt x="953844" y="469521"/>
                  <a:pt x="1072179" y="555583"/>
                  <a:pt x="1215614" y="616543"/>
                </a:cubicBezTo>
                <a:cubicBezTo>
                  <a:pt x="1359049" y="677503"/>
                  <a:pt x="1513242" y="718740"/>
                  <a:pt x="1699708" y="756392"/>
                </a:cubicBezTo>
                <a:cubicBezTo>
                  <a:pt x="1886174" y="794044"/>
                  <a:pt x="2228626" y="833488"/>
                  <a:pt x="2334409" y="842453"/>
                </a:cubicBezTo>
              </a:path>
            </a:pathLst>
          </a:custGeom>
          <a:noFill/>
          <a:ln w="28575" cap="flat" cmpd="sng" algn="ctr">
            <a:solidFill>
              <a:srgbClr val="0066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ZoneTexte 37"/>
              <p:cNvSpPr txBox="1"/>
              <p:nvPr/>
            </p:nvSpPr>
            <p:spPr>
              <a:xfrm>
                <a:off x="6038807" y="4133085"/>
                <a:ext cx="549701" cy="2769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̃"/>
                          <m:ctrlPr>
                            <a:rPr lang="fr-FR" sz="1800" b="0" i="1" smtClean="0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fr-FR" sz="1800" b="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</m:acc>
                      <m:d>
                        <m:dPr>
                          <m:ctrlPr>
                            <a:rPr lang="fr-FR" sz="1800" b="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800" b="0" i="1">
                              <a:solidFill>
                                <a:srgbClr val="0066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</m:oMath>
                  </m:oMathPara>
                </a14:m>
                <a:endParaRPr lang="fr-FR" sz="1800" b="0" dirty="0">
                  <a:solidFill>
                    <a:srgbClr val="006600"/>
                  </a:solidFill>
                </a:endParaRPr>
              </a:p>
            </p:txBody>
          </p:sp>
        </mc:Choice>
        <mc:Fallback xmlns="">
          <p:sp>
            <p:nvSpPr>
              <p:cNvPr id="38" name="ZoneTexte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38807" y="4133085"/>
                <a:ext cx="549701" cy="276999"/>
              </a:xfrm>
              <a:prstGeom prst="rect">
                <a:avLst/>
              </a:prstGeom>
              <a:blipFill rotWithShape="0">
                <a:blip r:embed="rId11"/>
                <a:stretch>
                  <a:fillRect l="-5556" t="-4444" r="-18889" b="-444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Text Box 36"/>
          <p:cNvSpPr txBox="1">
            <a:spLocks noChangeArrowheads="1"/>
          </p:cNvSpPr>
          <p:nvPr/>
        </p:nvSpPr>
        <p:spPr bwMode="auto">
          <a:xfrm>
            <a:off x="6731518" y="4114894"/>
            <a:ext cx="214427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fr-FR" altLang="fr-FR" sz="1800" dirty="0" smtClean="0">
                <a:solidFill>
                  <a:srgbClr val="006600"/>
                </a:solidFill>
                <a:latin typeface="Calibri" panose="020F0502020204030204" pitchFamily="34" charset="0"/>
              </a:rPr>
              <a:t>a&lt;b: Filtre passe-bas</a:t>
            </a:r>
            <a:endParaRPr lang="fr-FR" altLang="fr-FR" sz="1800" dirty="0">
              <a:solidFill>
                <a:srgbClr val="006600"/>
              </a:solidFill>
              <a:latin typeface="Calibri" panose="020F0502020204030204" pitchFamily="34" charset="0"/>
            </a:endParaRPr>
          </a:p>
        </p:txBody>
      </p:sp>
      <p:sp>
        <p:nvSpPr>
          <p:cNvPr id="51" name="Text Box 36"/>
          <p:cNvSpPr txBox="1">
            <a:spLocks noChangeArrowheads="1"/>
          </p:cNvSpPr>
          <p:nvPr/>
        </p:nvSpPr>
        <p:spPr bwMode="auto">
          <a:xfrm>
            <a:off x="212318" y="4230100"/>
            <a:ext cx="138227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dirty="0">
                <a:latin typeface="Calibri" panose="020F0502020204030204" pitchFamily="34" charset="0"/>
              </a:rPr>
              <a:t> </a:t>
            </a:r>
            <a:r>
              <a:rPr lang="fr-FR" altLang="fr-FR" sz="2400" dirty="0" smtClean="0">
                <a:latin typeface="Calibri" panose="020F0502020204030204" pitchFamily="34" charset="0"/>
              </a:rPr>
              <a:t>Cas 2: </a:t>
            </a:r>
            <a:endParaRPr lang="fr-FR" altLang="fr-FR" sz="2400" dirty="0">
              <a:latin typeface="Calibri" panose="020F050202020403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2" name="ZoneTexte 51"/>
              <p:cNvSpPr txBox="1"/>
              <p:nvPr/>
            </p:nvSpPr>
            <p:spPr>
              <a:xfrm>
                <a:off x="1532072" y="4269587"/>
                <a:ext cx="691408" cy="307777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fr-FR" sz="2000" b="0" i="1" smtClean="0">
                          <a:latin typeface="Cambria Math" panose="02040503050406030204" pitchFamily="18" charset="0"/>
                        </a:rPr>
                        <m:t>𝑏</m:t>
                      </m:r>
                    </m:oMath>
                  </m:oMathPara>
                </a14:m>
                <a:endParaRPr lang="fr-FR" sz="2000" b="0" dirty="0"/>
              </a:p>
            </p:txBody>
          </p:sp>
        </mc:Choice>
        <mc:Fallback xmlns="">
          <p:sp>
            <p:nvSpPr>
              <p:cNvPr id="52" name="ZoneTexte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2072" y="4269587"/>
                <a:ext cx="691408" cy="307777"/>
              </a:xfrm>
              <a:prstGeom prst="rect">
                <a:avLst/>
              </a:prstGeom>
              <a:blipFill rotWithShape="0">
                <a:blip r:embed="rId12"/>
                <a:stretch>
                  <a:fillRect l="-3509" r="-7018" b="-9804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3" name="ZoneTexte 52"/>
              <p:cNvSpPr txBox="1"/>
              <p:nvPr/>
            </p:nvSpPr>
            <p:spPr>
              <a:xfrm>
                <a:off x="2419652" y="4113530"/>
                <a:ext cx="1414939" cy="52039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⟹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 −</m:t>
                      </m:r>
                      <m:f>
                        <m:fPr>
                          <m:ctrlPr>
                            <a:rPr lang="fr-FR" sz="18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8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r>
                        <a:rPr lang="fr-FR" sz="1800" b="0" i="1" smtClean="0">
                          <a:latin typeface="Cambria Math" panose="02040503050406030204" pitchFamily="18" charset="0"/>
                        </a:rPr>
                        <m:t>&lt;0</m:t>
                      </m:r>
                    </m:oMath>
                  </m:oMathPara>
                </a14:m>
                <a:endParaRPr lang="fr-FR" sz="1800" b="0" dirty="0"/>
              </a:p>
            </p:txBody>
          </p:sp>
        </mc:Choice>
        <mc:Fallback xmlns="">
          <p:sp>
            <p:nvSpPr>
              <p:cNvPr id="53" name="ZoneTexte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9652" y="4113530"/>
                <a:ext cx="1414939" cy="520399"/>
              </a:xfrm>
              <a:prstGeom prst="rect">
                <a:avLst/>
              </a:prstGeom>
              <a:blipFill rotWithShape="0">
                <a:blip r:embed="rId13"/>
                <a:stretch>
                  <a:fillRect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Connecteur droit avec flèche 53"/>
          <p:cNvCxnSpPr/>
          <p:nvPr/>
        </p:nvCxnSpPr>
        <p:spPr bwMode="auto">
          <a:xfrm>
            <a:off x="919021" y="4895949"/>
            <a:ext cx="12700" cy="16501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55" name="Connecteur droit avec flèche 54"/>
          <p:cNvCxnSpPr/>
          <p:nvPr/>
        </p:nvCxnSpPr>
        <p:spPr bwMode="auto">
          <a:xfrm rot="5400000">
            <a:off x="1588240" y="5543649"/>
            <a:ext cx="12700" cy="165012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56" name="Forme libre 55"/>
          <p:cNvSpPr/>
          <p:nvPr/>
        </p:nvSpPr>
        <p:spPr bwMode="auto">
          <a:xfrm>
            <a:off x="916250" y="5000890"/>
            <a:ext cx="576349" cy="1374772"/>
          </a:xfrm>
          <a:custGeom>
            <a:avLst/>
            <a:gdLst>
              <a:gd name="connsiteX0" fmla="*/ 0 w 1002804"/>
              <a:gd name="connsiteY0" fmla="*/ 2891 h 1377262"/>
              <a:gd name="connsiteX1" fmla="*/ 94211 w 1002804"/>
              <a:gd name="connsiteY1" fmla="*/ 36142 h 1377262"/>
              <a:gd name="connsiteX2" fmla="*/ 182880 w 1002804"/>
              <a:gd name="connsiteY2" fmla="*/ 257815 h 1377262"/>
              <a:gd name="connsiteX3" fmla="*/ 254924 w 1002804"/>
              <a:gd name="connsiteY3" fmla="*/ 512738 h 1377262"/>
              <a:gd name="connsiteX4" fmla="*/ 343593 w 1002804"/>
              <a:gd name="connsiteY4" fmla="*/ 762120 h 1377262"/>
              <a:gd name="connsiteX5" fmla="*/ 437804 w 1002804"/>
              <a:gd name="connsiteY5" fmla="*/ 939458 h 1377262"/>
              <a:gd name="connsiteX6" fmla="*/ 581891 w 1002804"/>
              <a:gd name="connsiteY6" fmla="*/ 1122338 h 1377262"/>
              <a:gd name="connsiteX7" fmla="*/ 809106 w 1002804"/>
              <a:gd name="connsiteY7" fmla="*/ 1316302 h 1377262"/>
              <a:gd name="connsiteX8" fmla="*/ 991986 w 1002804"/>
              <a:gd name="connsiteY8" fmla="*/ 1366178 h 1377262"/>
              <a:gd name="connsiteX9" fmla="*/ 980902 w 1002804"/>
              <a:gd name="connsiteY9" fmla="*/ 1377262 h 1377262"/>
              <a:gd name="connsiteX0" fmla="*/ 0 w 1002804"/>
              <a:gd name="connsiteY0" fmla="*/ 2891 h 1377262"/>
              <a:gd name="connsiteX1" fmla="*/ 94211 w 1002804"/>
              <a:gd name="connsiteY1" fmla="*/ 36142 h 1377262"/>
              <a:gd name="connsiteX2" fmla="*/ 182880 w 1002804"/>
              <a:gd name="connsiteY2" fmla="*/ 257815 h 1377262"/>
              <a:gd name="connsiteX3" fmla="*/ 254924 w 1002804"/>
              <a:gd name="connsiteY3" fmla="*/ 512738 h 1377262"/>
              <a:gd name="connsiteX4" fmla="*/ 343593 w 1002804"/>
              <a:gd name="connsiteY4" fmla="*/ 762120 h 1377262"/>
              <a:gd name="connsiteX5" fmla="*/ 437804 w 1002804"/>
              <a:gd name="connsiteY5" fmla="*/ 939458 h 1377262"/>
              <a:gd name="connsiteX6" fmla="*/ 543098 w 1002804"/>
              <a:gd name="connsiteY6" fmla="*/ 1144505 h 1377262"/>
              <a:gd name="connsiteX7" fmla="*/ 809106 w 1002804"/>
              <a:gd name="connsiteY7" fmla="*/ 1316302 h 1377262"/>
              <a:gd name="connsiteX8" fmla="*/ 991986 w 1002804"/>
              <a:gd name="connsiteY8" fmla="*/ 1366178 h 1377262"/>
              <a:gd name="connsiteX9" fmla="*/ 980902 w 1002804"/>
              <a:gd name="connsiteY9" fmla="*/ 1377262 h 1377262"/>
              <a:gd name="connsiteX0" fmla="*/ 0 w 1009266"/>
              <a:gd name="connsiteY0" fmla="*/ 2891 h 1377262"/>
              <a:gd name="connsiteX1" fmla="*/ 94211 w 1009266"/>
              <a:gd name="connsiteY1" fmla="*/ 36142 h 1377262"/>
              <a:gd name="connsiteX2" fmla="*/ 182880 w 1009266"/>
              <a:gd name="connsiteY2" fmla="*/ 257815 h 1377262"/>
              <a:gd name="connsiteX3" fmla="*/ 254924 w 1009266"/>
              <a:gd name="connsiteY3" fmla="*/ 512738 h 1377262"/>
              <a:gd name="connsiteX4" fmla="*/ 343593 w 1009266"/>
              <a:gd name="connsiteY4" fmla="*/ 762120 h 1377262"/>
              <a:gd name="connsiteX5" fmla="*/ 437804 w 1009266"/>
              <a:gd name="connsiteY5" fmla="*/ 939458 h 1377262"/>
              <a:gd name="connsiteX6" fmla="*/ 543098 w 1009266"/>
              <a:gd name="connsiteY6" fmla="*/ 1144505 h 1377262"/>
              <a:gd name="connsiteX7" fmla="*/ 720437 w 1009266"/>
              <a:gd name="connsiteY7" fmla="*/ 1327386 h 1377262"/>
              <a:gd name="connsiteX8" fmla="*/ 991986 w 1009266"/>
              <a:gd name="connsiteY8" fmla="*/ 1366178 h 1377262"/>
              <a:gd name="connsiteX9" fmla="*/ 980902 w 1009266"/>
              <a:gd name="connsiteY9" fmla="*/ 1377262 h 1377262"/>
              <a:gd name="connsiteX0" fmla="*/ 0 w 1009266"/>
              <a:gd name="connsiteY0" fmla="*/ 2891 h 1377262"/>
              <a:gd name="connsiteX1" fmla="*/ 94211 w 1009266"/>
              <a:gd name="connsiteY1" fmla="*/ 36142 h 1377262"/>
              <a:gd name="connsiteX2" fmla="*/ 182880 w 1009266"/>
              <a:gd name="connsiteY2" fmla="*/ 257815 h 1377262"/>
              <a:gd name="connsiteX3" fmla="*/ 254924 w 1009266"/>
              <a:gd name="connsiteY3" fmla="*/ 512738 h 1377262"/>
              <a:gd name="connsiteX4" fmla="*/ 360218 w 1009266"/>
              <a:gd name="connsiteY4" fmla="*/ 762120 h 1377262"/>
              <a:gd name="connsiteX5" fmla="*/ 437804 w 1009266"/>
              <a:gd name="connsiteY5" fmla="*/ 939458 h 1377262"/>
              <a:gd name="connsiteX6" fmla="*/ 543098 w 1009266"/>
              <a:gd name="connsiteY6" fmla="*/ 1144505 h 1377262"/>
              <a:gd name="connsiteX7" fmla="*/ 720437 w 1009266"/>
              <a:gd name="connsiteY7" fmla="*/ 1327386 h 1377262"/>
              <a:gd name="connsiteX8" fmla="*/ 991986 w 1009266"/>
              <a:gd name="connsiteY8" fmla="*/ 1366178 h 1377262"/>
              <a:gd name="connsiteX9" fmla="*/ 980902 w 1009266"/>
              <a:gd name="connsiteY9" fmla="*/ 1377262 h 1377262"/>
              <a:gd name="connsiteX0" fmla="*/ 0 w 1009266"/>
              <a:gd name="connsiteY0" fmla="*/ 2539 h 1376910"/>
              <a:gd name="connsiteX1" fmla="*/ 94211 w 1009266"/>
              <a:gd name="connsiteY1" fmla="*/ 35790 h 1376910"/>
              <a:gd name="connsiteX2" fmla="*/ 205047 w 1009266"/>
              <a:gd name="connsiteY2" fmla="*/ 246379 h 1376910"/>
              <a:gd name="connsiteX3" fmla="*/ 254924 w 1009266"/>
              <a:gd name="connsiteY3" fmla="*/ 512386 h 1376910"/>
              <a:gd name="connsiteX4" fmla="*/ 360218 w 1009266"/>
              <a:gd name="connsiteY4" fmla="*/ 761768 h 1376910"/>
              <a:gd name="connsiteX5" fmla="*/ 437804 w 1009266"/>
              <a:gd name="connsiteY5" fmla="*/ 939106 h 1376910"/>
              <a:gd name="connsiteX6" fmla="*/ 543098 w 1009266"/>
              <a:gd name="connsiteY6" fmla="*/ 1144153 h 1376910"/>
              <a:gd name="connsiteX7" fmla="*/ 720437 w 1009266"/>
              <a:gd name="connsiteY7" fmla="*/ 1327034 h 1376910"/>
              <a:gd name="connsiteX8" fmla="*/ 991986 w 1009266"/>
              <a:gd name="connsiteY8" fmla="*/ 1365826 h 1376910"/>
              <a:gd name="connsiteX9" fmla="*/ 980902 w 1009266"/>
              <a:gd name="connsiteY9" fmla="*/ 1376910 h 1376910"/>
              <a:gd name="connsiteX0" fmla="*/ 0 w 1009266"/>
              <a:gd name="connsiteY0" fmla="*/ 401 h 1374772"/>
              <a:gd name="connsiteX1" fmla="*/ 121920 w 1009266"/>
              <a:gd name="connsiteY1" fmla="*/ 72445 h 1374772"/>
              <a:gd name="connsiteX2" fmla="*/ 205047 w 1009266"/>
              <a:gd name="connsiteY2" fmla="*/ 244241 h 1374772"/>
              <a:gd name="connsiteX3" fmla="*/ 254924 w 1009266"/>
              <a:gd name="connsiteY3" fmla="*/ 510248 h 1374772"/>
              <a:gd name="connsiteX4" fmla="*/ 360218 w 1009266"/>
              <a:gd name="connsiteY4" fmla="*/ 759630 h 1374772"/>
              <a:gd name="connsiteX5" fmla="*/ 437804 w 1009266"/>
              <a:gd name="connsiteY5" fmla="*/ 936968 h 1374772"/>
              <a:gd name="connsiteX6" fmla="*/ 543098 w 1009266"/>
              <a:gd name="connsiteY6" fmla="*/ 1142015 h 1374772"/>
              <a:gd name="connsiteX7" fmla="*/ 720437 w 1009266"/>
              <a:gd name="connsiteY7" fmla="*/ 1324896 h 1374772"/>
              <a:gd name="connsiteX8" fmla="*/ 991986 w 1009266"/>
              <a:gd name="connsiteY8" fmla="*/ 1363688 h 1374772"/>
              <a:gd name="connsiteX9" fmla="*/ 980902 w 1009266"/>
              <a:gd name="connsiteY9" fmla="*/ 1374772 h 1374772"/>
              <a:gd name="connsiteX0" fmla="*/ 0 w 1009266"/>
              <a:gd name="connsiteY0" fmla="*/ 401 h 1374772"/>
              <a:gd name="connsiteX1" fmla="*/ 121920 w 1009266"/>
              <a:gd name="connsiteY1" fmla="*/ 72445 h 1374772"/>
              <a:gd name="connsiteX2" fmla="*/ 205047 w 1009266"/>
              <a:gd name="connsiteY2" fmla="*/ 244241 h 1374772"/>
              <a:gd name="connsiteX3" fmla="*/ 282633 w 1009266"/>
              <a:gd name="connsiteY3" fmla="*/ 504706 h 1374772"/>
              <a:gd name="connsiteX4" fmla="*/ 360218 w 1009266"/>
              <a:gd name="connsiteY4" fmla="*/ 759630 h 1374772"/>
              <a:gd name="connsiteX5" fmla="*/ 437804 w 1009266"/>
              <a:gd name="connsiteY5" fmla="*/ 936968 h 1374772"/>
              <a:gd name="connsiteX6" fmla="*/ 543098 w 1009266"/>
              <a:gd name="connsiteY6" fmla="*/ 1142015 h 1374772"/>
              <a:gd name="connsiteX7" fmla="*/ 720437 w 1009266"/>
              <a:gd name="connsiteY7" fmla="*/ 1324896 h 1374772"/>
              <a:gd name="connsiteX8" fmla="*/ 991986 w 1009266"/>
              <a:gd name="connsiteY8" fmla="*/ 1363688 h 1374772"/>
              <a:gd name="connsiteX9" fmla="*/ 980902 w 1009266"/>
              <a:gd name="connsiteY9" fmla="*/ 1374772 h 13747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009266" h="1374772">
                <a:moveTo>
                  <a:pt x="0" y="401"/>
                </a:moveTo>
                <a:cubicBezTo>
                  <a:pt x="31865" y="-4217"/>
                  <a:pt x="87746" y="31805"/>
                  <a:pt x="121920" y="72445"/>
                </a:cubicBezTo>
                <a:cubicBezTo>
                  <a:pt x="156094" y="113085"/>
                  <a:pt x="178262" y="172198"/>
                  <a:pt x="205047" y="244241"/>
                </a:cubicBezTo>
                <a:cubicBezTo>
                  <a:pt x="231833" y="316285"/>
                  <a:pt x="256771" y="418808"/>
                  <a:pt x="282633" y="504706"/>
                </a:cubicBezTo>
                <a:cubicBezTo>
                  <a:pt x="308495" y="590604"/>
                  <a:pt x="334356" y="687586"/>
                  <a:pt x="360218" y="759630"/>
                </a:cubicBezTo>
                <a:cubicBezTo>
                  <a:pt x="386080" y="831674"/>
                  <a:pt x="407324" y="873237"/>
                  <a:pt x="437804" y="936968"/>
                </a:cubicBezTo>
                <a:cubicBezTo>
                  <a:pt x="468284" y="1000699"/>
                  <a:pt x="495993" y="1077360"/>
                  <a:pt x="543098" y="1142015"/>
                </a:cubicBezTo>
                <a:cubicBezTo>
                  <a:pt x="590204" y="1206670"/>
                  <a:pt x="645622" y="1287951"/>
                  <a:pt x="720437" y="1324896"/>
                </a:cubicBezTo>
                <a:cubicBezTo>
                  <a:pt x="795252" y="1361841"/>
                  <a:pt x="948575" y="1355375"/>
                  <a:pt x="991986" y="1363688"/>
                </a:cubicBezTo>
                <a:cubicBezTo>
                  <a:pt x="1035397" y="1372001"/>
                  <a:pt x="983673" y="1373848"/>
                  <a:pt x="980902" y="1374772"/>
                </a:cubicBezTo>
              </a:path>
            </a:pathLst>
          </a:custGeom>
          <a:noFill/>
          <a:ln w="1905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mbol" pitchFamily="18" charset="2"/>
            </a:endParaRPr>
          </a:p>
        </p:txBody>
      </p:sp>
      <p:sp>
        <p:nvSpPr>
          <p:cNvPr id="57" name="Forme libre 56"/>
          <p:cNvSpPr/>
          <p:nvPr/>
        </p:nvSpPr>
        <p:spPr bwMode="auto">
          <a:xfrm>
            <a:off x="916921" y="5572096"/>
            <a:ext cx="1434038" cy="667017"/>
          </a:xfrm>
          <a:custGeom>
            <a:avLst/>
            <a:gdLst>
              <a:gd name="connsiteX0" fmla="*/ 0 w 1002804"/>
              <a:gd name="connsiteY0" fmla="*/ 2891 h 1377262"/>
              <a:gd name="connsiteX1" fmla="*/ 94211 w 1002804"/>
              <a:gd name="connsiteY1" fmla="*/ 36142 h 1377262"/>
              <a:gd name="connsiteX2" fmla="*/ 182880 w 1002804"/>
              <a:gd name="connsiteY2" fmla="*/ 257815 h 1377262"/>
              <a:gd name="connsiteX3" fmla="*/ 254924 w 1002804"/>
              <a:gd name="connsiteY3" fmla="*/ 512738 h 1377262"/>
              <a:gd name="connsiteX4" fmla="*/ 343593 w 1002804"/>
              <a:gd name="connsiteY4" fmla="*/ 762120 h 1377262"/>
              <a:gd name="connsiteX5" fmla="*/ 437804 w 1002804"/>
              <a:gd name="connsiteY5" fmla="*/ 939458 h 1377262"/>
              <a:gd name="connsiteX6" fmla="*/ 581891 w 1002804"/>
              <a:gd name="connsiteY6" fmla="*/ 1122338 h 1377262"/>
              <a:gd name="connsiteX7" fmla="*/ 809106 w 1002804"/>
              <a:gd name="connsiteY7" fmla="*/ 1316302 h 1377262"/>
              <a:gd name="connsiteX8" fmla="*/ 991986 w 1002804"/>
              <a:gd name="connsiteY8" fmla="*/ 1366178 h 1377262"/>
              <a:gd name="connsiteX9" fmla="*/ 980902 w 1002804"/>
              <a:gd name="connsiteY9" fmla="*/ 1377262 h 1377262"/>
              <a:gd name="connsiteX0" fmla="*/ 0 w 1002804"/>
              <a:gd name="connsiteY0" fmla="*/ 2891 h 1377262"/>
              <a:gd name="connsiteX1" fmla="*/ 94211 w 1002804"/>
              <a:gd name="connsiteY1" fmla="*/ 36142 h 1377262"/>
              <a:gd name="connsiteX2" fmla="*/ 182880 w 1002804"/>
              <a:gd name="connsiteY2" fmla="*/ 257815 h 1377262"/>
              <a:gd name="connsiteX3" fmla="*/ 254924 w 1002804"/>
              <a:gd name="connsiteY3" fmla="*/ 512738 h 1377262"/>
              <a:gd name="connsiteX4" fmla="*/ 343593 w 1002804"/>
              <a:gd name="connsiteY4" fmla="*/ 762120 h 1377262"/>
              <a:gd name="connsiteX5" fmla="*/ 437804 w 1002804"/>
              <a:gd name="connsiteY5" fmla="*/ 939458 h 1377262"/>
              <a:gd name="connsiteX6" fmla="*/ 543098 w 1002804"/>
              <a:gd name="connsiteY6" fmla="*/ 1144505 h 1377262"/>
              <a:gd name="connsiteX7" fmla="*/ 809106 w 1002804"/>
              <a:gd name="connsiteY7" fmla="*/ 1316302 h 1377262"/>
              <a:gd name="connsiteX8" fmla="*/ 991986 w 1002804"/>
              <a:gd name="connsiteY8" fmla="*/ 1366178 h 1377262"/>
              <a:gd name="connsiteX9" fmla="*/ 980902 w 1002804"/>
              <a:gd name="connsiteY9" fmla="*/ 1377262 h 1377262"/>
              <a:gd name="connsiteX0" fmla="*/ 0 w 1009266"/>
              <a:gd name="connsiteY0" fmla="*/ 2891 h 1377262"/>
              <a:gd name="connsiteX1" fmla="*/ 94211 w 1009266"/>
              <a:gd name="connsiteY1" fmla="*/ 36142 h 1377262"/>
              <a:gd name="connsiteX2" fmla="*/ 182880 w 1009266"/>
              <a:gd name="connsiteY2" fmla="*/ 257815 h 1377262"/>
              <a:gd name="connsiteX3" fmla="*/ 254924 w 1009266"/>
              <a:gd name="connsiteY3" fmla="*/ 512738 h 1377262"/>
              <a:gd name="connsiteX4" fmla="*/ 343593 w 1009266"/>
              <a:gd name="connsiteY4" fmla="*/ 762120 h 1377262"/>
              <a:gd name="connsiteX5" fmla="*/ 437804 w 1009266"/>
              <a:gd name="connsiteY5" fmla="*/ 939458 h 1377262"/>
              <a:gd name="connsiteX6" fmla="*/ 543098 w 1009266"/>
              <a:gd name="connsiteY6" fmla="*/ 1144505 h 1377262"/>
              <a:gd name="connsiteX7" fmla="*/ 720437 w 1009266"/>
              <a:gd name="connsiteY7" fmla="*/ 1327386 h 1377262"/>
              <a:gd name="connsiteX8" fmla="*/ 991986 w 1009266"/>
              <a:gd name="connsiteY8" fmla="*/ 1366178 h 1377262"/>
              <a:gd name="connsiteX9" fmla="*/ 980902 w 1009266"/>
              <a:gd name="connsiteY9" fmla="*/ 1377262 h 1377262"/>
              <a:gd name="connsiteX0" fmla="*/ 0 w 1009266"/>
              <a:gd name="connsiteY0" fmla="*/ 2891 h 1377262"/>
              <a:gd name="connsiteX1" fmla="*/ 94211 w 1009266"/>
              <a:gd name="connsiteY1" fmla="*/ 36142 h 1377262"/>
              <a:gd name="connsiteX2" fmla="*/ 182880 w 1009266"/>
              <a:gd name="connsiteY2" fmla="*/ 257815 h 1377262"/>
              <a:gd name="connsiteX3" fmla="*/ 254924 w 1009266"/>
              <a:gd name="connsiteY3" fmla="*/ 512738 h 1377262"/>
              <a:gd name="connsiteX4" fmla="*/ 360218 w 1009266"/>
              <a:gd name="connsiteY4" fmla="*/ 762120 h 1377262"/>
              <a:gd name="connsiteX5" fmla="*/ 437804 w 1009266"/>
              <a:gd name="connsiteY5" fmla="*/ 939458 h 1377262"/>
              <a:gd name="connsiteX6" fmla="*/ 543098 w 1009266"/>
              <a:gd name="connsiteY6" fmla="*/ 1144505 h 1377262"/>
              <a:gd name="connsiteX7" fmla="*/ 720437 w 1009266"/>
              <a:gd name="connsiteY7" fmla="*/ 1327386 h 1377262"/>
              <a:gd name="connsiteX8" fmla="*/ 991986 w 1009266"/>
              <a:gd name="connsiteY8" fmla="*/ 1366178 h 1377262"/>
              <a:gd name="connsiteX9" fmla="*/ 980902 w 1009266"/>
              <a:gd name="connsiteY9" fmla="*/ 1377262 h 1377262"/>
              <a:gd name="connsiteX0" fmla="*/ 0 w 1009266"/>
              <a:gd name="connsiteY0" fmla="*/ 2539 h 1376910"/>
              <a:gd name="connsiteX1" fmla="*/ 94211 w 1009266"/>
              <a:gd name="connsiteY1" fmla="*/ 35790 h 1376910"/>
              <a:gd name="connsiteX2" fmla="*/ 205047 w 1009266"/>
              <a:gd name="connsiteY2" fmla="*/ 246379 h 1376910"/>
              <a:gd name="connsiteX3" fmla="*/ 254924 w 1009266"/>
              <a:gd name="connsiteY3" fmla="*/ 512386 h 1376910"/>
              <a:gd name="connsiteX4" fmla="*/ 360218 w 1009266"/>
              <a:gd name="connsiteY4" fmla="*/ 761768 h 1376910"/>
              <a:gd name="connsiteX5" fmla="*/ 437804 w 1009266"/>
              <a:gd name="connsiteY5" fmla="*/ 939106 h 1376910"/>
              <a:gd name="connsiteX6" fmla="*/ 543098 w 1009266"/>
              <a:gd name="connsiteY6" fmla="*/ 1144153 h 1376910"/>
              <a:gd name="connsiteX7" fmla="*/ 720437 w 1009266"/>
              <a:gd name="connsiteY7" fmla="*/ 1327034 h 1376910"/>
              <a:gd name="connsiteX8" fmla="*/ 991986 w 1009266"/>
              <a:gd name="connsiteY8" fmla="*/ 1365826 h 1376910"/>
              <a:gd name="connsiteX9" fmla="*/ 980902 w 1009266"/>
              <a:gd name="connsiteY9" fmla="*/ 1376910 h 1376910"/>
              <a:gd name="connsiteX0" fmla="*/ 0 w 1009266"/>
              <a:gd name="connsiteY0" fmla="*/ 401 h 1374772"/>
              <a:gd name="connsiteX1" fmla="*/ 121920 w 1009266"/>
              <a:gd name="connsiteY1" fmla="*/ 72445 h 1374772"/>
              <a:gd name="connsiteX2" fmla="*/ 205047 w 1009266"/>
              <a:gd name="connsiteY2" fmla="*/ 244241 h 1374772"/>
              <a:gd name="connsiteX3" fmla="*/ 254924 w 1009266"/>
              <a:gd name="connsiteY3" fmla="*/ 510248 h 1374772"/>
              <a:gd name="connsiteX4" fmla="*/ 360218 w 1009266"/>
              <a:gd name="connsiteY4" fmla="*/ 759630 h 1374772"/>
              <a:gd name="connsiteX5" fmla="*/ 437804 w 1009266"/>
              <a:gd name="connsiteY5" fmla="*/ 936968 h 1374772"/>
              <a:gd name="connsiteX6" fmla="*/ 543098 w 1009266"/>
              <a:gd name="connsiteY6" fmla="*/ 1142015 h 1374772"/>
              <a:gd name="connsiteX7" fmla="*/ 720437 w 1009266"/>
              <a:gd name="connsiteY7" fmla="*/ 1324896 h 1374772"/>
              <a:gd name="connsiteX8" fmla="*/ 991986 w 1009266"/>
              <a:gd name="connsiteY8" fmla="*/ 1363688 h 1374772"/>
              <a:gd name="connsiteX9" fmla="*/ 980902 w 1009266"/>
              <a:gd name="connsiteY9" fmla="*/ 1374772 h 1374772"/>
              <a:gd name="connsiteX0" fmla="*/ 0 w 1009266"/>
              <a:gd name="connsiteY0" fmla="*/ 401 h 1374772"/>
              <a:gd name="connsiteX1" fmla="*/ 121920 w 1009266"/>
              <a:gd name="connsiteY1" fmla="*/ 72445 h 1374772"/>
              <a:gd name="connsiteX2" fmla="*/ 205047 w 1009266"/>
              <a:gd name="connsiteY2" fmla="*/ 244241 h 1374772"/>
              <a:gd name="connsiteX3" fmla="*/ 282633 w 1009266"/>
              <a:gd name="connsiteY3" fmla="*/ 504706 h 1374772"/>
              <a:gd name="connsiteX4" fmla="*/ 360218 w 1009266"/>
              <a:gd name="connsiteY4" fmla="*/ 759630 h 1374772"/>
              <a:gd name="connsiteX5" fmla="*/ 437804 w 1009266"/>
              <a:gd name="connsiteY5" fmla="*/ 936968 h 1374772"/>
              <a:gd name="connsiteX6" fmla="*/ 543098 w 1009266"/>
              <a:gd name="connsiteY6" fmla="*/ 1142015 h 1374772"/>
              <a:gd name="connsiteX7" fmla="*/ 720437 w 1009266"/>
              <a:gd name="connsiteY7" fmla="*/ 1324896 h 1374772"/>
              <a:gd name="connsiteX8" fmla="*/ 991986 w 1009266"/>
              <a:gd name="connsiteY8" fmla="*/ 1363688 h 1374772"/>
              <a:gd name="connsiteX9" fmla="*/ 980902 w 1009266"/>
              <a:gd name="connsiteY9" fmla="*/ 1374772 h 1374772"/>
              <a:gd name="connsiteX0" fmla="*/ 0 w 980902"/>
              <a:gd name="connsiteY0" fmla="*/ 401 h 1374772"/>
              <a:gd name="connsiteX1" fmla="*/ 121920 w 980902"/>
              <a:gd name="connsiteY1" fmla="*/ 72445 h 1374772"/>
              <a:gd name="connsiteX2" fmla="*/ 205047 w 980902"/>
              <a:gd name="connsiteY2" fmla="*/ 244241 h 1374772"/>
              <a:gd name="connsiteX3" fmla="*/ 282633 w 980902"/>
              <a:gd name="connsiteY3" fmla="*/ 504706 h 1374772"/>
              <a:gd name="connsiteX4" fmla="*/ 360218 w 980902"/>
              <a:gd name="connsiteY4" fmla="*/ 759630 h 1374772"/>
              <a:gd name="connsiteX5" fmla="*/ 437804 w 980902"/>
              <a:gd name="connsiteY5" fmla="*/ 936968 h 1374772"/>
              <a:gd name="connsiteX6" fmla="*/ 543098 w 980902"/>
              <a:gd name="connsiteY6" fmla="*/ 1142015 h 1374772"/>
              <a:gd name="connsiteX7" fmla="*/ 720437 w 980902"/>
              <a:gd name="connsiteY7" fmla="*/ 1324896 h 1374772"/>
              <a:gd name="connsiteX8" fmla="*/ 980902 w 980902"/>
              <a:gd name="connsiteY8" fmla="*/ 1374772 h 1374772"/>
              <a:gd name="connsiteX0" fmla="*/ 0 w 720437"/>
              <a:gd name="connsiteY0" fmla="*/ 401 h 1324896"/>
              <a:gd name="connsiteX1" fmla="*/ 121920 w 720437"/>
              <a:gd name="connsiteY1" fmla="*/ 72445 h 1324896"/>
              <a:gd name="connsiteX2" fmla="*/ 205047 w 720437"/>
              <a:gd name="connsiteY2" fmla="*/ 244241 h 1324896"/>
              <a:gd name="connsiteX3" fmla="*/ 282633 w 720437"/>
              <a:gd name="connsiteY3" fmla="*/ 504706 h 1324896"/>
              <a:gd name="connsiteX4" fmla="*/ 360218 w 720437"/>
              <a:gd name="connsiteY4" fmla="*/ 759630 h 1324896"/>
              <a:gd name="connsiteX5" fmla="*/ 437804 w 720437"/>
              <a:gd name="connsiteY5" fmla="*/ 936968 h 1324896"/>
              <a:gd name="connsiteX6" fmla="*/ 543098 w 720437"/>
              <a:gd name="connsiteY6" fmla="*/ 1142015 h 1324896"/>
              <a:gd name="connsiteX7" fmla="*/ 720437 w 720437"/>
              <a:gd name="connsiteY7" fmla="*/ 1324896 h 1324896"/>
              <a:gd name="connsiteX0" fmla="*/ 0 w 543098"/>
              <a:gd name="connsiteY0" fmla="*/ 401 h 1142016"/>
              <a:gd name="connsiteX1" fmla="*/ 121920 w 543098"/>
              <a:gd name="connsiteY1" fmla="*/ 72445 h 1142016"/>
              <a:gd name="connsiteX2" fmla="*/ 205047 w 543098"/>
              <a:gd name="connsiteY2" fmla="*/ 244241 h 1142016"/>
              <a:gd name="connsiteX3" fmla="*/ 282633 w 543098"/>
              <a:gd name="connsiteY3" fmla="*/ 504706 h 1142016"/>
              <a:gd name="connsiteX4" fmla="*/ 360218 w 543098"/>
              <a:gd name="connsiteY4" fmla="*/ 759630 h 1142016"/>
              <a:gd name="connsiteX5" fmla="*/ 437804 w 543098"/>
              <a:gd name="connsiteY5" fmla="*/ 936968 h 1142016"/>
              <a:gd name="connsiteX6" fmla="*/ 543098 w 543098"/>
              <a:gd name="connsiteY6" fmla="*/ 1142015 h 11420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3098" h="1142016">
                <a:moveTo>
                  <a:pt x="0" y="401"/>
                </a:moveTo>
                <a:cubicBezTo>
                  <a:pt x="31865" y="-4217"/>
                  <a:pt x="87746" y="31805"/>
                  <a:pt x="121920" y="72445"/>
                </a:cubicBezTo>
                <a:cubicBezTo>
                  <a:pt x="156094" y="113085"/>
                  <a:pt x="178262" y="172198"/>
                  <a:pt x="205047" y="244241"/>
                </a:cubicBezTo>
                <a:cubicBezTo>
                  <a:pt x="231833" y="316285"/>
                  <a:pt x="256771" y="418808"/>
                  <a:pt x="282633" y="504706"/>
                </a:cubicBezTo>
                <a:cubicBezTo>
                  <a:pt x="308495" y="590604"/>
                  <a:pt x="334356" y="687586"/>
                  <a:pt x="360218" y="759630"/>
                </a:cubicBezTo>
                <a:cubicBezTo>
                  <a:pt x="386080" y="831674"/>
                  <a:pt x="407324" y="873237"/>
                  <a:pt x="437804" y="936968"/>
                </a:cubicBezTo>
                <a:cubicBezTo>
                  <a:pt x="468284" y="1000699"/>
                  <a:pt x="495993" y="1077360"/>
                  <a:pt x="543098" y="1142015"/>
                </a:cubicBezTo>
              </a:path>
            </a:pathLst>
          </a:custGeom>
          <a:noFill/>
          <a:ln w="19050" cap="flat" cmpd="sng" algn="ctr">
            <a:solidFill>
              <a:srgbClr val="0000CC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Symbol" pitchFamily="18" charset="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ZoneTexte 57"/>
              <p:cNvSpPr txBox="1"/>
              <p:nvPr/>
            </p:nvSpPr>
            <p:spPr>
              <a:xfrm>
                <a:off x="1142223" y="4836033"/>
                <a:ext cx="628890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600" b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fr-FR" sz="1600" b="0" i="0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bb</m:t>
                          </m:r>
                        </m:sub>
                      </m:sSub>
                      <m:d>
                        <m:dPr>
                          <m:ctrlPr>
                            <a:rPr lang="fr-FR" sz="1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</m:oMath>
                  </m:oMathPara>
                </a14:m>
                <a:endParaRPr lang="fr-FR" sz="1600" b="0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58" name="ZoneTexte 5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42223" y="4836033"/>
                <a:ext cx="628890" cy="246221"/>
              </a:xfrm>
              <a:prstGeom prst="rect">
                <a:avLst/>
              </a:prstGeom>
              <a:blipFill rotWithShape="0">
                <a:blip r:embed="rId14"/>
                <a:stretch>
                  <a:fillRect l="-5769" b="-1951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ZoneTexte 58"/>
              <p:cNvSpPr txBox="1"/>
              <p:nvPr/>
            </p:nvSpPr>
            <p:spPr>
              <a:xfrm>
                <a:off x="1594590" y="5540292"/>
                <a:ext cx="632545" cy="24622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fr-FR" sz="16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fr-FR" sz="1600" b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S</m:t>
                          </m:r>
                        </m:e>
                        <m:sub>
                          <m:r>
                            <a:rPr lang="fr-FR" sz="1600" b="0" i="1" smtClean="0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𝑎𝑎</m:t>
                          </m:r>
                        </m:sub>
                      </m:sSub>
                      <m:d>
                        <m:dPr>
                          <m:ctrlPr>
                            <a:rPr lang="fr-FR" sz="1600" b="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fr-FR" sz="1600" b="0" i="1">
                              <a:solidFill>
                                <a:srgbClr val="0000CC"/>
                              </a:solidFill>
                              <a:latin typeface="Cambria Math" panose="02040503050406030204" pitchFamily="18" charset="0"/>
                            </a:rPr>
                            <m:t>𝜈</m:t>
                          </m:r>
                        </m:e>
                      </m:d>
                    </m:oMath>
                  </m:oMathPara>
                </a14:m>
                <a:endParaRPr lang="fr-FR" sz="1600" b="0" dirty="0">
                  <a:solidFill>
                    <a:srgbClr val="0000CC"/>
                  </a:solidFill>
                </a:endParaRPr>
              </a:p>
            </p:txBody>
          </p:sp>
        </mc:Choice>
        <mc:Fallback xmlns="">
          <p:sp>
            <p:nvSpPr>
              <p:cNvPr id="59" name="ZoneTexte 5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94590" y="5540292"/>
                <a:ext cx="632545" cy="246221"/>
              </a:xfrm>
              <a:prstGeom prst="rect">
                <a:avLst/>
              </a:prstGeom>
              <a:blipFill rotWithShape="0">
                <a:blip r:embed="rId15"/>
                <a:stretch>
                  <a:fillRect l="-6796" b="-15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0" name="Connecteur droit 59"/>
          <p:cNvCxnSpPr/>
          <p:nvPr/>
        </p:nvCxnSpPr>
        <p:spPr bwMode="auto">
          <a:xfrm>
            <a:off x="4709263" y="3457136"/>
            <a:ext cx="81393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ZoneTexte 62"/>
              <p:cNvSpPr txBox="1"/>
              <p:nvPr/>
            </p:nvSpPr>
            <p:spPr>
              <a:xfrm>
                <a:off x="4497582" y="3364803"/>
                <a:ext cx="123431" cy="184666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fr-FR" sz="1200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fr-FR" sz="1200" b="0" dirty="0"/>
              </a:p>
            </p:txBody>
          </p:sp>
        </mc:Choice>
        <mc:Fallback xmlns="">
          <p:sp>
            <p:nvSpPr>
              <p:cNvPr id="63" name="ZoneTexte 6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97582" y="3364803"/>
                <a:ext cx="123431" cy="184666"/>
              </a:xfrm>
              <a:prstGeom prst="rect">
                <a:avLst/>
              </a:prstGeom>
              <a:blipFill rotWithShape="0">
                <a:blip r:embed="rId16"/>
                <a:stretch>
                  <a:fillRect l="-30000" r="-30000" b="-10000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4" name="Forme libre 63"/>
          <p:cNvSpPr/>
          <p:nvPr/>
        </p:nvSpPr>
        <p:spPr bwMode="auto">
          <a:xfrm flipV="1">
            <a:off x="4790656" y="3452841"/>
            <a:ext cx="2334409" cy="489448"/>
          </a:xfrm>
          <a:custGeom>
            <a:avLst/>
            <a:gdLst>
              <a:gd name="connsiteX0" fmla="*/ 0 w 2414169"/>
              <a:gd name="connsiteY0" fmla="*/ 13456 h 874528"/>
              <a:gd name="connsiteX1" fmla="*/ 225910 w 2414169"/>
              <a:gd name="connsiteY1" fmla="*/ 13456 h 874528"/>
              <a:gd name="connsiteX2" fmla="*/ 527124 w 2414169"/>
              <a:gd name="connsiteY2" fmla="*/ 153305 h 874528"/>
              <a:gd name="connsiteX3" fmla="*/ 839096 w 2414169"/>
              <a:gd name="connsiteY3" fmla="*/ 400731 h 874528"/>
              <a:gd name="connsiteX4" fmla="*/ 1215614 w 2414169"/>
              <a:gd name="connsiteY4" fmla="*/ 626642 h 874528"/>
              <a:gd name="connsiteX5" fmla="*/ 1699708 w 2414169"/>
              <a:gd name="connsiteY5" fmla="*/ 766491 h 874528"/>
              <a:gd name="connsiteX6" fmla="*/ 2334409 w 2414169"/>
              <a:gd name="connsiteY6" fmla="*/ 852552 h 874528"/>
              <a:gd name="connsiteX7" fmla="*/ 2334409 w 2414169"/>
              <a:gd name="connsiteY7" fmla="*/ 820279 h 874528"/>
              <a:gd name="connsiteX8" fmla="*/ 2409713 w 2414169"/>
              <a:gd name="connsiteY8" fmla="*/ 874067 h 874528"/>
              <a:gd name="connsiteX9" fmla="*/ 2398955 w 2414169"/>
              <a:gd name="connsiteY9" fmla="*/ 841794 h 874528"/>
              <a:gd name="connsiteX0" fmla="*/ 0 w 2409713"/>
              <a:gd name="connsiteY0" fmla="*/ 13456 h 874067"/>
              <a:gd name="connsiteX1" fmla="*/ 225910 w 2409713"/>
              <a:gd name="connsiteY1" fmla="*/ 13456 h 874067"/>
              <a:gd name="connsiteX2" fmla="*/ 527124 w 2409713"/>
              <a:gd name="connsiteY2" fmla="*/ 153305 h 874067"/>
              <a:gd name="connsiteX3" fmla="*/ 839096 w 2409713"/>
              <a:gd name="connsiteY3" fmla="*/ 400731 h 874067"/>
              <a:gd name="connsiteX4" fmla="*/ 1215614 w 2409713"/>
              <a:gd name="connsiteY4" fmla="*/ 626642 h 874067"/>
              <a:gd name="connsiteX5" fmla="*/ 1699708 w 2409713"/>
              <a:gd name="connsiteY5" fmla="*/ 766491 h 874067"/>
              <a:gd name="connsiteX6" fmla="*/ 2334409 w 2409713"/>
              <a:gd name="connsiteY6" fmla="*/ 852552 h 874067"/>
              <a:gd name="connsiteX7" fmla="*/ 2334409 w 2409713"/>
              <a:gd name="connsiteY7" fmla="*/ 820279 h 874067"/>
              <a:gd name="connsiteX8" fmla="*/ 2409713 w 2409713"/>
              <a:gd name="connsiteY8" fmla="*/ 874067 h 874067"/>
              <a:gd name="connsiteX0" fmla="*/ 0 w 2378756"/>
              <a:gd name="connsiteY0" fmla="*/ 13456 h 853740"/>
              <a:gd name="connsiteX1" fmla="*/ 225910 w 2378756"/>
              <a:gd name="connsiteY1" fmla="*/ 13456 h 853740"/>
              <a:gd name="connsiteX2" fmla="*/ 527124 w 2378756"/>
              <a:gd name="connsiteY2" fmla="*/ 153305 h 853740"/>
              <a:gd name="connsiteX3" fmla="*/ 839096 w 2378756"/>
              <a:gd name="connsiteY3" fmla="*/ 400731 h 853740"/>
              <a:gd name="connsiteX4" fmla="*/ 1215614 w 2378756"/>
              <a:gd name="connsiteY4" fmla="*/ 626642 h 853740"/>
              <a:gd name="connsiteX5" fmla="*/ 1699708 w 2378756"/>
              <a:gd name="connsiteY5" fmla="*/ 766491 h 853740"/>
              <a:gd name="connsiteX6" fmla="*/ 2334409 w 2378756"/>
              <a:gd name="connsiteY6" fmla="*/ 852552 h 853740"/>
              <a:gd name="connsiteX7" fmla="*/ 2334409 w 2378756"/>
              <a:gd name="connsiteY7" fmla="*/ 820279 h 853740"/>
              <a:gd name="connsiteX0" fmla="*/ 0 w 2334409"/>
              <a:gd name="connsiteY0" fmla="*/ 13456 h 852552"/>
              <a:gd name="connsiteX1" fmla="*/ 225910 w 2334409"/>
              <a:gd name="connsiteY1" fmla="*/ 13456 h 852552"/>
              <a:gd name="connsiteX2" fmla="*/ 527124 w 2334409"/>
              <a:gd name="connsiteY2" fmla="*/ 153305 h 852552"/>
              <a:gd name="connsiteX3" fmla="*/ 839096 w 2334409"/>
              <a:gd name="connsiteY3" fmla="*/ 400731 h 852552"/>
              <a:gd name="connsiteX4" fmla="*/ 1215614 w 2334409"/>
              <a:gd name="connsiteY4" fmla="*/ 626642 h 852552"/>
              <a:gd name="connsiteX5" fmla="*/ 1699708 w 2334409"/>
              <a:gd name="connsiteY5" fmla="*/ 766491 h 852552"/>
              <a:gd name="connsiteX6" fmla="*/ 2334409 w 2334409"/>
              <a:gd name="connsiteY6" fmla="*/ 852552 h 852552"/>
              <a:gd name="connsiteX0" fmla="*/ 0 w 2334409"/>
              <a:gd name="connsiteY0" fmla="*/ 3357 h 842453"/>
              <a:gd name="connsiteX1" fmla="*/ 279698 w 2334409"/>
              <a:gd name="connsiteY1" fmla="*/ 35630 h 842453"/>
              <a:gd name="connsiteX2" fmla="*/ 527124 w 2334409"/>
              <a:gd name="connsiteY2" fmla="*/ 143206 h 842453"/>
              <a:gd name="connsiteX3" fmla="*/ 839096 w 2334409"/>
              <a:gd name="connsiteY3" fmla="*/ 390632 h 842453"/>
              <a:gd name="connsiteX4" fmla="*/ 1215614 w 2334409"/>
              <a:gd name="connsiteY4" fmla="*/ 616543 h 842453"/>
              <a:gd name="connsiteX5" fmla="*/ 1699708 w 2334409"/>
              <a:gd name="connsiteY5" fmla="*/ 756392 h 842453"/>
              <a:gd name="connsiteX6" fmla="*/ 2334409 w 2334409"/>
              <a:gd name="connsiteY6" fmla="*/ 842453 h 842453"/>
              <a:gd name="connsiteX0" fmla="*/ 0 w 2334409"/>
              <a:gd name="connsiteY0" fmla="*/ 3357 h 856109"/>
              <a:gd name="connsiteX1" fmla="*/ 279698 w 2334409"/>
              <a:gd name="connsiteY1" fmla="*/ 35630 h 856109"/>
              <a:gd name="connsiteX2" fmla="*/ 527124 w 2334409"/>
              <a:gd name="connsiteY2" fmla="*/ 143206 h 856109"/>
              <a:gd name="connsiteX3" fmla="*/ 839096 w 2334409"/>
              <a:gd name="connsiteY3" fmla="*/ 390632 h 856109"/>
              <a:gd name="connsiteX4" fmla="*/ 1215614 w 2334409"/>
              <a:gd name="connsiteY4" fmla="*/ 616543 h 856109"/>
              <a:gd name="connsiteX5" fmla="*/ 1651070 w 2334409"/>
              <a:gd name="connsiteY5" fmla="*/ 840850 h 856109"/>
              <a:gd name="connsiteX6" fmla="*/ 2334409 w 2334409"/>
              <a:gd name="connsiteY6" fmla="*/ 842453 h 856109"/>
              <a:gd name="connsiteX0" fmla="*/ 0 w 2334409"/>
              <a:gd name="connsiteY0" fmla="*/ 3357 h 849910"/>
              <a:gd name="connsiteX1" fmla="*/ 279698 w 2334409"/>
              <a:gd name="connsiteY1" fmla="*/ 35630 h 849910"/>
              <a:gd name="connsiteX2" fmla="*/ 527124 w 2334409"/>
              <a:gd name="connsiteY2" fmla="*/ 143206 h 849910"/>
              <a:gd name="connsiteX3" fmla="*/ 839096 w 2334409"/>
              <a:gd name="connsiteY3" fmla="*/ 390632 h 849910"/>
              <a:gd name="connsiteX4" fmla="*/ 1225342 w 2334409"/>
              <a:gd name="connsiteY4" fmla="*/ 701001 h 849910"/>
              <a:gd name="connsiteX5" fmla="*/ 1651070 w 2334409"/>
              <a:gd name="connsiteY5" fmla="*/ 840850 h 849910"/>
              <a:gd name="connsiteX6" fmla="*/ 2334409 w 2334409"/>
              <a:gd name="connsiteY6" fmla="*/ 842453 h 8499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34409" h="849910">
                <a:moveTo>
                  <a:pt x="0" y="3357"/>
                </a:moveTo>
                <a:cubicBezTo>
                  <a:pt x="69028" y="-8297"/>
                  <a:pt x="191844" y="12322"/>
                  <a:pt x="279698" y="35630"/>
                </a:cubicBezTo>
                <a:cubicBezTo>
                  <a:pt x="367552" y="58938"/>
                  <a:pt x="433891" y="84039"/>
                  <a:pt x="527124" y="143206"/>
                </a:cubicBezTo>
                <a:cubicBezTo>
                  <a:pt x="620357" y="202373"/>
                  <a:pt x="722726" y="297666"/>
                  <a:pt x="839096" y="390632"/>
                </a:cubicBezTo>
                <a:cubicBezTo>
                  <a:pt x="955466" y="483598"/>
                  <a:pt x="1090013" y="625965"/>
                  <a:pt x="1225342" y="701001"/>
                </a:cubicBezTo>
                <a:cubicBezTo>
                  <a:pt x="1360671" y="776037"/>
                  <a:pt x="1466226" y="817275"/>
                  <a:pt x="1651070" y="840850"/>
                </a:cubicBezTo>
                <a:cubicBezTo>
                  <a:pt x="1835914" y="864425"/>
                  <a:pt x="2228626" y="833488"/>
                  <a:pt x="2334409" y="842453"/>
                </a:cubicBezTo>
              </a:path>
            </a:pathLst>
          </a:custGeom>
          <a:noFill/>
          <a:ln w="28575" cap="flat" cmpd="sng" algn="ctr">
            <a:solidFill>
              <a:srgbClr val="80008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fr-FR" sz="28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Symbol" pitchFamily="18" charset="2"/>
            </a:endParaRPr>
          </a:p>
        </p:txBody>
      </p:sp>
      <p:sp>
        <p:nvSpPr>
          <p:cNvPr id="65" name="Text Box 36"/>
          <p:cNvSpPr txBox="1">
            <a:spLocks noChangeArrowheads="1"/>
          </p:cNvSpPr>
          <p:nvPr/>
        </p:nvSpPr>
        <p:spPr bwMode="auto">
          <a:xfrm>
            <a:off x="6767636" y="3006929"/>
            <a:ext cx="226936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None/>
            </a:pPr>
            <a:r>
              <a:rPr lang="fr-FR" altLang="fr-FR" sz="1800" dirty="0" smtClean="0">
                <a:solidFill>
                  <a:srgbClr val="7030A0"/>
                </a:solidFill>
                <a:latin typeface="Calibri" panose="020F0502020204030204" pitchFamily="34" charset="0"/>
              </a:rPr>
              <a:t>b&lt;a: Filtre passe-haut</a:t>
            </a:r>
            <a:endParaRPr lang="fr-FR" altLang="fr-FR" sz="1800" dirty="0">
              <a:solidFill>
                <a:srgbClr val="7030A0"/>
              </a:solidFill>
              <a:latin typeface="Calibri" panose="020F0502020204030204" pitchFamily="34" charset="0"/>
            </a:endParaRPr>
          </a:p>
        </p:txBody>
      </p:sp>
      <p:cxnSp>
        <p:nvCxnSpPr>
          <p:cNvPr id="37" name="Connecteur droit 36"/>
          <p:cNvCxnSpPr/>
          <p:nvPr/>
        </p:nvCxnSpPr>
        <p:spPr bwMode="auto">
          <a:xfrm>
            <a:off x="4790656" y="3457865"/>
            <a:ext cx="2419036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dash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400715070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 animBg="1"/>
      <p:bldP spid="14" grpId="0" animBg="1"/>
      <p:bldP spid="6" grpId="0" animBg="1"/>
      <p:bldP spid="25" grpId="0" animBg="1"/>
      <p:bldP spid="26" grpId="0" animBg="1"/>
      <p:bldP spid="27" grpId="0" animBg="1"/>
      <p:bldP spid="30" grpId="0" animBg="1"/>
      <p:bldP spid="34" grpId="0" animBg="1"/>
      <p:bldP spid="38" grpId="0" animBg="1"/>
      <p:bldP spid="39" grpId="0"/>
      <p:bldP spid="51" grpId="0"/>
      <p:bldP spid="52" grpId="0" animBg="1"/>
      <p:bldP spid="53" grpId="0" animBg="1"/>
      <p:bldP spid="56" grpId="0" animBg="1"/>
      <p:bldP spid="57" grpId="0" animBg="1"/>
      <p:bldP spid="58" grpId="0" animBg="1"/>
      <p:bldP spid="59" grpId="0" animBg="1"/>
      <p:bldP spid="63" grpId="0" animBg="1"/>
      <p:bldP spid="64" grpId="0" animBg="1"/>
      <p:bldP spid="6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La déconvolution</a:t>
            </a:r>
          </a:p>
        </p:txBody>
      </p:sp>
      <p:sp>
        <p:nvSpPr>
          <p:cNvPr id="15363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15364" name="Text Box 7"/>
          <p:cNvSpPr txBox="1">
            <a:spLocks noChangeArrowheads="1"/>
          </p:cNvSpPr>
          <p:nvPr/>
        </p:nvSpPr>
        <p:spPr bwMode="auto">
          <a:xfrm>
            <a:off x="257175" y="1333500"/>
            <a:ext cx="879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>
                <a:latin typeface="Arial" panose="020B0604020202020204" pitchFamily="34" charset="0"/>
              </a:rPr>
              <a:t> Position du problème:</a:t>
            </a:r>
          </a:p>
        </p:txBody>
      </p:sp>
      <p:sp>
        <p:nvSpPr>
          <p:cNvPr id="614408" name="Text Box 8"/>
          <p:cNvSpPr txBox="1">
            <a:spLocks noChangeArrowheads="1"/>
          </p:cNvSpPr>
          <p:nvPr/>
        </p:nvSpPr>
        <p:spPr bwMode="auto">
          <a:xfrm>
            <a:off x="1058863" y="5222875"/>
            <a:ext cx="6816725" cy="4064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000" i="1">
                <a:solidFill>
                  <a:srgbClr val="800000"/>
                </a:solidFill>
                <a:latin typeface="Arial" panose="020B0604020202020204" pitchFamily="34" charset="0"/>
              </a:rPr>
              <a:t>Un système d’imagerie optique est un filtre linéaire.</a:t>
            </a:r>
            <a:r>
              <a:rPr lang="fr-FR" altLang="fr-FR" sz="2000">
                <a:latin typeface="Arial" panose="020B0604020202020204" pitchFamily="34" charset="0"/>
              </a:rPr>
              <a:t>     </a:t>
            </a:r>
          </a:p>
        </p:txBody>
      </p:sp>
      <p:grpSp>
        <p:nvGrpSpPr>
          <p:cNvPr id="15366" name="Group 9"/>
          <p:cNvGrpSpPr>
            <a:grpSpLocks/>
          </p:cNvGrpSpPr>
          <p:nvPr/>
        </p:nvGrpSpPr>
        <p:grpSpPr bwMode="auto">
          <a:xfrm>
            <a:off x="566738" y="2749550"/>
            <a:ext cx="3011487" cy="1363663"/>
            <a:chOff x="357" y="3073"/>
            <a:chExt cx="1897" cy="859"/>
          </a:xfrm>
        </p:grpSpPr>
        <p:sp>
          <p:nvSpPr>
            <p:cNvPr id="15384" name="Line 10"/>
            <p:cNvSpPr>
              <a:spLocks noChangeShapeType="1"/>
            </p:cNvSpPr>
            <p:nvPr/>
          </p:nvSpPr>
          <p:spPr bwMode="auto">
            <a:xfrm>
              <a:off x="357" y="3550"/>
              <a:ext cx="1897" cy="7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5" name="Oval 11"/>
            <p:cNvSpPr>
              <a:spLocks noChangeArrowheads="1"/>
            </p:cNvSpPr>
            <p:nvPr/>
          </p:nvSpPr>
          <p:spPr bwMode="auto">
            <a:xfrm>
              <a:off x="1512" y="3181"/>
              <a:ext cx="68" cy="751"/>
            </a:xfrm>
            <a:prstGeom prst="ellipse">
              <a:avLst/>
            </a:prstGeom>
            <a:solidFill>
              <a:srgbClr val="66CCFF"/>
            </a:solidFill>
            <a:ln w="19050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fr-FR" altLang="fr-FR" sz="2800">
                <a:latin typeface="Symbol" panose="05050102010706020507" pitchFamily="18" charset="2"/>
              </a:endParaRPr>
            </a:p>
          </p:txBody>
        </p:sp>
        <p:sp>
          <p:nvSpPr>
            <p:cNvPr id="15386" name="Line 12"/>
            <p:cNvSpPr>
              <a:spLocks noChangeShapeType="1"/>
            </p:cNvSpPr>
            <p:nvPr/>
          </p:nvSpPr>
          <p:spPr bwMode="auto">
            <a:xfrm>
              <a:off x="423" y="3073"/>
              <a:ext cx="0" cy="827"/>
            </a:xfrm>
            <a:prstGeom prst="line">
              <a:avLst/>
            </a:prstGeom>
            <a:noFill/>
            <a:ln w="19050">
              <a:solidFill>
                <a:srgbClr val="FF0000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7" name="Line 13"/>
            <p:cNvSpPr>
              <a:spLocks noChangeShapeType="1"/>
            </p:cNvSpPr>
            <p:nvPr/>
          </p:nvSpPr>
          <p:spPr bwMode="auto">
            <a:xfrm>
              <a:off x="2049" y="3280"/>
              <a:ext cx="0" cy="557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sp>
        <p:nvSpPr>
          <p:cNvPr id="614414" name="Oval 14"/>
          <p:cNvSpPr>
            <a:spLocks noChangeArrowheads="1"/>
          </p:cNvSpPr>
          <p:nvPr/>
        </p:nvSpPr>
        <p:spPr bwMode="auto">
          <a:xfrm>
            <a:off x="655638" y="3492500"/>
            <a:ext cx="50800" cy="50800"/>
          </a:xfrm>
          <a:prstGeom prst="ellipse">
            <a:avLst/>
          </a:prstGeom>
          <a:solidFill>
            <a:srgbClr val="FF0000"/>
          </a:solidFill>
          <a:ln w="9525">
            <a:solidFill>
              <a:srgbClr val="FF0000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614415" name="Freeform 15"/>
          <p:cNvSpPr>
            <a:spLocks/>
          </p:cNvSpPr>
          <p:nvPr/>
        </p:nvSpPr>
        <p:spPr bwMode="auto">
          <a:xfrm rot="5400000">
            <a:off x="3310731" y="3325020"/>
            <a:ext cx="231775" cy="373062"/>
          </a:xfrm>
          <a:custGeom>
            <a:avLst/>
            <a:gdLst>
              <a:gd name="T0" fmla="*/ 0 w 624"/>
              <a:gd name="T1" fmla="*/ 2147483646 h 374"/>
              <a:gd name="T2" fmla="*/ 2147483646 w 624"/>
              <a:gd name="T3" fmla="*/ 2147483646 h 374"/>
              <a:gd name="T4" fmla="*/ 2147483646 w 624"/>
              <a:gd name="T5" fmla="*/ 2147483646 h 374"/>
              <a:gd name="T6" fmla="*/ 2147483646 w 624"/>
              <a:gd name="T7" fmla="*/ 2147483646 h 374"/>
              <a:gd name="T8" fmla="*/ 2147483646 w 624"/>
              <a:gd name="T9" fmla="*/ 2147483646 h 374"/>
              <a:gd name="T10" fmla="*/ 2147483646 w 624"/>
              <a:gd name="T11" fmla="*/ 2147483646 h 374"/>
              <a:gd name="T12" fmla="*/ 2147483646 w 624"/>
              <a:gd name="T13" fmla="*/ 2147483646 h 374"/>
              <a:gd name="T14" fmla="*/ 2147483646 w 624"/>
              <a:gd name="T15" fmla="*/ 2147483646 h 374"/>
              <a:gd name="T16" fmla="*/ 2147483646 w 624"/>
              <a:gd name="T17" fmla="*/ 2147483646 h 374"/>
              <a:gd name="T18" fmla="*/ 2147483646 w 624"/>
              <a:gd name="T19" fmla="*/ 2147483646 h 374"/>
              <a:gd name="T20" fmla="*/ 2147483646 w 624"/>
              <a:gd name="T21" fmla="*/ 2147483646 h 374"/>
              <a:gd name="T22" fmla="*/ 2147483646 w 624"/>
              <a:gd name="T23" fmla="*/ 2147483646 h 374"/>
              <a:gd name="T24" fmla="*/ 2147483646 w 624"/>
              <a:gd name="T25" fmla="*/ 2147483646 h 374"/>
              <a:gd name="T26" fmla="*/ 2147483646 w 624"/>
              <a:gd name="T27" fmla="*/ 2147483646 h 374"/>
              <a:gd name="T28" fmla="*/ 2147483646 w 624"/>
              <a:gd name="T29" fmla="*/ 2147483646 h 374"/>
              <a:gd name="T30" fmla="*/ 2147483646 w 624"/>
              <a:gd name="T31" fmla="*/ 2147483646 h 374"/>
              <a:gd name="T32" fmla="*/ 2147483646 w 624"/>
              <a:gd name="T33" fmla="*/ 2147483646 h 374"/>
              <a:gd name="T34" fmla="*/ 2147483646 w 624"/>
              <a:gd name="T35" fmla="*/ 2147483646 h 374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624" h="374">
                <a:moveTo>
                  <a:pt x="0" y="368"/>
                </a:moveTo>
                <a:cubicBezTo>
                  <a:pt x="7" y="364"/>
                  <a:pt x="35" y="351"/>
                  <a:pt x="48" y="344"/>
                </a:cubicBezTo>
                <a:cubicBezTo>
                  <a:pt x="61" y="337"/>
                  <a:pt x="69" y="328"/>
                  <a:pt x="78" y="326"/>
                </a:cubicBezTo>
                <a:cubicBezTo>
                  <a:pt x="87" y="324"/>
                  <a:pt x="94" y="329"/>
                  <a:pt x="102" y="332"/>
                </a:cubicBezTo>
                <a:cubicBezTo>
                  <a:pt x="110" y="335"/>
                  <a:pt x="116" y="339"/>
                  <a:pt x="126" y="344"/>
                </a:cubicBezTo>
                <a:cubicBezTo>
                  <a:pt x="136" y="349"/>
                  <a:pt x="149" y="374"/>
                  <a:pt x="162" y="362"/>
                </a:cubicBezTo>
                <a:cubicBezTo>
                  <a:pt x="175" y="350"/>
                  <a:pt x="193" y="305"/>
                  <a:pt x="204" y="272"/>
                </a:cubicBezTo>
                <a:cubicBezTo>
                  <a:pt x="215" y="239"/>
                  <a:pt x="218" y="201"/>
                  <a:pt x="228" y="164"/>
                </a:cubicBezTo>
                <a:cubicBezTo>
                  <a:pt x="238" y="127"/>
                  <a:pt x="248" y="77"/>
                  <a:pt x="264" y="50"/>
                </a:cubicBezTo>
                <a:cubicBezTo>
                  <a:pt x="280" y="23"/>
                  <a:pt x="306" y="0"/>
                  <a:pt x="324" y="2"/>
                </a:cubicBezTo>
                <a:cubicBezTo>
                  <a:pt x="342" y="4"/>
                  <a:pt x="360" y="35"/>
                  <a:pt x="372" y="62"/>
                </a:cubicBezTo>
                <a:cubicBezTo>
                  <a:pt x="384" y="89"/>
                  <a:pt x="388" y="130"/>
                  <a:pt x="396" y="164"/>
                </a:cubicBezTo>
                <a:cubicBezTo>
                  <a:pt x="404" y="198"/>
                  <a:pt x="410" y="234"/>
                  <a:pt x="420" y="266"/>
                </a:cubicBezTo>
                <a:cubicBezTo>
                  <a:pt x="430" y="298"/>
                  <a:pt x="441" y="342"/>
                  <a:pt x="456" y="356"/>
                </a:cubicBezTo>
                <a:cubicBezTo>
                  <a:pt x="471" y="370"/>
                  <a:pt x="495" y="354"/>
                  <a:pt x="510" y="350"/>
                </a:cubicBezTo>
                <a:cubicBezTo>
                  <a:pt x="525" y="346"/>
                  <a:pt x="533" y="332"/>
                  <a:pt x="546" y="332"/>
                </a:cubicBezTo>
                <a:cubicBezTo>
                  <a:pt x="559" y="332"/>
                  <a:pt x="575" y="344"/>
                  <a:pt x="588" y="350"/>
                </a:cubicBezTo>
                <a:cubicBezTo>
                  <a:pt x="601" y="356"/>
                  <a:pt x="617" y="364"/>
                  <a:pt x="624" y="368"/>
                </a:cubicBezTo>
              </a:path>
            </a:pathLst>
          </a:custGeom>
          <a:noFill/>
          <a:ln w="28575" cmpd="sng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pSp>
        <p:nvGrpSpPr>
          <p:cNvPr id="614416" name="Group 16"/>
          <p:cNvGrpSpPr>
            <a:grpSpLocks/>
          </p:cNvGrpSpPr>
          <p:nvPr/>
        </p:nvGrpSpPr>
        <p:grpSpPr bwMode="auto">
          <a:xfrm>
            <a:off x="658813" y="3133725"/>
            <a:ext cx="2578100" cy="774700"/>
            <a:chOff x="415" y="3315"/>
            <a:chExt cx="1624" cy="488"/>
          </a:xfrm>
        </p:grpSpPr>
        <p:sp>
          <p:nvSpPr>
            <p:cNvPr id="15380" name="Line 17"/>
            <p:cNvSpPr>
              <a:spLocks noChangeShapeType="1"/>
            </p:cNvSpPr>
            <p:nvPr/>
          </p:nvSpPr>
          <p:spPr bwMode="auto">
            <a:xfrm>
              <a:off x="417" y="3563"/>
              <a:ext cx="1098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1" name="Line 18"/>
            <p:cNvSpPr>
              <a:spLocks noChangeShapeType="1"/>
            </p:cNvSpPr>
            <p:nvPr/>
          </p:nvSpPr>
          <p:spPr bwMode="auto">
            <a:xfrm flipV="1">
              <a:off x="415" y="3321"/>
              <a:ext cx="1098" cy="2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2" name="Line 19"/>
            <p:cNvSpPr>
              <a:spLocks noChangeShapeType="1"/>
            </p:cNvSpPr>
            <p:nvPr/>
          </p:nvSpPr>
          <p:spPr bwMode="auto">
            <a:xfrm>
              <a:off x="1577" y="3315"/>
              <a:ext cx="462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  <p:sp>
          <p:nvSpPr>
            <p:cNvPr id="15383" name="Line 20"/>
            <p:cNvSpPr>
              <a:spLocks noChangeShapeType="1"/>
            </p:cNvSpPr>
            <p:nvPr/>
          </p:nvSpPr>
          <p:spPr bwMode="auto">
            <a:xfrm flipV="1">
              <a:off x="1575" y="3559"/>
              <a:ext cx="462" cy="2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fr-FR"/>
            </a:p>
          </p:txBody>
        </p:sp>
      </p:grpSp>
      <p:pic>
        <p:nvPicPr>
          <p:cNvPr id="614421" name="Picture 21" descr="air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71" t="28954" r="29843" b="30734"/>
          <a:stretch>
            <a:fillRect/>
          </a:stretch>
        </p:blipFill>
        <p:spPr bwMode="auto">
          <a:xfrm>
            <a:off x="3883025" y="3268663"/>
            <a:ext cx="814388" cy="862012"/>
          </a:xfrm>
          <a:prstGeom prst="rect">
            <a:avLst/>
          </a:prstGeom>
          <a:noFill/>
          <a:ln w="28575">
            <a:solidFill>
              <a:schemeClr val="accent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14422" name="Text Box 22"/>
          <p:cNvSpPr txBox="1">
            <a:spLocks noChangeArrowheads="1"/>
          </p:cNvSpPr>
          <p:nvPr/>
        </p:nvSpPr>
        <p:spPr bwMode="auto">
          <a:xfrm>
            <a:off x="3527425" y="4108450"/>
            <a:ext cx="15494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1800" b="0">
                <a:latin typeface="Arial" panose="020B0604020202020204" pitchFamily="34" charset="0"/>
              </a:rPr>
              <a:t>Tache d’Airy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1800" b="0">
                <a:latin typeface="Arial" panose="020B0604020202020204" pitchFamily="34" charset="0"/>
              </a:rPr>
              <a:t>h(x,y)     </a:t>
            </a:r>
          </a:p>
        </p:txBody>
      </p:sp>
      <p:sp>
        <p:nvSpPr>
          <p:cNvPr id="15372" name="Text Box 23"/>
          <p:cNvSpPr txBox="1">
            <a:spLocks noChangeArrowheads="1"/>
          </p:cNvSpPr>
          <p:nvPr/>
        </p:nvSpPr>
        <p:spPr bwMode="auto">
          <a:xfrm>
            <a:off x="180975" y="2241550"/>
            <a:ext cx="21685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i="1" u="sng">
                <a:solidFill>
                  <a:srgbClr val="003300"/>
                </a:solidFill>
                <a:latin typeface="Arial" panose="020B0604020202020204" pitchFamily="34" charset="0"/>
              </a:rPr>
              <a:t>Image d’un point :     </a:t>
            </a:r>
          </a:p>
        </p:txBody>
      </p:sp>
      <p:sp>
        <p:nvSpPr>
          <p:cNvPr id="614424" name="Text Box 24"/>
          <p:cNvSpPr txBox="1">
            <a:spLocks noChangeArrowheads="1"/>
          </p:cNvSpPr>
          <p:nvPr/>
        </p:nvSpPr>
        <p:spPr bwMode="auto">
          <a:xfrm>
            <a:off x="5226050" y="2241550"/>
            <a:ext cx="25209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1800" i="1" u="sng">
                <a:solidFill>
                  <a:srgbClr val="003300"/>
                </a:solidFill>
                <a:latin typeface="Arial" panose="020B0604020202020204" pitchFamily="34" charset="0"/>
              </a:rPr>
              <a:t>Image d’une scène :    </a:t>
            </a:r>
          </a:p>
        </p:txBody>
      </p:sp>
      <p:sp>
        <p:nvSpPr>
          <p:cNvPr id="614425" name="Text Box 25"/>
          <p:cNvSpPr txBox="1">
            <a:spLocks noChangeArrowheads="1"/>
          </p:cNvSpPr>
          <p:nvPr/>
        </p:nvSpPr>
        <p:spPr bwMode="auto">
          <a:xfrm>
            <a:off x="5594350" y="2689225"/>
            <a:ext cx="349250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000" b="0" i="1">
                <a:latin typeface="Arial" panose="020B0604020202020204" pitchFamily="34" charset="0"/>
              </a:rPr>
              <a:t> « Image idéale » :</a:t>
            </a:r>
          </a:p>
        </p:txBody>
      </p:sp>
      <p:sp>
        <p:nvSpPr>
          <p:cNvPr id="614426" name="Text Box 26"/>
          <p:cNvSpPr txBox="1">
            <a:spLocks noChangeArrowheads="1"/>
          </p:cNvSpPr>
          <p:nvPr/>
        </p:nvSpPr>
        <p:spPr bwMode="auto">
          <a:xfrm>
            <a:off x="5572125" y="3162300"/>
            <a:ext cx="32861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000" b="0" i="1">
                <a:latin typeface="Arial" panose="020B0604020202020204" pitchFamily="34" charset="0"/>
              </a:rPr>
              <a:t> Image mesurée par le système optique :      </a:t>
            </a:r>
          </a:p>
        </p:txBody>
      </p:sp>
      <p:graphicFrame>
        <p:nvGraphicFramePr>
          <p:cNvPr id="614427" name="Object 27"/>
          <p:cNvGraphicFramePr>
            <a:graphicFrameLocks noChangeAspect="1"/>
          </p:cNvGraphicFramePr>
          <p:nvPr/>
        </p:nvGraphicFramePr>
        <p:xfrm>
          <a:off x="5876925" y="4021138"/>
          <a:ext cx="2738438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4" name="Equation" r:id="rId5" imgW="1307532" imgH="215806" progId="Equation.3">
                  <p:embed/>
                </p:oleObj>
              </mc:Choice>
              <mc:Fallback>
                <p:oleObj name="Equation" r:id="rId5" imgW="1307532" imgH="215806" progId="Equation.3">
                  <p:embed/>
                  <p:pic>
                    <p:nvPicPr>
                      <p:cNvPr id="0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4021138"/>
                        <a:ext cx="2738438" cy="450850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28" name="Line 28"/>
          <p:cNvSpPr>
            <a:spLocks noChangeShapeType="1"/>
          </p:cNvSpPr>
          <p:nvPr/>
        </p:nvSpPr>
        <p:spPr bwMode="auto">
          <a:xfrm>
            <a:off x="3590925" y="3538538"/>
            <a:ext cx="276225" cy="123825"/>
          </a:xfrm>
          <a:prstGeom prst="line">
            <a:avLst/>
          </a:prstGeom>
          <a:noFill/>
          <a:ln w="19050">
            <a:solidFill>
              <a:schemeClr val="accent2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graphicFrame>
        <p:nvGraphicFramePr>
          <p:cNvPr id="614429" name="Object 29"/>
          <p:cNvGraphicFramePr>
            <a:graphicFrameLocks noChangeAspect="1"/>
          </p:cNvGraphicFramePr>
          <p:nvPr/>
        </p:nvGraphicFramePr>
        <p:xfrm>
          <a:off x="7897813" y="2697163"/>
          <a:ext cx="1009650" cy="4238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45" name="Equation" r:id="rId7" imgW="482391" imgH="203112" progId="Equation.3">
                  <p:embed/>
                </p:oleObj>
              </mc:Choice>
              <mc:Fallback>
                <p:oleObj name="Equation" r:id="rId7" imgW="482391" imgH="203112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7813" y="2697163"/>
                        <a:ext cx="1009650" cy="4238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4430" name="Text Box 30"/>
          <p:cNvSpPr txBox="1">
            <a:spLocks noChangeArrowheads="1"/>
          </p:cNvSpPr>
          <p:nvPr/>
        </p:nvSpPr>
        <p:spPr bwMode="auto">
          <a:xfrm>
            <a:off x="538163" y="5842000"/>
            <a:ext cx="799147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33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000" i="1">
                <a:solidFill>
                  <a:srgbClr val="003300"/>
                </a:solidFill>
                <a:latin typeface="Arial" panose="020B0604020202020204" pitchFamily="34" charset="0"/>
              </a:rPr>
              <a:t>Plus généralement, un grand nombre de systèmes de mesure en 1D, 2D, 3D, …peuvent se représenter de cette manière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408" grpId="0" animBg="1"/>
      <p:bldP spid="614414" grpId="0" animBg="1"/>
      <p:bldP spid="614415" grpId="0" animBg="1"/>
      <p:bldP spid="614422" grpId="0"/>
      <p:bldP spid="614424" grpId="0"/>
      <p:bldP spid="614425" grpId="0"/>
      <p:bldP spid="614426" grpId="0"/>
      <p:bldP spid="614428" grpId="0" animBg="1"/>
      <p:bldP spid="6144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2" descr="sce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2878138"/>
            <a:ext cx="2195512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24643" name="Picture 3" descr="air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878138"/>
            <a:ext cx="2195513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24644" name="Text Box 4"/>
          <p:cNvSpPr txBox="1">
            <a:spLocks noChangeArrowheads="1"/>
          </p:cNvSpPr>
          <p:nvPr/>
        </p:nvSpPr>
        <p:spPr bwMode="auto">
          <a:xfrm>
            <a:off x="3811588" y="5272088"/>
            <a:ext cx="145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0">
                <a:latin typeface="Arial" panose="020B0604020202020204" pitchFamily="34" charset="0"/>
              </a:rPr>
              <a:t>Tache d’Airy</a:t>
            </a:r>
          </a:p>
        </p:txBody>
      </p:sp>
      <p:sp>
        <p:nvSpPr>
          <p:cNvPr id="17413" name="Text Box 5"/>
          <p:cNvSpPr txBox="1">
            <a:spLocks noChangeArrowheads="1"/>
          </p:cNvSpPr>
          <p:nvPr/>
        </p:nvSpPr>
        <p:spPr bwMode="auto">
          <a:xfrm>
            <a:off x="1006475" y="2416175"/>
            <a:ext cx="1008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f(x,y)</a:t>
            </a:r>
          </a:p>
        </p:txBody>
      </p:sp>
      <p:sp>
        <p:nvSpPr>
          <p:cNvPr id="624646" name="AutoShape 6"/>
          <p:cNvSpPr>
            <a:spLocks noChangeArrowheads="1"/>
          </p:cNvSpPr>
          <p:nvPr/>
        </p:nvSpPr>
        <p:spPr bwMode="auto">
          <a:xfrm>
            <a:off x="5976938" y="3743325"/>
            <a:ext cx="504825" cy="358775"/>
          </a:xfrm>
          <a:prstGeom prst="rightArrow">
            <a:avLst>
              <a:gd name="adj1" fmla="val 55148"/>
              <a:gd name="adj2" fmla="val 61944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624647" name="Text Box 7"/>
          <p:cNvSpPr txBox="1">
            <a:spLocks noChangeArrowheads="1"/>
          </p:cNvSpPr>
          <p:nvPr/>
        </p:nvSpPr>
        <p:spPr bwMode="auto">
          <a:xfrm>
            <a:off x="7359650" y="3455988"/>
            <a:ext cx="488950" cy="823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4800"/>
              <a:t>?</a:t>
            </a:r>
          </a:p>
        </p:txBody>
      </p:sp>
      <p:sp>
        <p:nvSpPr>
          <p:cNvPr id="624650" name="Text Box 10"/>
          <p:cNvSpPr txBox="1">
            <a:spLocks noChangeArrowheads="1"/>
          </p:cNvSpPr>
          <p:nvPr/>
        </p:nvSpPr>
        <p:spPr bwMode="auto">
          <a:xfrm>
            <a:off x="2674938" y="3411538"/>
            <a:ext cx="10604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9600" b="0">
                <a:latin typeface="Arial" panose="020B0604020202020204" pitchFamily="34" charset="0"/>
              </a:rPr>
              <a:t>*</a:t>
            </a:r>
          </a:p>
        </p:txBody>
      </p:sp>
      <p:graphicFrame>
        <p:nvGraphicFramePr>
          <p:cNvPr id="624651" name="Object 11"/>
          <p:cNvGraphicFramePr>
            <a:graphicFrameLocks noChangeAspect="1"/>
          </p:cNvGraphicFramePr>
          <p:nvPr/>
        </p:nvGraphicFramePr>
        <p:xfrm>
          <a:off x="2333625" y="1420813"/>
          <a:ext cx="39925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49" name="Equation" r:id="rId6" imgW="1320227" imgH="215806" progId="Equation.3">
                  <p:embed/>
                </p:oleObj>
              </mc:Choice>
              <mc:Fallback>
                <p:oleObj name="Equation" r:id="rId6" imgW="1320227" imgH="215806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1420813"/>
                        <a:ext cx="3992563" cy="6508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4652" name="Text Box 12"/>
          <p:cNvSpPr txBox="1">
            <a:spLocks noChangeArrowheads="1"/>
          </p:cNvSpPr>
          <p:nvPr/>
        </p:nvSpPr>
        <p:spPr bwMode="auto">
          <a:xfrm>
            <a:off x="4098925" y="2416175"/>
            <a:ext cx="1008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h(x,y)</a:t>
            </a:r>
          </a:p>
        </p:txBody>
      </p:sp>
      <p:sp>
        <p:nvSpPr>
          <p:cNvPr id="17419" name="Text Box 13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La déconvolution</a:t>
            </a:r>
          </a:p>
        </p:txBody>
      </p:sp>
      <p:sp>
        <p:nvSpPr>
          <p:cNvPr id="17420" name="Text Box 14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44" grpId="0"/>
      <p:bldP spid="624646" grpId="0" animBg="1"/>
      <p:bldP spid="624647" grpId="0"/>
      <p:bldP spid="624650" grpId="0"/>
      <p:bldP spid="62465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58" name="Picture 3" descr="sceneconvbru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2870200"/>
            <a:ext cx="2195513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59" name="Text Box 5"/>
          <p:cNvSpPr txBox="1">
            <a:spLocks noChangeArrowheads="1"/>
          </p:cNvSpPr>
          <p:nvPr/>
        </p:nvSpPr>
        <p:spPr bwMode="auto">
          <a:xfrm>
            <a:off x="7019925" y="5313363"/>
            <a:ext cx="168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>
                <a:latin typeface="Arial" panose="020B0604020202020204" pitchFamily="34" charset="0"/>
              </a:rPr>
              <a:t>Image “floue”</a:t>
            </a:r>
          </a:p>
        </p:txBody>
      </p:sp>
      <p:sp>
        <p:nvSpPr>
          <p:cNvPr id="19460" name="Text Box 8"/>
          <p:cNvSpPr txBox="1">
            <a:spLocks noChangeArrowheads="1"/>
          </p:cNvSpPr>
          <p:nvPr/>
        </p:nvSpPr>
        <p:spPr bwMode="auto">
          <a:xfrm>
            <a:off x="7334250" y="2371725"/>
            <a:ext cx="1008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g(x,y)</a:t>
            </a:r>
          </a:p>
        </p:txBody>
      </p:sp>
      <p:pic>
        <p:nvPicPr>
          <p:cNvPr id="19461" name="Picture 15" descr="scene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2878138"/>
            <a:ext cx="2195512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16" descr="airy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2871788"/>
            <a:ext cx="2195513" cy="2195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3" name="Text Box 17"/>
          <p:cNvSpPr txBox="1">
            <a:spLocks noChangeArrowheads="1"/>
          </p:cNvSpPr>
          <p:nvPr/>
        </p:nvSpPr>
        <p:spPr bwMode="auto">
          <a:xfrm>
            <a:off x="3811588" y="5272088"/>
            <a:ext cx="14541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0">
                <a:latin typeface="Arial" panose="020B0604020202020204" pitchFamily="34" charset="0"/>
              </a:rPr>
              <a:t>Tache d’Airy</a:t>
            </a:r>
          </a:p>
        </p:txBody>
      </p:sp>
      <p:sp>
        <p:nvSpPr>
          <p:cNvPr id="19464" name="Text Box 18"/>
          <p:cNvSpPr txBox="1">
            <a:spLocks noChangeArrowheads="1"/>
          </p:cNvSpPr>
          <p:nvPr/>
        </p:nvSpPr>
        <p:spPr bwMode="auto">
          <a:xfrm>
            <a:off x="1006475" y="2416175"/>
            <a:ext cx="1008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f(x,y)</a:t>
            </a:r>
          </a:p>
        </p:txBody>
      </p:sp>
      <p:sp>
        <p:nvSpPr>
          <p:cNvPr id="19465" name="AutoShape 19"/>
          <p:cNvSpPr>
            <a:spLocks noChangeArrowheads="1"/>
          </p:cNvSpPr>
          <p:nvPr/>
        </p:nvSpPr>
        <p:spPr bwMode="auto">
          <a:xfrm>
            <a:off x="5976938" y="3743325"/>
            <a:ext cx="504825" cy="358775"/>
          </a:xfrm>
          <a:prstGeom prst="rightArrow">
            <a:avLst>
              <a:gd name="adj1" fmla="val 55148"/>
              <a:gd name="adj2" fmla="val 61944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19466" name="Text Box 21"/>
          <p:cNvSpPr txBox="1">
            <a:spLocks noChangeArrowheads="1"/>
          </p:cNvSpPr>
          <p:nvPr/>
        </p:nvSpPr>
        <p:spPr bwMode="auto">
          <a:xfrm>
            <a:off x="2674938" y="3411538"/>
            <a:ext cx="10604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9600" b="0">
                <a:latin typeface="Arial" panose="020B0604020202020204" pitchFamily="34" charset="0"/>
              </a:rPr>
              <a:t>*</a:t>
            </a:r>
          </a:p>
        </p:txBody>
      </p:sp>
      <p:graphicFrame>
        <p:nvGraphicFramePr>
          <p:cNvPr id="19467" name="Object 22"/>
          <p:cNvGraphicFramePr>
            <a:graphicFrameLocks noChangeAspect="1"/>
          </p:cNvGraphicFramePr>
          <p:nvPr/>
        </p:nvGraphicFramePr>
        <p:xfrm>
          <a:off x="2333625" y="1420813"/>
          <a:ext cx="3992563" cy="650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501" name="Equation" r:id="rId7" imgW="1320227" imgH="215806" progId="Equation.3">
                  <p:embed/>
                </p:oleObj>
              </mc:Choice>
              <mc:Fallback>
                <p:oleObj name="Equation" r:id="rId7" imgW="1320227" imgH="215806" progId="Equation.3">
                  <p:embed/>
                  <p:pic>
                    <p:nvPicPr>
                      <p:cNvPr id="0" name="Object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3625" y="1420813"/>
                        <a:ext cx="3992563" cy="650875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8" name="Text Box 23"/>
          <p:cNvSpPr txBox="1">
            <a:spLocks noChangeArrowheads="1"/>
          </p:cNvSpPr>
          <p:nvPr/>
        </p:nvSpPr>
        <p:spPr bwMode="auto">
          <a:xfrm>
            <a:off x="4098925" y="2416175"/>
            <a:ext cx="1008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h(x,y)</a:t>
            </a:r>
          </a:p>
        </p:txBody>
      </p:sp>
      <p:sp>
        <p:nvSpPr>
          <p:cNvPr id="626712" name="Text Box 24"/>
          <p:cNvSpPr txBox="1">
            <a:spLocks noChangeArrowheads="1"/>
          </p:cNvSpPr>
          <p:nvPr/>
        </p:nvSpPr>
        <p:spPr bwMode="auto">
          <a:xfrm>
            <a:off x="1774825" y="6235700"/>
            <a:ext cx="4957763" cy="425450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000" i="1">
                <a:solidFill>
                  <a:srgbClr val="800000"/>
                </a:solidFill>
                <a:latin typeface="Arial" panose="020B0604020202020204" pitchFamily="34" charset="0"/>
              </a:rPr>
              <a:t>Comment « restaurer » l’image ?</a:t>
            </a:r>
            <a:endParaRPr lang="fr-FR" altLang="fr-FR" sz="2000">
              <a:latin typeface="Arial" panose="020B0604020202020204" pitchFamily="34" charset="0"/>
            </a:endParaRPr>
          </a:p>
        </p:txBody>
      </p:sp>
      <p:sp>
        <p:nvSpPr>
          <p:cNvPr id="19470" name="Text Box 25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La déconvolution</a:t>
            </a:r>
          </a:p>
        </p:txBody>
      </p:sp>
      <p:sp>
        <p:nvSpPr>
          <p:cNvPr id="19471" name="Text Box 26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26716" name="Text Box 28"/>
          <p:cNvSpPr txBox="1">
            <a:spLocks noChangeArrowheads="1"/>
          </p:cNvSpPr>
          <p:nvPr/>
        </p:nvSpPr>
        <p:spPr bwMode="auto">
          <a:xfrm>
            <a:off x="1390650" y="5737225"/>
            <a:ext cx="68167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800000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000" i="1">
                <a:solidFill>
                  <a:srgbClr val="003300"/>
                </a:solidFill>
                <a:latin typeface="Arial" panose="020B0604020202020204" pitchFamily="34" charset="0"/>
              </a:rPr>
              <a:t>En général, le filtre h est un filtre passe-bas</a:t>
            </a:r>
            <a:endParaRPr lang="fr-FR" altLang="fr-FR" sz="2000">
              <a:solidFill>
                <a:srgbClr val="003300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6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6712" grpId="0" animBg="1"/>
      <p:bldP spid="6267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La déconvolution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1508" name="Text Box 4"/>
          <p:cNvSpPr txBox="1">
            <a:spLocks noChangeArrowheads="1"/>
          </p:cNvSpPr>
          <p:nvPr/>
        </p:nvSpPr>
        <p:spPr bwMode="auto">
          <a:xfrm>
            <a:off x="130175" y="1333500"/>
            <a:ext cx="879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Pour simplifier les notations, on va travailler en 1D :</a:t>
            </a:r>
          </a:p>
        </p:txBody>
      </p:sp>
      <p:pic>
        <p:nvPicPr>
          <p:cNvPr id="21509" name="Picture 2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943100"/>
            <a:ext cx="5197475" cy="66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1510" name="Text Box 30"/>
          <p:cNvSpPr txBox="1">
            <a:spLocks noChangeArrowheads="1"/>
          </p:cNvSpPr>
          <p:nvPr/>
        </p:nvSpPr>
        <p:spPr bwMode="auto">
          <a:xfrm>
            <a:off x="7307263" y="2409825"/>
            <a:ext cx="769937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 b="0" i="1">
                <a:solidFill>
                  <a:srgbClr val="003300"/>
                </a:solidFill>
                <a:latin typeface="Arial" panose="020B0604020202020204" pitchFamily="34" charset="0"/>
              </a:rPr>
              <a:t>bruit</a:t>
            </a:r>
          </a:p>
        </p:txBody>
      </p:sp>
      <p:sp>
        <p:nvSpPr>
          <p:cNvPr id="21511" name="Line 34"/>
          <p:cNvSpPr>
            <a:spLocks noChangeShapeType="1"/>
          </p:cNvSpPr>
          <p:nvPr/>
        </p:nvSpPr>
        <p:spPr bwMode="auto">
          <a:xfrm flipH="1" flipV="1">
            <a:off x="6951663" y="2265363"/>
            <a:ext cx="377825" cy="304800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21512" name="Text Box 37"/>
          <p:cNvSpPr txBox="1">
            <a:spLocks noChangeArrowheads="1"/>
          </p:cNvSpPr>
          <p:nvPr/>
        </p:nvSpPr>
        <p:spPr bwMode="auto">
          <a:xfrm>
            <a:off x="104775" y="3117850"/>
            <a:ext cx="87963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Supposons que le bruit </a:t>
            </a:r>
            <a:r>
              <a:rPr lang="fr-FR" altLang="fr-FR" sz="2400" b="0" i="1">
                <a:latin typeface="Arial" panose="020B0604020202020204" pitchFamily="34" charset="0"/>
              </a:rPr>
              <a:t>b(t)</a:t>
            </a:r>
            <a:r>
              <a:rPr lang="fr-FR" altLang="fr-FR" sz="2400" b="0">
                <a:latin typeface="Arial" panose="020B0604020202020204" pitchFamily="34" charset="0"/>
              </a:rPr>
              <a:t> soit nul. En passant dans l’espace de Fourier, on obtient :</a:t>
            </a:r>
          </a:p>
        </p:txBody>
      </p:sp>
      <p:sp>
        <p:nvSpPr>
          <p:cNvPr id="628774" name="Text Box 38"/>
          <p:cNvSpPr txBox="1">
            <a:spLocks noChangeArrowheads="1"/>
          </p:cNvSpPr>
          <p:nvPr/>
        </p:nvSpPr>
        <p:spPr bwMode="auto">
          <a:xfrm>
            <a:off x="93663" y="4949825"/>
            <a:ext cx="573563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L’opération de déconvolution revient donc à appliquer au signal s(t) un filtre linéaire de réponse en fréquence :</a:t>
            </a:r>
          </a:p>
        </p:txBody>
      </p:sp>
      <p:pic>
        <p:nvPicPr>
          <p:cNvPr id="628775" name="Picture 3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43313" y="3824288"/>
            <a:ext cx="4289425" cy="77470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28776" name="Picture 40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775" y="5176838"/>
            <a:ext cx="2435225" cy="725487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28777" name="Text Box 41"/>
          <p:cNvSpPr txBox="1">
            <a:spLocks noChangeArrowheads="1"/>
          </p:cNvSpPr>
          <p:nvPr/>
        </p:nvSpPr>
        <p:spPr bwMode="auto">
          <a:xfrm>
            <a:off x="6188075" y="5978525"/>
            <a:ext cx="2005013" cy="466725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 i="1">
                <a:solidFill>
                  <a:srgbClr val="800000"/>
                </a:solidFill>
                <a:latin typeface="Arial" panose="020B0604020202020204" pitchFamily="34" charset="0"/>
              </a:rPr>
              <a:t>Filtre inverse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8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8774" grpId="0"/>
      <p:bldP spid="62877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Le filtre inverse</a:t>
            </a:r>
          </a:p>
        </p:txBody>
      </p:sp>
      <p:sp>
        <p:nvSpPr>
          <p:cNvPr id="23555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3556" name="Text Box 18"/>
          <p:cNvSpPr txBox="1">
            <a:spLocks noChangeArrowheads="1"/>
          </p:cNvSpPr>
          <p:nvPr/>
        </p:nvSpPr>
        <p:spPr bwMode="auto">
          <a:xfrm>
            <a:off x="100013" y="1384300"/>
            <a:ext cx="5735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>
                <a:latin typeface="Arial" panose="020B0604020202020204" pitchFamily="34" charset="0"/>
              </a:rPr>
              <a:t> Problème ?</a:t>
            </a:r>
          </a:p>
        </p:txBody>
      </p:sp>
      <p:pic>
        <p:nvPicPr>
          <p:cNvPr id="630805" name="Picture 2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1956" b="-2951"/>
          <a:stretch>
            <a:fillRect/>
          </a:stretch>
        </p:blipFill>
        <p:spPr bwMode="auto">
          <a:xfrm>
            <a:off x="273050" y="1984375"/>
            <a:ext cx="2482850" cy="49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30806" name="Text Box 22"/>
          <p:cNvSpPr txBox="1">
            <a:spLocks noChangeArrowheads="1"/>
          </p:cNvSpPr>
          <p:nvPr/>
        </p:nvSpPr>
        <p:spPr bwMode="auto">
          <a:xfrm>
            <a:off x="2106613" y="1400175"/>
            <a:ext cx="3167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latin typeface="Arial" panose="020B0604020202020204" pitchFamily="34" charset="0"/>
              </a:rPr>
              <a:t>En présence de bruit</a:t>
            </a:r>
          </a:p>
        </p:txBody>
      </p:sp>
      <p:sp>
        <p:nvSpPr>
          <p:cNvPr id="630807" name="Text Box 23"/>
          <p:cNvSpPr txBox="1">
            <a:spLocks noChangeArrowheads="1"/>
          </p:cNvSpPr>
          <p:nvPr/>
        </p:nvSpPr>
        <p:spPr bwMode="auto">
          <a:xfrm>
            <a:off x="93663" y="4273550"/>
            <a:ext cx="2254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DSP de b’(t) ? </a:t>
            </a:r>
          </a:p>
        </p:txBody>
      </p:sp>
      <p:sp>
        <p:nvSpPr>
          <p:cNvPr id="630809" name="Text Box 25"/>
          <p:cNvSpPr txBox="1">
            <a:spLocks noChangeArrowheads="1"/>
          </p:cNvSpPr>
          <p:nvPr/>
        </p:nvSpPr>
        <p:spPr bwMode="auto">
          <a:xfrm>
            <a:off x="1876425" y="5322888"/>
            <a:ext cx="5245100" cy="1216025"/>
          </a:xfrm>
          <a:prstGeom prst="rect">
            <a:avLst/>
          </a:prstGeom>
          <a:noFill/>
          <a:ln w="28575">
            <a:solidFill>
              <a:srgbClr val="00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solidFill>
                  <a:srgbClr val="003300"/>
                </a:solidFill>
                <a:latin typeface="Arial" panose="020B0604020202020204" pitchFamily="34" charset="0"/>
              </a:rPr>
              <a:t>« Explosion » du bruit si h(</a:t>
            </a:r>
            <a:r>
              <a:rPr lang="fr-FR" altLang="fr-FR" sz="2400" b="0">
                <a:solidFill>
                  <a:srgbClr val="003300"/>
                </a:solidFill>
                <a:latin typeface="Symbol" panose="05050102010706020507" pitchFamily="18" charset="2"/>
              </a:rPr>
              <a:t>n</a:t>
            </a:r>
            <a:r>
              <a:rPr lang="fr-FR" altLang="fr-FR" sz="2400" b="0">
                <a:solidFill>
                  <a:srgbClr val="003300"/>
                </a:solidFill>
                <a:latin typeface="Arial" panose="020B0604020202020204" pitchFamily="34" charset="0"/>
              </a:rPr>
              <a:t>) est très faible ou nul (filtre passe-bas, zéros dans la réponse en fréquence) </a:t>
            </a:r>
          </a:p>
        </p:txBody>
      </p:sp>
      <p:pic>
        <p:nvPicPr>
          <p:cNvPr id="630810" name="Picture 2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7" t="6230" r="21625" b="-2951"/>
          <a:stretch>
            <a:fillRect/>
          </a:stretch>
        </p:blipFill>
        <p:spPr bwMode="auto">
          <a:xfrm>
            <a:off x="844550" y="2608263"/>
            <a:ext cx="4557713" cy="4683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0811" name="Picture 2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228" t="6230"/>
          <a:stretch>
            <a:fillRect/>
          </a:stretch>
        </p:blipFill>
        <p:spPr bwMode="auto">
          <a:xfrm>
            <a:off x="844550" y="3244850"/>
            <a:ext cx="2016125" cy="454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30813" name="Picture 29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10313" y="1358900"/>
            <a:ext cx="2435225" cy="725488"/>
          </a:xfrm>
          <a:prstGeom prst="rect">
            <a:avLst/>
          </a:prstGeom>
          <a:noFill/>
          <a:ln w="9525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" name="Imag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60675" y="4012715"/>
            <a:ext cx="4005933" cy="977282"/>
          </a:xfrm>
          <a:prstGeom prst="rect">
            <a:avLst/>
          </a:prstGeom>
          <a:ln>
            <a:solidFill>
              <a:srgbClr val="800000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0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0806" grpId="0"/>
      <p:bldP spid="630807" grpId="0"/>
      <p:bldP spid="63080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02" name="Picture 2" descr="sce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3463925"/>
            <a:ext cx="2195512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603" name="Picture 3" descr="sceneconvbru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3463925"/>
            <a:ext cx="2195513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4" name="AutoShape 4"/>
          <p:cNvSpPr>
            <a:spLocks noChangeArrowheads="1"/>
          </p:cNvSpPr>
          <p:nvPr/>
        </p:nvSpPr>
        <p:spPr bwMode="auto">
          <a:xfrm>
            <a:off x="5976938" y="4329113"/>
            <a:ext cx="504825" cy="358775"/>
          </a:xfrm>
          <a:prstGeom prst="rightArrow">
            <a:avLst>
              <a:gd name="adj1" fmla="val 55148"/>
              <a:gd name="adj2" fmla="val 61944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25605" name="Text Box 5"/>
          <p:cNvSpPr txBox="1">
            <a:spLocks noChangeArrowheads="1"/>
          </p:cNvSpPr>
          <p:nvPr/>
        </p:nvSpPr>
        <p:spPr bwMode="auto">
          <a:xfrm>
            <a:off x="7019925" y="5913438"/>
            <a:ext cx="16827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>
                <a:latin typeface="Arial" panose="020B0604020202020204" pitchFamily="34" charset="0"/>
              </a:rPr>
              <a:t>Image “floue”</a:t>
            </a:r>
          </a:p>
        </p:txBody>
      </p:sp>
      <p:pic>
        <p:nvPicPr>
          <p:cNvPr id="25606" name="Picture 6" descr="air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3463925"/>
            <a:ext cx="2195513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7" name="Text Box 7"/>
          <p:cNvSpPr txBox="1">
            <a:spLocks noChangeArrowheads="1"/>
          </p:cNvSpPr>
          <p:nvPr/>
        </p:nvSpPr>
        <p:spPr bwMode="auto">
          <a:xfrm>
            <a:off x="2674938" y="3997325"/>
            <a:ext cx="1060450" cy="15557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9600" b="0">
                <a:latin typeface="Arial" panose="020B0604020202020204" pitchFamily="34" charset="0"/>
              </a:rPr>
              <a:t>*</a:t>
            </a:r>
          </a:p>
        </p:txBody>
      </p:sp>
      <p:sp>
        <p:nvSpPr>
          <p:cNvPr id="25608" name="Text Box 10"/>
          <p:cNvSpPr txBox="1">
            <a:spLocks noChangeArrowheads="1"/>
          </p:cNvSpPr>
          <p:nvPr/>
        </p:nvSpPr>
        <p:spPr bwMode="auto">
          <a:xfrm>
            <a:off x="7334250" y="2971800"/>
            <a:ext cx="10080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s(x,y)</a:t>
            </a:r>
          </a:p>
        </p:txBody>
      </p:sp>
      <p:sp>
        <p:nvSpPr>
          <p:cNvPr id="25609" name="Text Box 16"/>
          <p:cNvSpPr txBox="1">
            <a:spLocks noChangeArrowheads="1"/>
          </p:cNvSpPr>
          <p:nvPr/>
        </p:nvSpPr>
        <p:spPr bwMode="auto">
          <a:xfrm>
            <a:off x="1006475" y="3001963"/>
            <a:ext cx="10080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r(x,y)</a:t>
            </a:r>
          </a:p>
        </p:txBody>
      </p:sp>
      <p:sp>
        <p:nvSpPr>
          <p:cNvPr id="25610" name="Text Box 17"/>
          <p:cNvSpPr txBox="1">
            <a:spLocks noChangeArrowheads="1"/>
          </p:cNvSpPr>
          <p:nvPr/>
        </p:nvSpPr>
        <p:spPr bwMode="auto">
          <a:xfrm>
            <a:off x="4098925" y="3001963"/>
            <a:ext cx="10080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h(x,y)</a:t>
            </a:r>
          </a:p>
        </p:txBody>
      </p:sp>
      <p:sp>
        <p:nvSpPr>
          <p:cNvPr id="25611" name="Text Box 18"/>
          <p:cNvSpPr txBox="1">
            <a:spLocks noChangeArrowheads="1"/>
          </p:cNvSpPr>
          <p:nvPr/>
        </p:nvSpPr>
        <p:spPr bwMode="auto">
          <a:xfrm>
            <a:off x="3811588" y="5857875"/>
            <a:ext cx="145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0">
                <a:latin typeface="Arial" panose="020B0604020202020204" pitchFamily="34" charset="0"/>
              </a:rPr>
              <a:t>Tache d’Airy</a:t>
            </a:r>
          </a:p>
        </p:txBody>
      </p:sp>
      <p:sp>
        <p:nvSpPr>
          <p:cNvPr id="25612" name="Text Box 19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Le filtre inverse</a:t>
            </a:r>
          </a:p>
        </p:txBody>
      </p:sp>
      <p:sp>
        <p:nvSpPr>
          <p:cNvPr id="25613" name="Text Box 20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 descr="sce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38" y="3463925"/>
            <a:ext cx="2195512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36931" name="Picture 3" descr="sceneconvbru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1150" y="3463925"/>
            <a:ext cx="2195513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6932" name="AutoShape 4"/>
          <p:cNvSpPr>
            <a:spLocks noChangeArrowheads="1"/>
          </p:cNvSpPr>
          <p:nvPr/>
        </p:nvSpPr>
        <p:spPr bwMode="auto">
          <a:xfrm>
            <a:off x="5976938" y="4329113"/>
            <a:ext cx="504825" cy="358775"/>
          </a:xfrm>
          <a:prstGeom prst="rightArrow">
            <a:avLst>
              <a:gd name="adj1" fmla="val 55148"/>
              <a:gd name="adj2" fmla="val 61944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pic>
        <p:nvPicPr>
          <p:cNvPr id="27653" name="Picture 6" descr="air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2500" y="3463925"/>
            <a:ext cx="2195513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4" name="Text Box 8"/>
          <p:cNvSpPr txBox="1">
            <a:spLocks noChangeArrowheads="1"/>
          </p:cNvSpPr>
          <p:nvPr/>
        </p:nvSpPr>
        <p:spPr bwMode="auto">
          <a:xfrm>
            <a:off x="2560638" y="3997325"/>
            <a:ext cx="106045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5400" b="0">
                <a:latin typeface="Arial" panose="020B0604020202020204" pitchFamily="34" charset="0"/>
              </a:rPr>
              <a:t>“/”</a:t>
            </a:r>
          </a:p>
        </p:txBody>
      </p:sp>
      <p:pic>
        <p:nvPicPr>
          <p:cNvPr id="636937" name="Picture 9" descr="deconv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0675" y="3460750"/>
            <a:ext cx="2193925" cy="2193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Text Box 12"/>
          <p:cNvSpPr txBox="1">
            <a:spLocks noChangeArrowheads="1"/>
          </p:cNvSpPr>
          <p:nvPr/>
        </p:nvSpPr>
        <p:spPr bwMode="auto">
          <a:xfrm>
            <a:off x="219075" y="1157288"/>
            <a:ext cx="29400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000" u="sng">
                <a:latin typeface="Arial" panose="020B0604020202020204" pitchFamily="34" charset="0"/>
              </a:rPr>
              <a:t> « Déconvolution » :</a:t>
            </a:r>
          </a:p>
        </p:txBody>
      </p:sp>
      <p:sp>
        <p:nvSpPr>
          <p:cNvPr id="27657" name="Text Box 16"/>
          <p:cNvSpPr txBox="1">
            <a:spLocks noChangeArrowheads="1"/>
          </p:cNvSpPr>
          <p:nvPr/>
        </p:nvSpPr>
        <p:spPr bwMode="auto">
          <a:xfrm>
            <a:off x="1006475" y="3001963"/>
            <a:ext cx="10080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s(x,y)</a:t>
            </a:r>
          </a:p>
        </p:txBody>
      </p:sp>
      <p:sp>
        <p:nvSpPr>
          <p:cNvPr id="27658" name="Text Box 17"/>
          <p:cNvSpPr txBox="1">
            <a:spLocks noChangeArrowheads="1"/>
          </p:cNvSpPr>
          <p:nvPr/>
        </p:nvSpPr>
        <p:spPr bwMode="auto">
          <a:xfrm>
            <a:off x="4098925" y="3001963"/>
            <a:ext cx="1008063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accent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fr-FR" altLang="fr-FR" sz="1800">
                <a:latin typeface="Arial" panose="020B0604020202020204" pitchFamily="34" charset="0"/>
              </a:rPr>
              <a:t>h(x,y)</a:t>
            </a:r>
          </a:p>
        </p:txBody>
      </p:sp>
      <p:pic>
        <p:nvPicPr>
          <p:cNvPr id="27659" name="Picture 18" descr="sceneconvbru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225" y="3470275"/>
            <a:ext cx="2195513" cy="2195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660" name="Picture 20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812" t="-5902" r="72136"/>
          <a:stretch>
            <a:fillRect/>
          </a:stretch>
        </p:blipFill>
        <p:spPr bwMode="auto">
          <a:xfrm>
            <a:off x="7097713" y="2927350"/>
            <a:ext cx="1462087" cy="496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7661" name="Text Box 21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Le filtre inverse</a:t>
            </a:r>
          </a:p>
        </p:txBody>
      </p:sp>
      <p:sp>
        <p:nvSpPr>
          <p:cNvPr id="27662" name="Text Box 22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7663" name="Text Box 23"/>
          <p:cNvSpPr txBox="1">
            <a:spLocks noChangeArrowheads="1"/>
          </p:cNvSpPr>
          <p:nvPr/>
        </p:nvSpPr>
        <p:spPr bwMode="auto">
          <a:xfrm>
            <a:off x="3811588" y="5857875"/>
            <a:ext cx="145415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fr-FR" sz="1800" b="0">
                <a:latin typeface="Arial" panose="020B0604020202020204" pitchFamily="34" charset="0"/>
              </a:rPr>
              <a:t>Tache d’Airy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6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693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Filtre de Wiener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115888" y="1176338"/>
            <a:ext cx="87963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Pour obtenir un filtre plus robuste au bruit, on utilise le principe du filtre de Wiener:</a:t>
            </a:r>
          </a:p>
        </p:txBody>
      </p:sp>
      <p:pic>
        <p:nvPicPr>
          <p:cNvPr id="29701" name="Picture 1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2071688"/>
            <a:ext cx="5197475" cy="660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43089" name="Text Box 17"/>
          <p:cNvSpPr txBox="1">
            <a:spLocks noChangeArrowheads="1"/>
          </p:cNvSpPr>
          <p:nvPr/>
        </p:nvSpPr>
        <p:spPr bwMode="auto">
          <a:xfrm>
            <a:off x="4325938" y="3132138"/>
            <a:ext cx="2946400" cy="406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000" b="0" i="1">
                <a:solidFill>
                  <a:srgbClr val="003300"/>
                </a:solidFill>
                <a:latin typeface="Arial" panose="020B0604020202020204" pitchFamily="34" charset="0"/>
              </a:rPr>
              <a:t>Fonctions aléatoires</a:t>
            </a:r>
          </a:p>
        </p:txBody>
      </p:sp>
      <p:sp>
        <p:nvSpPr>
          <p:cNvPr id="643090" name="Text Box 18"/>
          <p:cNvSpPr txBox="1">
            <a:spLocks noChangeArrowheads="1"/>
          </p:cNvSpPr>
          <p:nvPr/>
        </p:nvSpPr>
        <p:spPr bwMode="auto">
          <a:xfrm>
            <a:off x="1770063" y="2955925"/>
            <a:ext cx="2192337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000" b="0" i="1">
                <a:solidFill>
                  <a:srgbClr val="003300"/>
                </a:solidFill>
                <a:latin typeface="Arial" panose="020B0604020202020204" pitchFamily="34" charset="0"/>
              </a:rPr>
              <a:t>Fonction </a:t>
            </a:r>
          </a:p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000" b="0" i="1">
                <a:solidFill>
                  <a:srgbClr val="003300"/>
                </a:solidFill>
                <a:latin typeface="Arial" panose="020B0604020202020204" pitchFamily="34" charset="0"/>
              </a:rPr>
              <a:t>déterministe</a:t>
            </a:r>
          </a:p>
        </p:txBody>
      </p:sp>
      <p:sp>
        <p:nvSpPr>
          <p:cNvPr id="643091" name="Line 19"/>
          <p:cNvSpPr>
            <a:spLocks noChangeShapeType="1"/>
          </p:cNvSpPr>
          <p:nvPr/>
        </p:nvSpPr>
        <p:spPr bwMode="auto">
          <a:xfrm flipV="1">
            <a:off x="3135313" y="2540000"/>
            <a:ext cx="290512" cy="420688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3092" name="Line 20"/>
          <p:cNvSpPr>
            <a:spLocks noChangeShapeType="1"/>
          </p:cNvSpPr>
          <p:nvPr/>
        </p:nvSpPr>
        <p:spPr bwMode="auto">
          <a:xfrm flipH="1" flipV="1">
            <a:off x="4964113" y="2554288"/>
            <a:ext cx="711200" cy="581025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3093" name="Line 21"/>
          <p:cNvSpPr>
            <a:spLocks noChangeShapeType="1"/>
          </p:cNvSpPr>
          <p:nvPr/>
        </p:nvSpPr>
        <p:spPr bwMode="auto">
          <a:xfrm flipV="1">
            <a:off x="5878513" y="2554288"/>
            <a:ext cx="479425" cy="552450"/>
          </a:xfrm>
          <a:prstGeom prst="line">
            <a:avLst/>
          </a:prstGeom>
          <a:noFill/>
          <a:ln w="9525">
            <a:solidFill>
              <a:srgbClr val="0033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fr-FR"/>
          </a:p>
        </p:txBody>
      </p:sp>
      <p:sp>
        <p:nvSpPr>
          <p:cNvPr id="643094" name="Text Box 22"/>
          <p:cNvSpPr txBox="1">
            <a:spLocks noChangeArrowheads="1"/>
          </p:cNvSpPr>
          <p:nvPr/>
        </p:nvSpPr>
        <p:spPr bwMode="auto">
          <a:xfrm>
            <a:off x="130175" y="3892550"/>
            <a:ext cx="4021138" cy="2647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</a:t>
            </a:r>
            <a:r>
              <a:rPr lang="fr-FR" altLang="fr-FR" sz="2400" b="0" i="1">
                <a:latin typeface="Arial" panose="020B0604020202020204" pitchFamily="34" charset="0"/>
              </a:rPr>
              <a:t>r(t)</a:t>
            </a:r>
            <a:r>
              <a:rPr lang="fr-FR" altLang="fr-FR" sz="2400" b="0">
                <a:latin typeface="Arial" panose="020B0604020202020204" pitchFamily="34" charset="0"/>
              </a:rPr>
              <a:t> représente le signal non perturbé. </a:t>
            </a:r>
          </a:p>
          <a:p>
            <a:pPr>
              <a:spcBef>
                <a:spcPct val="0"/>
              </a:spcBef>
            </a:pPr>
            <a:endParaRPr lang="fr-FR" altLang="fr-FR" sz="2400" b="0">
              <a:latin typeface="Arial" panose="020B0604020202020204" pitchFamily="34" charset="0"/>
            </a:endParaRPr>
          </a:p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latin typeface="Arial" panose="020B0604020202020204" pitchFamily="34" charset="0"/>
              </a:rPr>
              <a:t>=&gt; Il est supposé </a:t>
            </a:r>
            <a:r>
              <a:rPr lang="fr-FR" altLang="fr-FR" sz="2400">
                <a:latin typeface="Arial" panose="020B0604020202020204" pitchFamily="34" charset="0"/>
              </a:rPr>
              <a:t>aléatoire</a:t>
            </a:r>
            <a:r>
              <a:rPr lang="fr-FR" altLang="fr-FR" sz="2400" b="0">
                <a:latin typeface="Arial" panose="020B0604020202020204" pitchFamily="34" charset="0"/>
              </a:rPr>
              <a:t> dans le sens où il appartient à un ensemble de signaux possibles.</a:t>
            </a:r>
          </a:p>
        </p:txBody>
      </p:sp>
      <p:pic>
        <p:nvPicPr>
          <p:cNvPr id="643095" name="Picture 2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78300" y="3759200"/>
            <a:ext cx="4689475" cy="3017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3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3089" grpId="0" animBg="1"/>
      <p:bldP spid="643090" grpId="0"/>
      <p:bldP spid="643091" grpId="0" animBg="1"/>
      <p:bldP spid="643092" grpId="0" animBg="1"/>
      <p:bldP spid="643093" grpId="0" animBg="1"/>
      <p:bldP spid="64309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Filtre de Wiener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31748" name="Text Box 4"/>
          <p:cNvSpPr txBox="1">
            <a:spLocks noChangeArrowheads="1"/>
          </p:cNvSpPr>
          <p:nvPr/>
        </p:nvSpPr>
        <p:spPr bwMode="auto">
          <a:xfrm>
            <a:off x="201613" y="1362075"/>
            <a:ext cx="8796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On cherche le filtre linéaire qui minimise l’EQM suivant :</a:t>
            </a:r>
          </a:p>
        </p:txBody>
      </p:sp>
      <p:pic>
        <p:nvPicPr>
          <p:cNvPr id="3174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8363" y="2139950"/>
            <a:ext cx="4398962" cy="709613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45135" name="Text Box 15"/>
          <p:cNvSpPr txBox="1">
            <a:spLocks noChangeArrowheads="1"/>
          </p:cNvSpPr>
          <p:nvPr/>
        </p:nvSpPr>
        <p:spPr bwMode="auto">
          <a:xfrm>
            <a:off x="201613" y="3567113"/>
            <a:ext cx="8796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>
                <a:latin typeface="Arial" panose="020B0604020202020204" pitchFamily="34" charset="0"/>
              </a:rPr>
              <a:t>  Solution ?</a:t>
            </a:r>
          </a:p>
        </p:txBody>
      </p:sp>
      <p:sp>
        <p:nvSpPr>
          <p:cNvPr id="645139" name="Text Box 19"/>
          <p:cNvSpPr txBox="1">
            <a:spLocks noChangeArrowheads="1"/>
          </p:cNvSpPr>
          <p:nvPr/>
        </p:nvSpPr>
        <p:spPr bwMode="auto">
          <a:xfrm>
            <a:off x="201613" y="4497388"/>
            <a:ext cx="8796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 Si </a:t>
            </a:r>
            <a:r>
              <a:rPr lang="fr-FR" altLang="fr-FR" sz="2400" b="0" i="1">
                <a:latin typeface="Arial" panose="020B0604020202020204" pitchFamily="34" charset="0"/>
              </a:rPr>
              <a:t>r(t)</a:t>
            </a:r>
            <a:r>
              <a:rPr lang="fr-FR" altLang="fr-FR" sz="2400" b="0">
                <a:latin typeface="Arial" panose="020B0604020202020204" pitchFamily="34" charset="0"/>
              </a:rPr>
              <a:t> et </a:t>
            </a:r>
            <a:r>
              <a:rPr lang="fr-FR" altLang="fr-FR" sz="2400" b="0" i="1">
                <a:latin typeface="Arial" panose="020B0604020202020204" pitchFamily="34" charset="0"/>
              </a:rPr>
              <a:t>b(t)</a:t>
            </a:r>
            <a:r>
              <a:rPr lang="fr-FR" altLang="fr-FR" sz="2400" b="0">
                <a:latin typeface="Arial" panose="020B0604020202020204" pitchFamily="34" charset="0"/>
              </a:rPr>
              <a:t> sont statistiquement indépendants: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00338" y="3298534"/>
            <a:ext cx="2065500" cy="947100"/>
          </a:xfrm>
          <a:prstGeom prst="rect">
            <a:avLst/>
          </a:prstGeom>
          <a:ln>
            <a:solidFill>
              <a:srgbClr val="800000"/>
            </a:solidFill>
          </a:ln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38362" y="5254625"/>
            <a:ext cx="4552369" cy="1289728"/>
          </a:xfrm>
          <a:prstGeom prst="rect">
            <a:avLst/>
          </a:prstGeom>
          <a:ln w="28575">
            <a:solidFill>
              <a:srgbClr val="800000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135" grpId="0"/>
      <p:bldP spid="64513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Filtre de Wiener</a:t>
            </a:r>
          </a:p>
        </p:txBody>
      </p:sp>
      <p:sp>
        <p:nvSpPr>
          <p:cNvPr id="33795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647182" name="Text Box 14"/>
          <p:cNvSpPr txBox="1">
            <a:spLocks noChangeArrowheads="1"/>
          </p:cNvSpPr>
          <p:nvPr/>
        </p:nvSpPr>
        <p:spPr bwMode="auto">
          <a:xfrm>
            <a:off x="361950" y="4175125"/>
            <a:ext cx="789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Char char="-"/>
            </a:pPr>
            <a:r>
              <a:rPr lang="fr-FR" altLang="fr-FR" sz="2400" b="0">
                <a:latin typeface="Arial" panose="020B0604020202020204" pitchFamily="34" charset="0"/>
              </a:rPr>
              <a:t> Si </a:t>
            </a:r>
            <a:r>
              <a:rPr lang="fr-FR" altLang="fr-FR" sz="2400" b="0">
                <a:latin typeface="Symbol" panose="05050102010706020507" pitchFamily="18" charset="2"/>
              </a:rPr>
              <a:t>g(n)</a:t>
            </a:r>
            <a:r>
              <a:rPr lang="fr-FR" altLang="fr-FR" sz="2400" b="0">
                <a:latin typeface="Arial" panose="020B0604020202020204" pitchFamily="34" charset="0"/>
              </a:rPr>
              <a:t> &gt;&gt; 1 :</a:t>
            </a:r>
          </a:p>
        </p:txBody>
      </p:sp>
      <p:sp>
        <p:nvSpPr>
          <p:cNvPr id="647183" name="Text Box 15"/>
          <p:cNvSpPr txBox="1">
            <a:spLocks noChangeArrowheads="1"/>
          </p:cNvSpPr>
          <p:nvPr/>
        </p:nvSpPr>
        <p:spPr bwMode="auto">
          <a:xfrm>
            <a:off x="147638" y="3052763"/>
            <a:ext cx="8796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latin typeface="Arial" panose="020B0604020202020204" pitchFamily="34" charset="0"/>
              </a:rPr>
              <a:t>Définissons</a:t>
            </a:r>
          </a:p>
        </p:txBody>
      </p:sp>
      <p:sp>
        <p:nvSpPr>
          <p:cNvPr id="647185" name="Text Box 17"/>
          <p:cNvSpPr txBox="1">
            <a:spLocks noChangeArrowheads="1"/>
          </p:cNvSpPr>
          <p:nvPr/>
        </p:nvSpPr>
        <p:spPr bwMode="auto">
          <a:xfrm>
            <a:off x="5283200" y="2905125"/>
            <a:ext cx="390366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 i="1">
                <a:solidFill>
                  <a:srgbClr val="003300"/>
                </a:solidFill>
                <a:latin typeface="Arial" panose="020B0604020202020204" pitchFamily="34" charset="0"/>
              </a:rPr>
              <a:t>« RSB » dans le signal s(t) à la fréquence </a:t>
            </a:r>
            <a:r>
              <a:rPr lang="fr-FR" altLang="fr-FR" sz="2400" b="0" i="1">
                <a:solidFill>
                  <a:srgbClr val="003300"/>
                </a:solidFill>
                <a:latin typeface="Symbol" panose="05050102010706020507" pitchFamily="18" charset="2"/>
              </a:rPr>
              <a:t>n</a:t>
            </a:r>
          </a:p>
        </p:txBody>
      </p:sp>
      <p:sp>
        <p:nvSpPr>
          <p:cNvPr id="647186" name="Text Box 18"/>
          <p:cNvSpPr txBox="1">
            <a:spLocks noChangeArrowheads="1"/>
          </p:cNvSpPr>
          <p:nvPr/>
        </p:nvSpPr>
        <p:spPr bwMode="auto">
          <a:xfrm>
            <a:off x="1260475" y="5457825"/>
            <a:ext cx="4629150" cy="121602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400" b="0">
                <a:solidFill>
                  <a:srgbClr val="800000"/>
                </a:solidFill>
                <a:latin typeface="Arial" panose="020B0604020202020204" pitchFamily="34" charset="0"/>
              </a:rPr>
              <a:t>On ne « déconvolue » que les « fréquences » pour lesquelles le RSB est suffisant. </a:t>
            </a:r>
          </a:p>
        </p:txBody>
      </p:sp>
      <p:sp>
        <p:nvSpPr>
          <p:cNvPr id="647188" name="Text Box 20"/>
          <p:cNvSpPr txBox="1">
            <a:spLocks noChangeArrowheads="1"/>
          </p:cNvSpPr>
          <p:nvPr/>
        </p:nvSpPr>
        <p:spPr bwMode="auto">
          <a:xfrm>
            <a:off x="377825" y="4686300"/>
            <a:ext cx="78962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latin typeface="Arial" panose="020B0604020202020204" pitchFamily="34" charset="0"/>
              </a:rPr>
              <a:t>- Si </a:t>
            </a:r>
            <a:r>
              <a:rPr lang="fr-FR" altLang="fr-FR" sz="2400" b="0">
                <a:latin typeface="Symbol" panose="05050102010706020507" pitchFamily="18" charset="2"/>
              </a:rPr>
              <a:t>g(n)</a:t>
            </a:r>
            <a:r>
              <a:rPr lang="fr-FR" altLang="fr-FR" sz="2400" b="0">
                <a:latin typeface="Arial" panose="020B0604020202020204" pitchFamily="34" charset="0"/>
              </a:rPr>
              <a:t> &lt;&lt; 1 :</a:t>
            </a:r>
          </a:p>
        </p:txBody>
      </p:sp>
      <p:sp>
        <p:nvSpPr>
          <p:cNvPr id="647189" name="Text Box 21"/>
          <p:cNvSpPr txBox="1">
            <a:spLocks noChangeArrowheads="1"/>
          </p:cNvSpPr>
          <p:nvPr/>
        </p:nvSpPr>
        <p:spPr bwMode="auto">
          <a:xfrm>
            <a:off x="2325688" y="4157663"/>
            <a:ext cx="4718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latin typeface="Arial" panose="020B0604020202020204" pitchFamily="34" charset="0"/>
              </a:rPr>
              <a:t>w(</a:t>
            </a:r>
            <a:r>
              <a:rPr lang="fr-FR" altLang="fr-FR" sz="2400" b="0">
                <a:latin typeface="Symbol" panose="05050102010706020507" pitchFamily="18" charset="2"/>
              </a:rPr>
              <a:t>n</a:t>
            </a:r>
            <a:r>
              <a:rPr lang="fr-FR" altLang="fr-FR" sz="2400" b="0">
                <a:latin typeface="Arial" panose="020B0604020202020204" pitchFamily="34" charset="0"/>
              </a:rPr>
              <a:t>) ~ 1/h(</a:t>
            </a:r>
            <a:r>
              <a:rPr lang="fr-FR" altLang="fr-FR" sz="2400" b="0">
                <a:latin typeface="Symbol" panose="05050102010706020507" pitchFamily="18" charset="2"/>
              </a:rPr>
              <a:t>n</a:t>
            </a:r>
            <a:r>
              <a:rPr lang="fr-FR" altLang="fr-FR" sz="2400" b="0">
                <a:latin typeface="Arial" panose="020B0604020202020204" pitchFamily="34" charset="0"/>
              </a:rPr>
              <a:t>) : filtre inverse</a:t>
            </a:r>
          </a:p>
        </p:txBody>
      </p:sp>
      <p:sp>
        <p:nvSpPr>
          <p:cNvPr id="647190" name="Text Box 22"/>
          <p:cNvSpPr txBox="1">
            <a:spLocks noChangeArrowheads="1"/>
          </p:cNvSpPr>
          <p:nvPr/>
        </p:nvSpPr>
        <p:spPr bwMode="auto">
          <a:xfrm>
            <a:off x="2351088" y="4687888"/>
            <a:ext cx="53419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 dirty="0">
                <a:latin typeface="Arial" panose="020B0604020202020204" pitchFamily="34" charset="0"/>
              </a:rPr>
              <a:t>w(</a:t>
            </a:r>
            <a:r>
              <a:rPr lang="fr-FR" altLang="fr-FR" sz="2400" b="0" dirty="0">
                <a:latin typeface="Symbol" panose="05050102010706020507" pitchFamily="18" charset="2"/>
              </a:rPr>
              <a:t>n</a:t>
            </a:r>
            <a:r>
              <a:rPr lang="fr-FR" altLang="fr-FR" sz="2400" b="0" dirty="0">
                <a:latin typeface="Arial" panose="020B0604020202020204" pitchFamily="34" charset="0"/>
              </a:rPr>
              <a:t>) ~ h*(</a:t>
            </a:r>
            <a:r>
              <a:rPr lang="fr-FR" altLang="fr-FR" sz="2400" b="0" dirty="0" smtClean="0">
                <a:latin typeface="Symbol" panose="05050102010706020507" pitchFamily="18" charset="2"/>
              </a:rPr>
              <a:t>n</a:t>
            </a:r>
            <a:r>
              <a:rPr lang="fr-FR" altLang="fr-FR" sz="2400" b="0" dirty="0" smtClean="0">
                <a:latin typeface="Arial" panose="020B0604020202020204" pitchFamily="34" charset="0"/>
              </a:rPr>
              <a:t>): </a:t>
            </a:r>
            <a:r>
              <a:rPr lang="fr-FR" altLang="fr-FR" sz="2400" b="0" dirty="0">
                <a:latin typeface="Arial" panose="020B0604020202020204" pitchFamily="34" charset="0"/>
              </a:rPr>
              <a:t>filtre passe-bas !</a:t>
            </a:r>
          </a:p>
        </p:txBody>
      </p:sp>
      <p:sp>
        <p:nvSpPr>
          <p:cNvPr id="647191" name="AutoShape 23"/>
          <p:cNvSpPr>
            <a:spLocks noChangeArrowheads="1"/>
          </p:cNvSpPr>
          <p:nvPr/>
        </p:nvSpPr>
        <p:spPr bwMode="auto">
          <a:xfrm rot="10800000" flipH="1">
            <a:off x="608013" y="5900738"/>
            <a:ext cx="342900" cy="293687"/>
          </a:xfrm>
          <a:prstGeom prst="rightArrow">
            <a:avLst>
              <a:gd name="adj1" fmla="val 50269"/>
              <a:gd name="adj2" fmla="val 58919"/>
            </a:avLst>
          </a:prstGeom>
          <a:noFill/>
          <a:ln w="762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647192" name="Text Box 24"/>
          <p:cNvSpPr txBox="1">
            <a:spLocks noChangeArrowheads="1"/>
          </p:cNvSpPr>
          <p:nvPr/>
        </p:nvSpPr>
        <p:spPr bwMode="auto">
          <a:xfrm>
            <a:off x="6646863" y="5629275"/>
            <a:ext cx="1989137" cy="850900"/>
          </a:xfrm>
          <a:prstGeom prst="rect">
            <a:avLst/>
          </a:prstGeom>
          <a:noFill/>
          <a:ln w="28575">
            <a:solidFill>
              <a:srgbClr val="0033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 dirty="0">
                <a:solidFill>
                  <a:srgbClr val="003300"/>
                </a:solidFill>
                <a:latin typeface="Arial" panose="020B0604020202020204" pitchFamily="34" charset="0"/>
              </a:rPr>
              <a:t>Voir section </a:t>
            </a:r>
            <a:r>
              <a:rPr lang="fr-FR" altLang="fr-FR" sz="2400" b="0" dirty="0" smtClean="0">
                <a:solidFill>
                  <a:srgbClr val="003300"/>
                </a:solidFill>
                <a:latin typeface="Arial" panose="020B0604020202020204" pitchFamily="34" charset="0"/>
              </a:rPr>
              <a:t>6.2.4 </a:t>
            </a:r>
            <a:r>
              <a:rPr lang="fr-FR" altLang="fr-FR" sz="2400" b="0" dirty="0">
                <a:solidFill>
                  <a:srgbClr val="003300"/>
                </a:solidFill>
                <a:latin typeface="Arial" panose="020B0604020202020204" pitchFamily="34" charset="0"/>
              </a:rPr>
              <a:t>et TP</a:t>
            </a: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0459" y="2767205"/>
            <a:ext cx="2809391" cy="1032294"/>
          </a:xfrm>
          <a:prstGeom prst="rect">
            <a:avLst/>
          </a:prstGeom>
          <a:ln>
            <a:solidFill>
              <a:srgbClr val="800000"/>
            </a:solidFill>
          </a:ln>
        </p:spPr>
      </p:pic>
      <p:pic>
        <p:nvPicPr>
          <p:cNvPr id="17" name="Imag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8512" y="1206670"/>
            <a:ext cx="4254849" cy="1205438"/>
          </a:xfrm>
          <a:prstGeom prst="rect">
            <a:avLst/>
          </a:prstGeom>
          <a:ln w="28575">
            <a:solidFill>
              <a:srgbClr val="800000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7182" grpId="0"/>
      <p:bldP spid="647183" grpId="0"/>
      <p:bldP spid="647185" grpId="0"/>
      <p:bldP spid="647186" grpId="0" animBg="1"/>
      <p:bldP spid="647188" grpId="0"/>
      <p:bldP spid="647189" grpId="0"/>
      <p:bldP spid="647190" grpId="0"/>
      <p:bldP spid="647191" grpId="0" animBg="1"/>
      <p:bldP spid="64719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Exemple : image nette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5844" name="Picture 4" descr="sce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1716088"/>
            <a:ext cx="299085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 descr="ne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6813"/>
            <a:ext cx="5557838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5" descr="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6813"/>
            <a:ext cx="5557838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Exemple : image convoluée</a:t>
            </a:r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7893" name="Picture 4" descr="sce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1163638"/>
            <a:ext cx="5559425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10" descr="h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338" y="1555750"/>
            <a:ext cx="1716087" cy="171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Text Box 11"/>
          <p:cNvSpPr txBox="1">
            <a:spLocks noChangeArrowheads="1"/>
          </p:cNvSpPr>
          <p:nvPr/>
        </p:nvSpPr>
        <p:spPr bwMode="auto">
          <a:xfrm>
            <a:off x="7893050" y="3328988"/>
            <a:ext cx="685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h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6813"/>
            <a:ext cx="5557838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Exemple : image déconvoluée (Wiener)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9941" name="Picture 5" descr="sce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1163638"/>
            <a:ext cx="5559425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6" descr="de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5225"/>
            <a:ext cx="5545138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Image nette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41988" name="Picture 4" descr="sce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1716088"/>
            <a:ext cx="299085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989" name="Picture 5" descr="ne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6813"/>
            <a:ext cx="5557838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34" name="Picture 2" descr="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6813"/>
            <a:ext cx="5557838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35" name="Text Box 3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Image déconvoluée (trop régularisée)</a:t>
            </a:r>
          </a:p>
        </p:txBody>
      </p:sp>
      <p:sp>
        <p:nvSpPr>
          <p:cNvPr id="44036" name="Text Box 4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44037" name="Picture 5" descr="sce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1163638"/>
            <a:ext cx="5559425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8" name="Picture 6" descr="de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5225"/>
            <a:ext cx="5545138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039" name="Picture 7" descr="dec_t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0388" y="1165225"/>
            <a:ext cx="5557837" cy="5557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4040" name="Text Box 10"/>
          <p:cNvSpPr txBox="1">
            <a:spLocks noChangeArrowheads="1"/>
          </p:cNvSpPr>
          <p:nvPr/>
        </p:nvSpPr>
        <p:spPr bwMode="auto">
          <a:xfrm>
            <a:off x="184150" y="1920875"/>
            <a:ext cx="8620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Symbol" panose="05050102010706020507" pitchFamily="18" charset="2"/>
              </a:rPr>
              <a:t>m</a:t>
            </a:r>
            <a:r>
              <a:rPr lang="en-US" altLang="fr-FR">
                <a:latin typeface="Arial" panose="020B0604020202020204" pitchFamily="34" charset="0"/>
              </a:rPr>
              <a:t> ?</a:t>
            </a:r>
          </a:p>
        </p:txBody>
      </p:sp>
      <p:sp>
        <p:nvSpPr>
          <p:cNvPr id="681995" name="Text Box 11"/>
          <p:cNvSpPr txBox="1">
            <a:spLocks noChangeArrowheads="1"/>
          </p:cNvSpPr>
          <p:nvPr/>
        </p:nvSpPr>
        <p:spPr bwMode="auto">
          <a:xfrm>
            <a:off x="647700" y="1919288"/>
            <a:ext cx="862013" cy="579437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Symbol" panose="05050102010706020507" pitchFamily="18" charset="2"/>
              </a:rPr>
              <a:t>&gt;&gt;1</a:t>
            </a:r>
            <a:endParaRPr lang="en-US" altLang="fr-FR">
              <a:latin typeface="Arial" panose="020B0604020202020204" pitchFamily="34" charset="0"/>
            </a:endParaRPr>
          </a:p>
        </p:txBody>
      </p:sp>
      <p:pic>
        <p:nvPicPr>
          <p:cNvPr id="2" name="Imag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117" y="1162129"/>
            <a:ext cx="2806405" cy="756365"/>
          </a:xfrm>
          <a:prstGeom prst="rect">
            <a:avLst/>
          </a:prstGeom>
          <a:ln w="28575">
            <a:solidFill>
              <a:srgbClr val="800000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1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199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6813"/>
            <a:ext cx="5557838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3" name="Text Box 3"/>
          <p:cNvSpPr txBox="1">
            <a:spLocks noChangeArrowheads="1"/>
          </p:cNvSpPr>
          <p:nvPr/>
        </p:nvSpPr>
        <p:spPr bwMode="auto">
          <a:xfrm>
            <a:off x="0" y="457200"/>
            <a:ext cx="914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Image déconvoluée (pas assez régularisée)</a:t>
            </a:r>
          </a:p>
        </p:txBody>
      </p:sp>
      <p:sp>
        <p:nvSpPr>
          <p:cNvPr id="46084" name="Text Box 4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46085" name="Picture 5" descr="sce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1163638"/>
            <a:ext cx="5559425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6" name="Picture 6" descr="de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5225"/>
            <a:ext cx="5545138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6087" name="Picture 7" descr="dec_p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4513" y="1169988"/>
            <a:ext cx="5559425" cy="5529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088" name="Text Box 11"/>
          <p:cNvSpPr txBox="1">
            <a:spLocks noChangeArrowheads="1"/>
          </p:cNvSpPr>
          <p:nvPr/>
        </p:nvSpPr>
        <p:spPr bwMode="auto">
          <a:xfrm>
            <a:off x="184150" y="1920875"/>
            <a:ext cx="8620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Symbol" panose="05050102010706020507" pitchFamily="18" charset="2"/>
              </a:rPr>
              <a:t>m</a:t>
            </a:r>
            <a:r>
              <a:rPr lang="en-US" altLang="fr-FR">
                <a:latin typeface="Arial" panose="020B0604020202020204" pitchFamily="34" charset="0"/>
              </a:rPr>
              <a:t> ?</a:t>
            </a:r>
          </a:p>
        </p:txBody>
      </p:sp>
      <p:sp>
        <p:nvSpPr>
          <p:cNvPr id="684044" name="Text Box 12"/>
          <p:cNvSpPr txBox="1">
            <a:spLocks noChangeArrowheads="1"/>
          </p:cNvSpPr>
          <p:nvPr/>
        </p:nvSpPr>
        <p:spPr bwMode="auto">
          <a:xfrm>
            <a:off x="633413" y="1919288"/>
            <a:ext cx="862012" cy="579437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Symbol" panose="05050102010706020507" pitchFamily="18" charset="2"/>
              </a:rPr>
              <a:t>&lt;&lt;1</a:t>
            </a:r>
            <a:endParaRPr lang="en-US" altLang="fr-FR">
              <a:latin typeface="Arial" panose="020B0604020202020204" pitchFamily="34" charset="0"/>
            </a:endParaRPr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8117" y="1162129"/>
            <a:ext cx="2806405" cy="756365"/>
          </a:xfrm>
          <a:prstGeom prst="rect">
            <a:avLst/>
          </a:prstGeom>
          <a:ln w="28575">
            <a:solidFill>
              <a:srgbClr val="800000"/>
            </a:solidFill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4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4044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3"/>
          <p:cNvSpPr txBox="1">
            <a:spLocks noChangeArrowheads="1"/>
          </p:cNvSpPr>
          <p:nvPr/>
        </p:nvSpPr>
        <p:spPr bwMode="auto">
          <a:xfrm>
            <a:off x="0" y="457200"/>
            <a:ext cx="9144000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Image à “déconvoluer” en TP</a:t>
            </a:r>
          </a:p>
        </p:txBody>
      </p:sp>
      <p:sp>
        <p:nvSpPr>
          <p:cNvPr id="48131" name="Text Box 4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48132" name="Picture 9" descr="hai_conv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925" y="1343025"/>
            <a:ext cx="6792913" cy="5094288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638982" name="Text Box 6"/>
          <p:cNvSpPr txBox="1">
            <a:spLocks noChangeArrowheads="1"/>
          </p:cNvSpPr>
          <p:nvPr/>
        </p:nvSpPr>
        <p:spPr bwMode="auto">
          <a:xfrm>
            <a:off x="180975" y="1924050"/>
            <a:ext cx="25304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000" b="0">
                <a:latin typeface="Arial" panose="020B0604020202020204" pitchFamily="34" charset="0"/>
              </a:rPr>
              <a:t> Le satellite SPOT 5 fournit des images floues ! </a:t>
            </a:r>
          </a:p>
        </p:txBody>
      </p:sp>
      <p:pic>
        <p:nvPicPr>
          <p:cNvPr id="638984" name="Picture 8" descr="spo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0" y="1177925"/>
            <a:ext cx="5045075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38986" name="Rectangle 10"/>
          <p:cNvSpPr>
            <a:spLocks noChangeArrowheads="1"/>
          </p:cNvSpPr>
          <p:nvPr/>
        </p:nvSpPr>
        <p:spPr bwMode="auto">
          <a:xfrm>
            <a:off x="5991225" y="1152525"/>
            <a:ext cx="2581275" cy="4572000"/>
          </a:xfrm>
          <a:prstGeom prst="rect">
            <a:avLst/>
          </a:prstGeom>
          <a:solidFill>
            <a:srgbClr val="FFFFCC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fr-FR" altLang="fr-FR" sz="2800">
              <a:solidFill>
                <a:srgbClr val="FFFFCC"/>
              </a:solidFill>
              <a:latin typeface="Symbol" panose="05050102010706020507" pitchFamily="18" charset="2"/>
            </a:endParaRPr>
          </a:p>
        </p:txBody>
      </p:sp>
      <p:sp>
        <p:nvSpPr>
          <p:cNvPr id="50184" name="Text Box 11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Exemple d’application</a:t>
            </a:r>
          </a:p>
        </p:txBody>
      </p:sp>
      <p:sp>
        <p:nvSpPr>
          <p:cNvPr id="50185" name="Text Box 12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0187" name="Text Box 14"/>
          <p:cNvSpPr txBox="1">
            <a:spLocks noChangeArrowheads="1"/>
          </p:cNvSpPr>
          <p:nvPr/>
        </p:nvSpPr>
        <p:spPr bwMode="auto">
          <a:xfrm>
            <a:off x="219075" y="1157288"/>
            <a:ext cx="31305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 u="sng">
                <a:latin typeface="Arial" panose="020B0604020202020204" pitchFamily="34" charset="0"/>
              </a:rPr>
              <a:t>Déconvolution des images SPOT: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3"/>
          <p:cNvSpPr>
            <a:spLocks noChangeArrowheads="1"/>
          </p:cNvSpPr>
          <p:nvPr/>
        </p:nvSpPr>
        <p:spPr bwMode="auto">
          <a:xfrm>
            <a:off x="0" y="31861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641032" name="Text Box 8"/>
          <p:cNvSpPr txBox="1">
            <a:spLocks noChangeArrowheads="1"/>
          </p:cNvSpPr>
          <p:nvPr/>
        </p:nvSpPr>
        <p:spPr bwMode="auto">
          <a:xfrm>
            <a:off x="898525" y="5975350"/>
            <a:ext cx="7493000" cy="730250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fr-FR" altLang="fr-FR" sz="2000">
                <a:solidFill>
                  <a:srgbClr val="800000"/>
                </a:solidFill>
                <a:latin typeface="Arial" panose="020B0604020202020204" pitchFamily="34" charset="0"/>
              </a:rPr>
              <a:t>Aujourd’hui, le traitement d’image fait partie intégrante du développement d’un système optique</a:t>
            </a:r>
          </a:p>
        </p:txBody>
      </p:sp>
      <p:pic>
        <p:nvPicPr>
          <p:cNvPr id="52228" name="Picture 9" descr="spo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8850" y="1177925"/>
            <a:ext cx="5045075" cy="453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229" name="Text Box 10"/>
          <p:cNvSpPr txBox="1">
            <a:spLocks noChangeArrowheads="1"/>
          </p:cNvSpPr>
          <p:nvPr/>
        </p:nvSpPr>
        <p:spPr bwMode="auto">
          <a:xfrm>
            <a:off x="219075" y="1157288"/>
            <a:ext cx="3130550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000" u="sng" dirty="0" err="1">
                <a:latin typeface="Arial" panose="020B0604020202020204" pitchFamily="34" charset="0"/>
              </a:rPr>
              <a:t>Déconvolution</a:t>
            </a:r>
            <a:r>
              <a:rPr lang="fr-FR" altLang="fr-FR" sz="2000" u="sng" dirty="0">
                <a:latin typeface="Arial" panose="020B0604020202020204" pitchFamily="34" charset="0"/>
              </a:rPr>
              <a:t> </a:t>
            </a:r>
            <a:r>
              <a:rPr lang="fr-FR" altLang="fr-FR" sz="2000" u="sng" dirty="0" smtClean="0">
                <a:latin typeface="Arial" panose="020B0604020202020204" pitchFamily="34" charset="0"/>
              </a:rPr>
              <a:t>des </a:t>
            </a:r>
            <a:r>
              <a:rPr lang="fr-FR" altLang="fr-FR" sz="2000" u="sng" dirty="0">
                <a:latin typeface="Arial" panose="020B0604020202020204" pitchFamily="34" charset="0"/>
              </a:rPr>
              <a:t>images SPOT:</a:t>
            </a:r>
          </a:p>
        </p:txBody>
      </p:sp>
      <p:sp>
        <p:nvSpPr>
          <p:cNvPr id="52230" name="Rectangle 11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  <p:sp>
        <p:nvSpPr>
          <p:cNvPr id="52231" name="Text Box 1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Exemple d’application</a:t>
            </a:r>
          </a:p>
        </p:txBody>
      </p:sp>
      <p:sp>
        <p:nvSpPr>
          <p:cNvPr id="52232" name="Text Box 1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sp>
        <p:nvSpPr>
          <p:cNvPr id="52233" name="Text Box 14"/>
          <p:cNvSpPr txBox="1">
            <a:spLocks noChangeArrowheads="1"/>
          </p:cNvSpPr>
          <p:nvPr/>
        </p:nvSpPr>
        <p:spPr bwMode="auto">
          <a:xfrm>
            <a:off x="180975" y="1924050"/>
            <a:ext cx="2530475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000" b="0">
                <a:latin typeface="Arial" panose="020B0604020202020204" pitchFamily="34" charset="0"/>
              </a:rPr>
              <a:t> Le satellite SPOT 5 fournit des images floues ! </a:t>
            </a:r>
          </a:p>
        </p:txBody>
      </p:sp>
      <p:sp>
        <p:nvSpPr>
          <p:cNvPr id="52234" name="Text Box 15"/>
          <p:cNvSpPr txBox="1">
            <a:spLocks noChangeArrowheads="1"/>
          </p:cNvSpPr>
          <p:nvPr/>
        </p:nvSpPr>
        <p:spPr bwMode="auto">
          <a:xfrm>
            <a:off x="187325" y="3154363"/>
            <a:ext cx="2882900" cy="1006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000" b="0">
                <a:latin typeface="Arial" panose="020B0604020202020204" pitchFamily="34" charset="0"/>
              </a:rPr>
              <a:t> L’image fournie au client est </a:t>
            </a:r>
            <a:r>
              <a:rPr lang="fr-FR" altLang="fr-FR" sz="2000">
                <a:latin typeface="Arial" panose="020B0604020202020204" pitchFamily="34" charset="0"/>
              </a:rPr>
              <a:t>déconvoluée numériquement.</a:t>
            </a:r>
            <a:r>
              <a:rPr lang="fr-FR" altLang="fr-FR" sz="2000" b="0">
                <a:latin typeface="Arial" panose="020B0604020202020204" pitchFamily="34" charset="0"/>
              </a:rPr>
              <a:t> </a:t>
            </a:r>
          </a:p>
        </p:txBody>
      </p:sp>
      <p:sp>
        <p:nvSpPr>
          <p:cNvPr id="52235" name="Text Box 16"/>
          <p:cNvSpPr txBox="1">
            <a:spLocks noChangeArrowheads="1"/>
          </p:cNvSpPr>
          <p:nvPr/>
        </p:nvSpPr>
        <p:spPr bwMode="auto">
          <a:xfrm>
            <a:off x="171450" y="4427538"/>
            <a:ext cx="3230563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000" b="0">
                <a:latin typeface="Arial" panose="020B0604020202020204" pitchFamily="34" charset="0"/>
              </a:rPr>
              <a:t> La déconvolution numérique est </a:t>
            </a:r>
            <a:r>
              <a:rPr lang="fr-FR" altLang="fr-FR" sz="2000">
                <a:latin typeface="Arial" panose="020B0604020202020204" pitchFamily="34" charset="0"/>
              </a:rPr>
              <a:t>prise en compte</a:t>
            </a:r>
            <a:r>
              <a:rPr lang="fr-FR" altLang="fr-FR" sz="2000" b="0">
                <a:latin typeface="Arial" panose="020B0604020202020204" pitchFamily="34" charset="0"/>
              </a:rPr>
              <a:t> dans le calcul du système optique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1032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/>
          <p:cNvSpPr txBox="1">
            <a:spLocks noChangeArrowheads="1"/>
          </p:cNvSpPr>
          <p:nvPr/>
        </p:nvSpPr>
        <p:spPr bwMode="auto">
          <a:xfrm>
            <a:off x="1533223" y="234684"/>
            <a:ext cx="636111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9pPr>
          </a:lstStyle>
          <a:p>
            <a:pPr algn="ctr"/>
            <a:r>
              <a:rPr lang="en-US" altLang="fr-FR" sz="3200" dirty="0" err="1" smtClean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Bilan</a:t>
            </a:r>
            <a:r>
              <a:rPr lang="en-US" altLang="fr-FR" sz="3200" dirty="0" smtClean="0">
                <a:solidFill>
                  <a:srgbClr val="CC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…</a:t>
            </a:r>
            <a:endParaRPr lang="en-US" altLang="fr-FR" sz="3200" dirty="0">
              <a:solidFill>
                <a:srgbClr val="CC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Box 2"/>
          <p:cNvSpPr txBox="1">
            <a:spLocks noChangeArrowheads="1"/>
          </p:cNvSpPr>
          <p:nvPr/>
        </p:nvSpPr>
        <p:spPr bwMode="auto">
          <a:xfrm>
            <a:off x="561745" y="1628442"/>
            <a:ext cx="22817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000" dirty="0" smtClean="0">
                <a:latin typeface="Calibri" panose="020F0502020204030204" pitchFamily="34" charset="0"/>
                <a:cs typeface="Arial" panose="020B0604020202020204" pitchFamily="34" charset="0"/>
              </a:rPr>
              <a:t>Un modèle …</a:t>
            </a:r>
            <a:endParaRPr lang="fr-FR" altLang="fr-FR" sz="20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/>
        </p:nvSpPr>
        <p:spPr bwMode="auto">
          <a:xfrm>
            <a:off x="561746" y="2329332"/>
            <a:ext cx="462162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000" dirty="0" smtClean="0">
                <a:latin typeface="Calibri" panose="020F0502020204030204" pitchFamily="34" charset="0"/>
                <a:cs typeface="Arial" panose="020B0604020202020204" pitchFamily="34" charset="0"/>
              </a:rPr>
              <a:t>Un objectif …      </a:t>
            </a:r>
            <a:r>
              <a:rPr lang="fr-FR" altLang="fr-FR" sz="2000" b="0" dirty="0" smtClean="0">
                <a:latin typeface="Calibri" panose="020F0502020204030204" pitchFamily="34" charset="0"/>
                <a:cs typeface="Arial" panose="020B0604020202020204" pitchFamily="34" charset="0"/>
              </a:rPr>
              <a:t>Trouver le filtre </a:t>
            </a:r>
            <a:r>
              <a:rPr lang="fr-FR" altLang="fr-FR" sz="2000" b="0" i="1" dirty="0" smtClean="0">
                <a:latin typeface="Calibri" panose="020F0502020204030204" pitchFamily="34" charset="0"/>
                <a:cs typeface="Arial" panose="020B0604020202020204" pitchFamily="34" charset="0"/>
              </a:rPr>
              <a:t>w(t)</a:t>
            </a:r>
            <a:r>
              <a:rPr lang="fr-FR" altLang="fr-FR" sz="2000" b="0" dirty="0" smtClean="0">
                <a:latin typeface="Calibri" panose="020F0502020204030204" pitchFamily="34" charset="0"/>
                <a:cs typeface="Arial" panose="020B0604020202020204" pitchFamily="34" charset="0"/>
              </a:rPr>
              <a:t> 		     qu</a:t>
            </a:r>
            <a:r>
              <a:rPr lang="fr-FR" altLang="fr-FR" sz="2000" b="0" dirty="0" smtClean="0">
                <a:latin typeface="Calibri" panose="020F0502020204030204" pitchFamily="34" charset="0"/>
              </a:rPr>
              <a:t>i minimise:</a:t>
            </a:r>
            <a:endParaRPr lang="fr-FR" altLang="fr-FR" sz="2000" b="0" baseline="-250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3928" y="1667406"/>
            <a:ext cx="2503349" cy="318366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6" name="Picture 28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1921" y="2445528"/>
            <a:ext cx="3566644" cy="475493"/>
          </a:xfrm>
          <a:prstGeom prst="rect">
            <a:avLst/>
          </a:prstGeom>
          <a:noFill/>
          <a:ln w="28575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2"/>
              <p:cNvSpPr txBox="1">
                <a:spLocks noChangeArrowheads="1"/>
              </p:cNvSpPr>
              <p:nvPr/>
            </p:nvSpPr>
            <p:spPr bwMode="auto">
              <a:xfrm>
                <a:off x="561745" y="3147040"/>
                <a:ext cx="5161842" cy="707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altLang="fr-FR" sz="2000" dirty="0" smtClean="0">
                    <a:latin typeface="Calibri" panose="020F0502020204030204" pitchFamily="34" charset="0"/>
                    <a:cs typeface="Arial" panose="020B0604020202020204" pitchFamily="34" charset="0"/>
                  </a:rPr>
                  <a:t>Solution…      </a:t>
                </a:r>
                <a:endParaRPr lang="fr-FR" altLang="fr-FR" sz="2000" b="0" dirty="0">
                  <a:latin typeface="Calibri" panose="020F0502020204030204" pitchFamily="34" charset="0"/>
                </a:endParaRPr>
              </a:p>
              <a:p>
                <a:r>
                  <a:rPr lang="fr-FR" altLang="fr-FR" sz="2000" b="0" dirty="0" smtClean="0">
                    <a:latin typeface="Calibri" panose="020F0502020204030204" pitchFamily="34" charset="0"/>
                    <a:cs typeface="Arial" panose="020B0604020202020204" pitchFamily="34" charset="0"/>
                  </a:rPr>
                  <a:t>       (si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𝑎</m:t>
                        </m:r>
                      </m:e>
                      <m:sub>
                        <m:r>
                          <a:rPr lang="fr-FR" altLang="fr-F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𝜆</m:t>
                        </m:r>
                      </m:sub>
                    </m:sSub>
                    <m:r>
                      <a:rPr lang="fr-FR" altLang="fr-FR" sz="2000" b="0" i="1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 </m:t>
                    </m:r>
                    <m:d>
                      <m:d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fr-FR" altLang="fr-FR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et</m:t>
                    </m:r>
                    <m:sSub>
                      <m:sSubPr>
                        <m:ctrlPr>
                          <a:rPr lang="fr-FR" altLang="fr-FR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fr-FR" altLang="fr-FR" sz="2000" b="0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d>
                      <m:dPr>
                        <m:ctrlPr>
                          <a:rPr lang="fr-FR" altLang="fr-FR" sz="20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fr-FR" altLang="fr-FR" sz="2000" b="0" i="0" smtClean="0">
                            <a:latin typeface="Cambria Math" panose="02040503050406030204" pitchFamily="18" charset="0"/>
                          </a:rPr>
                          <m:t>t</m:t>
                        </m:r>
                      </m:e>
                    </m:d>
                    <m:r>
                      <a:rPr lang="fr-FR" altLang="fr-F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altLang="fr-FR" sz="2000" b="0" i="0" smtClean="0">
                        <a:latin typeface="Cambria Math" panose="02040503050406030204" pitchFamily="18" charset="0"/>
                      </a:rPr>
                      <m:t>sont</m:t>
                    </m:r>
                    <m:r>
                      <a:rPr lang="fr-FR" altLang="fr-F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altLang="fr-FR" sz="2000" b="0" i="0" smtClean="0">
                        <a:latin typeface="Cambria Math" panose="02040503050406030204" pitchFamily="18" charset="0"/>
                      </a:rPr>
                      <m:t>independants</m:t>
                    </m:r>
                    <m:r>
                      <a:rPr lang="fr-FR" altLang="fr-FR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altLang="fr-FR" sz="2000" b="0" baseline="-25000" dirty="0" smtClean="0">
                  <a:latin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17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745" y="3147040"/>
                <a:ext cx="5161842" cy="707886"/>
              </a:xfrm>
              <a:prstGeom prst="rect">
                <a:avLst/>
              </a:prstGeom>
              <a:blipFill rotWithShape="0">
                <a:blip r:embed="rId5"/>
                <a:stretch>
                  <a:fillRect l="-1063" t="-4310" b="-146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1" name="Imag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4449" y="3302582"/>
            <a:ext cx="2366520" cy="613280"/>
          </a:xfrm>
          <a:prstGeom prst="rect">
            <a:avLst/>
          </a:prstGeom>
          <a:ln w="28575">
            <a:solidFill>
              <a:srgbClr val="800000"/>
            </a:solidFill>
          </a:ln>
        </p:spPr>
      </p:pic>
      <p:sp>
        <p:nvSpPr>
          <p:cNvPr id="22" name="Text Box 2"/>
          <p:cNvSpPr txBox="1">
            <a:spLocks noChangeArrowheads="1"/>
          </p:cNvSpPr>
          <p:nvPr/>
        </p:nvSpPr>
        <p:spPr bwMode="auto">
          <a:xfrm>
            <a:off x="90878" y="1067782"/>
            <a:ext cx="2275112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fr-FR" altLang="fr-FR" sz="2000" dirty="0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CAS GENERAL:</a:t>
            </a:r>
            <a:endParaRPr lang="fr-FR" altLang="fr-FR" sz="2000" b="0" baseline="-25000" dirty="0" smtClean="0">
              <a:solidFill>
                <a:srgbClr val="C0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90878" y="4039509"/>
            <a:ext cx="25400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9pPr>
          </a:lstStyle>
          <a:p>
            <a:pPr marL="342900" indent="-342900">
              <a:buFont typeface="Courier New" panose="02070309020205020404" pitchFamily="49" charset="0"/>
              <a:buChar char="o"/>
            </a:pPr>
            <a:r>
              <a:rPr lang="fr-FR" altLang="fr-FR" sz="2000" dirty="0" smtClean="0">
                <a:solidFill>
                  <a:srgbClr val="C00000"/>
                </a:solidFill>
                <a:latin typeface="Calibri" panose="020F0502020204030204" pitchFamily="34" charset="0"/>
                <a:cs typeface="Arial" panose="020B0604020202020204" pitchFamily="34" charset="0"/>
              </a:rPr>
              <a:t>DECONVOLUTION:</a:t>
            </a:r>
            <a:endParaRPr lang="fr-FR" altLang="fr-FR" sz="2000" b="0" baseline="-25000" dirty="0" smtClean="0">
              <a:solidFill>
                <a:srgbClr val="C00000"/>
              </a:solidFill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 Box 2"/>
          <p:cNvSpPr txBox="1">
            <a:spLocks noChangeArrowheads="1"/>
          </p:cNvSpPr>
          <p:nvPr/>
        </p:nvSpPr>
        <p:spPr bwMode="auto">
          <a:xfrm>
            <a:off x="555092" y="4550972"/>
            <a:ext cx="228176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000" dirty="0" smtClean="0">
                <a:latin typeface="Calibri" panose="020F0502020204030204" pitchFamily="34" charset="0"/>
                <a:cs typeface="Arial" panose="020B0604020202020204" pitchFamily="34" charset="0"/>
              </a:rPr>
              <a:t>Un modèle …</a:t>
            </a:r>
            <a:endParaRPr lang="fr-FR" altLang="fr-FR" sz="20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p:sp>
        <p:nvSpPr>
          <p:cNvPr id="28" name="Text Box 2"/>
          <p:cNvSpPr txBox="1">
            <a:spLocks noChangeArrowheads="1"/>
          </p:cNvSpPr>
          <p:nvPr/>
        </p:nvSpPr>
        <p:spPr bwMode="auto">
          <a:xfrm>
            <a:off x="555093" y="5251862"/>
            <a:ext cx="4621622" cy="707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1pPr>
            <a:lvl2pPr marL="742950" indent="-28575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2pPr>
            <a:lvl3pPr marL="11430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3pPr>
            <a:lvl4pPr marL="16002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4pPr>
            <a:lvl5pPr marL="2057400" indent="-228600" eaLnBrk="0" hangingPunct="0"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 b="1">
                <a:solidFill>
                  <a:schemeClr val="tx1"/>
                </a:solidFill>
                <a:latin typeface="Symbol" panose="05050102010706020507" pitchFamily="18" charset="2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fr-FR" altLang="fr-FR" sz="2000" dirty="0" smtClean="0">
                <a:latin typeface="Calibri" panose="020F0502020204030204" pitchFamily="34" charset="0"/>
                <a:cs typeface="Arial" panose="020B0604020202020204" pitchFamily="34" charset="0"/>
              </a:rPr>
              <a:t>Un objectif …      </a:t>
            </a:r>
            <a:r>
              <a:rPr lang="fr-FR" altLang="fr-FR" sz="2000" b="0" dirty="0" smtClean="0">
                <a:latin typeface="Calibri" panose="020F0502020204030204" pitchFamily="34" charset="0"/>
                <a:cs typeface="Arial" panose="020B0604020202020204" pitchFamily="34" charset="0"/>
              </a:rPr>
              <a:t>Trouver le filtre </a:t>
            </a:r>
            <a:r>
              <a:rPr lang="fr-FR" altLang="fr-FR" sz="2000" b="0" i="1" dirty="0" smtClean="0">
                <a:latin typeface="Calibri" panose="020F0502020204030204" pitchFamily="34" charset="0"/>
                <a:cs typeface="Arial" panose="020B0604020202020204" pitchFamily="34" charset="0"/>
              </a:rPr>
              <a:t>w(t)</a:t>
            </a:r>
            <a:r>
              <a:rPr lang="fr-FR" altLang="fr-FR" sz="2000" b="0" dirty="0" smtClean="0">
                <a:latin typeface="Calibri" panose="020F0502020204030204" pitchFamily="34" charset="0"/>
                <a:cs typeface="Arial" panose="020B0604020202020204" pitchFamily="34" charset="0"/>
              </a:rPr>
              <a:t> 		     qu</a:t>
            </a:r>
            <a:r>
              <a:rPr lang="fr-FR" altLang="fr-FR" sz="2000" b="0" dirty="0" smtClean="0">
                <a:latin typeface="Calibri" panose="020F0502020204030204" pitchFamily="34" charset="0"/>
              </a:rPr>
              <a:t>i minimise:</a:t>
            </a:r>
            <a:endParaRPr lang="fr-FR" altLang="fr-FR" sz="2000" b="0" baseline="-25000" dirty="0">
              <a:latin typeface="Calibri" panose="020F050202020403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 Box 2"/>
              <p:cNvSpPr txBox="1">
                <a:spLocks noChangeArrowheads="1"/>
              </p:cNvSpPr>
              <p:nvPr/>
            </p:nvSpPr>
            <p:spPr bwMode="auto">
              <a:xfrm>
                <a:off x="561745" y="6036471"/>
                <a:ext cx="4467455" cy="7078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>
                <a:lvl1pPr eaLnBrk="0" hangingPunct="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1pPr>
                <a:lvl2pPr marL="742950" indent="-285750" eaLnBrk="0" hangingPunct="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2pPr>
                <a:lvl3pPr marL="1143000" indent="-228600" eaLnBrk="0" hangingPunct="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3pPr>
                <a:lvl4pPr marL="1600200" indent="-228600" eaLnBrk="0" hangingPunct="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4pPr>
                <a:lvl5pPr marL="2057400" indent="-228600" eaLnBrk="0" hangingPunct="0"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800" b="1">
                    <a:solidFill>
                      <a:schemeClr val="tx1"/>
                    </a:solidFill>
                    <a:latin typeface="Symbol" panose="05050102010706020507" pitchFamily="18" charset="2"/>
                  </a:defRPr>
                </a:lvl9pPr>
              </a:lstStyle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fr-FR" altLang="fr-FR" sz="2000" dirty="0" smtClean="0">
                    <a:latin typeface="Calibri" panose="020F0502020204030204" pitchFamily="34" charset="0"/>
                    <a:cs typeface="Arial" panose="020B0604020202020204" pitchFamily="34" charset="0"/>
                  </a:rPr>
                  <a:t>Solution…      </a:t>
                </a:r>
              </a:p>
              <a:p>
                <a:r>
                  <a:rPr lang="fr-FR" altLang="fr-FR" sz="2000" b="0" dirty="0">
                    <a:latin typeface="Calibri" panose="020F0502020204030204" pitchFamily="34" charset="0"/>
                  </a:rPr>
                  <a:t> </a:t>
                </a:r>
                <a:r>
                  <a:rPr lang="fr-FR" altLang="fr-FR" sz="2000" b="0" dirty="0" smtClean="0">
                    <a:latin typeface="Calibri" panose="020F0502020204030204" pitchFamily="34" charset="0"/>
                  </a:rPr>
                  <a:t>     </a:t>
                </a:r>
                <a:r>
                  <a:rPr lang="fr-FR" altLang="fr-FR" sz="2000" b="0" dirty="0" smtClean="0">
                    <a:latin typeface="Calibri" panose="020F0502020204030204" pitchFamily="34" charset="0"/>
                    <a:cs typeface="Arial" panose="020B0604020202020204" pitchFamily="34" charset="0"/>
                  </a:rPr>
                  <a:t>(si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sSub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𝑟</m:t>
                        </m:r>
                      </m:e>
                      <m:sub>
                        <m:r>
                          <a:rPr lang="fr-FR" altLang="fr-F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𝜆</m:t>
                        </m:r>
                      </m:sub>
                    </m:sSub>
                    <m:d>
                      <m:d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fr-FR" altLang="fr-FR" sz="2000" b="0" i="0" smtClean="0">
                        <a:latin typeface="Cambria Math" panose="02040503050406030204" pitchFamily="18" charset="0"/>
                        <a:cs typeface="Arial" panose="020B0604020202020204" pitchFamily="34" charset="0"/>
                      </a:rPr>
                      <m:t>et</m:t>
                    </m:r>
                    <m:sSub>
                      <m:sSubPr>
                        <m:ctrlPr>
                          <a:rPr lang="fr-FR" altLang="fr-FR" sz="2000" b="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fr-FR" altLang="fr-FR" sz="2000" b="0" i="1">
                            <a:latin typeface="Cambria Math" panose="02040503050406030204" pitchFamily="18" charset="0"/>
                          </a:rPr>
                          <m:t>𝜆</m:t>
                        </m:r>
                      </m:sub>
                    </m:sSub>
                    <m:d>
                      <m:dPr>
                        <m:ctrlP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fr-FR" altLang="fr-FR" sz="20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m:rPr>
                        <m:sty m:val="p"/>
                      </m:rPr>
                      <a:rPr lang="fr-FR" altLang="fr-FR" sz="2000" b="0" i="0" smtClean="0">
                        <a:latin typeface="Cambria Math" panose="02040503050406030204" pitchFamily="18" charset="0"/>
                      </a:rPr>
                      <m:t>sont</m:t>
                    </m:r>
                    <m:r>
                      <a:rPr lang="fr-FR" altLang="fr-FR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fr-FR" altLang="fr-FR" sz="2000" b="0" i="0" smtClean="0">
                        <a:latin typeface="Cambria Math" panose="02040503050406030204" pitchFamily="18" charset="0"/>
                      </a:rPr>
                      <m:t>independants</m:t>
                    </m:r>
                    <m:r>
                      <a:rPr lang="fr-FR" altLang="fr-FR" sz="2000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fr-FR" altLang="fr-FR" sz="2000" b="0" baseline="-25000" dirty="0" smtClean="0">
                  <a:latin typeface="Calibri" panose="020F0502020204030204" pitchFamily="34" charset="0"/>
                  <a:cs typeface="Arial" panose="020B0604020202020204" pitchFamily="34" charset="0"/>
                </a:endParaRPr>
              </a:p>
            </p:txBody>
          </p:sp>
        </mc:Choice>
        <mc:Fallback>
          <p:sp>
            <p:nvSpPr>
              <p:cNvPr id="33" name="Text 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61745" y="6036471"/>
                <a:ext cx="4467455" cy="707886"/>
              </a:xfrm>
              <a:prstGeom prst="rect">
                <a:avLst/>
              </a:prstGeom>
              <a:blipFill rotWithShape="0">
                <a:blip r:embed="rId7"/>
                <a:stretch>
                  <a:fillRect l="-1228" t="-4310" b="-1465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5" name="Picture 1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325" y="4590947"/>
            <a:ext cx="2910913" cy="369865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6" name="Picture 13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6211" y="5189445"/>
            <a:ext cx="2809557" cy="453220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7" name="Image 36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6211" y="5975568"/>
            <a:ext cx="2504758" cy="709621"/>
          </a:xfrm>
          <a:prstGeom prst="rect">
            <a:avLst/>
          </a:prstGeom>
          <a:ln w="28575">
            <a:solidFill>
              <a:srgbClr val="800000"/>
            </a:solidFill>
          </a:ln>
        </p:spPr>
      </p:pic>
    </p:spTree>
    <p:extLst>
      <p:ext uri="{BB962C8B-B14F-4D97-AF65-F5344CB8AC3E}">
        <p14:creationId xmlns:p14="http://schemas.microsoft.com/office/powerpoint/2010/main" val="49748281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17" grpId="0"/>
      <p:bldP spid="23" grpId="0"/>
      <p:bldP spid="25" grpId="0"/>
      <p:bldP spid="28" grpId="0"/>
      <p:bldP spid="33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Exemple : image nette</a:t>
            </a:r>
          </a:p>
        </p:txBody>
      </p:sp>
      <p:sp>
        <p:nvSpPr>
          <p:cNvPr id="35843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5844" name="Picture 4" descr="scene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90863" y="1716088"/>
            <a:ext cx="2990850" cy="299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845" name="Picture 5" descr="net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6813"/>
            <a:ext cx="5557838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423925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890" name="Picture 5" descr="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6813"/>
            <a:ext cx="5557838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1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Exemple : image convoluée</a:t>
            </a:r>
          </a:p>
        </p:txBody>
      </p:sp>
      <p:sp>
        <p:nvSpPr>
          <p:cNvPr id="37892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7893" name="Picture 4" descr="sce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1163638"/>
            <a:ext cx="5559425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894" name="Picture 10" descr="h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9338" y="1555750"/>
            <a:ext cx="1716087" cy="1716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5" name="Text Box 11"/>
          <p:cNvSpPr txBox="1">
            <a:spLocks noChangeArrowheads="1"/>
          </p:cNvSpPr>
          <p:nvPr/>
        </p:nvSpPr>
        <p:spPr bwMode="auto">
          <a:xfrm>
            <a:off x="7893050" y="3328988"/>
            <a:ext cx="6858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h</a:t>
            </a:r>
          </a:p>
        </p:txBody>
      </p:sp>
    </p:spTree>
    <p:extLst>
      <p:ext uri="{BB962C8B-B14F-4D97-AF65-F5344CB8AC3E}">
        <p14:creationId xmlns:p14="http://schemas.microsoft.com/office/powerpoint/2010/main" val="195326730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938" name="Picture 2" descr="ne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6813"/>
            <a:ext cx="5557838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39" name="Text Box 3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Exemple : image déconvoluée (Wiener)</a:t>
            </a:r>
          </a:p>
        </p:txBody>
      </p:sp>
      <p:sp>
        <p:nvSpPr>
          <p:cNvPr id="39940" name="Text Box 4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39941" name="Picture 5" descr="scene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2925" y="1163638"/>
            <a:ext cx="5559425" cy="555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9942" name="Picture 6" descr="dec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8800" y="1165225"/>
            <a:ext cx="5545138" cy="5545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1198013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Filtre de Wiener</a:t>
            </a:r>
          </a:p>
        </p:txBody>
      </p:sp>
      <p:sp>
        <p:nvSpPr>
          <p:cNvPr id="54275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542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2038" y="1320800"/>
            <a:ext cx="3273425" cy="1225550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427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7100" y="1373188"/>
            <a:ext cx="2058988" cy="979487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278" name="Text Box 6"/>
          <p:cNvSpPr txBox="1">
            <a:spLocks noChangeArrowheads="1"/>
          </p:cNvSpPr>
          <p:nvPr/>
        </p:nvSpPr>
        <p:spPr bwMode="auto">
          <a:xfrm>
            <a:off x="4803775" y="1622425"/>
            <a:ext cx="8858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latin typeface="Arial" panose="020B0604020202020204" pitchFamily="34" charset="0"/>
              </a:rPr>
              <a:t>avec</a:t>
            </a:r>
          </a:p>
        </p:txBody>
      </p:sp>
      <p:sp>
        <p:nvSpPr>
          <p:cNvPr id="54279" name="Text Box 7"/>
          <p:cNvSpPr txBox="1">
            <a:spLocks noChangeArrowheads="1"/>
          </p:cNvSpPr>
          <p:nvPr/>
        </p:nvSpPr>
        <p:spPr bwMode="auto">
          <a:xfrm>
            <a:off x="147638" y="3052763"/>
            <a:ext cx="87963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>
                <a:latin typeface="Arial" panose="020B0604020202020204" pitchFamily="34" charset="0"/>
              </a:rPr>
              <a:t> Problème ? </a:t>
            </a:r>
          </a:p>
        </p:txBody>
      </p:sp>
      <p:sp>
        <p:nvSpPr>
          <p:cNvPr id="659464" name="Text Box 8"/>
          <p:cNvSpPr txBox="1">
            <a:spLocks noChangeArrowheads="1"/>
          </p:cNvSpPr>
          <p:nvPr/>
        </p:nvSpPr>
        <p:spPr bwMode="auto">
          <a:xfrm>
            <a:off x="588963" y="4098925"/>
            <a:ext cx="85550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latin typeface="Arial" panose="020B0604020202020204" pitchFamily="34" charset="0"/>
              </a:rPr>
              <a:t>- En général, b(t) est blanc (mais il faut connaître sa variance)  </a:t>
            </a:r>
          </a:p>
        </p:txBody>
      </p:sp>
      <p:sp>
        <p:nvSpPr>
          <p:cNvPr id="659465" name="Text Box 9"/>
          <p:cNvSpPr txBox="1">
            <a:spLocks noChangeArrowheads="1"/>
          </p:cNvSpPr>
          <p:nvPr/>
        </p:nvSpPr>
        <p:spPr bwMode="auto">
          <a:xfrm>
            <a:off x="2236788" y="3052763"/>
            <a:ext cx="69072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latin typeface="Arial" panose="020B0604020202020204" pitchFamily="34" charset="0"/>
              </a:rPr>
              <a:t>Pour calculer w(</a:t>
            </a:r>
            <a:r>
              <a:rPr lang="fr-FR" altLang="fr-FR" sz="2400" b="0">
                <a:latin typeface="Symbol" panose="05050102010706020507" pitchFamily="18" charset="2"/>
              </a:rPr>
              <a:t>n</a:t>
            </a:r>
            <a:r>
              <a:rPr lang="fr-FR" altLang="fr-FR" sz="2400" b="0">
                <a:latin typeface="Arial" panose="020B0604020202020204" pitchFamily="34" charset="0"/>
              </a:rPr>
              <a:t>), il faut connaître </a:t>
            </a:r>
            <a:r>
              <a:rPr lang="fr-FR" altLang="fr-FR" sz="2400" b="0">
                <a:latin typeface="Symbol" panose="05050102010706020507" pitchFamily="18" charset="2"/>
              </a:rPr>
              <a:t>G</a:t>
            </a:r>
            <a:r>
              <a:rPr lang="fr-FR" altLang="fr-FR" sz="2400" b="0" baseline="-25000">
                <a:latin typeface="Arial" panose="020B0604020202020204" pitchFamily="34" charset="0"/>
              </a:rPr>
              <a:t>bb</a:t>
            </a:r>
            <a:r>
              <a:rPr lang="fr-FR" altLang="fr-FR" sz="2400" b="0">
                <a:latin typeface="Arial" panose="020B0604020202020204" pitchFamily="34" charset="0"/>
              </a:rPr>
              <a:t>(</a:t>
            </a:r>
            <a:r>
              <a:rPr lang="fr-FR" altLang="fr-FR" sz="2400" b="0">
                <a:latin typeface="Symbol" panose="05050102010706020507" pitchFamily="18" charset="2"/>
              </a:rPr>
              <a:t>n</a:t>
            </a:r>
            <a:r>
              <a:rPr lang="fr-FR" altLang="fr-FR" sz="2400" b="0">
                <a:latin typeface="Arial" panose="020B0604020202020204" pitchFamily="34" charset="0"/>
              </a:rPr>
              <a:t>) et </a:t>
            </a:r>
            <a:r>
              <a:rPr lang="fr-FR" altLang="fr-FR" sz="2400" b="0">
                <a:latin typeface="Symbol" panose="05050102010706020507" pitchFamily="18" charset="2"/>
              </a:rPr>
              <a:t>G</a:t>
            </a:r>
            <a:r>
              <a:rPr lang="fr-FR" altLang="fr-FR" sz="2400" b="0" baseline="-25000">
                <a:latin typeface="Arial" panose="020B0604020202020204" pitchFamily="34" charset="0"/>
              </a:rPr>
              <a:t>rr</a:t>
            </a:r>
            <a:r>
              <a:rPr lang="fr-FR" altLang="fr-FR" sz="2400" b="0">
                <a:latin typeface="Symbol" panose="05050102010706020507" pitchFamily="18" charset="2"/>
              </a:rPr>
              <a:t>(n)</a:t>
            </a:r>
            <a:endParaRPr lang="fr-FR" altLang="fr-FR" sz="2400" b="0">
              <a:latin typeface="Arial" panose="020B0604020202020204" pitchFamily="34" charset="0"/>
            </a:endParaRPr>
          </a:p>
        </p:txBody>
      </p:sp>
      <p:sp>
        <p:nvSpPr>
          <p:cNvPr id="659466" name="Text Box 10"/>
          <p:cNvSpPr txBox="1">
            <a:spLocks noChangeArrowheads="1"/>
          </p:cNvSpPr>
          <p:nvPr/>
        </p:nvSpPr>
        <p:spPr bwMode="auto">
          <a:xfrm>
            <a:off x="604838" y="4800600"/>
            <a:ext cx="79692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latin typeface="Arial" panose="020B0604020202020204" pitchFamily="34" charset="0"/>
              </a:rPr>
              <a:t>- </a:t>
            </a:r>
            <a:r>
              <a:rPr lang="fr-FR" altLang="fr-FR" sz="2400" b="0" i="1">
                <a:latin typeface="Arial" panose="020B0604020202020204" pitchFamily="34" charset="0"/>
              </a:rPr>
              <a:t>r(t)</a:t>
            </a:r>
            <a:r>
              <a:rPr lang="fr-FR" altLang="fr-FR" sz="2400" b="0">
                <a:latin typeface="Arial" panose="020B0604020202020204" pitchFamily="34" charset="0"/>
              </a:rPr>
              <a:t> est blanc ? Dans ce cas, </a:t>
            </a:r>
            <a:r>
              <a:rPr lang="fr-FR" altLang="fr-FR" sz="2400" b="0">
                <a:latin typeface="Symbol" panose="05050102010706020507" pitchFamily="18" charset="2"/>
              </a:rPr>
              <a:t>h(n)</a:t>
            </a:r>
            <a:r>
              <a:rPr lang="fr-FR" altLang="fr-FR" sz="2400" b="0">
                <a:latin typeface="Arial" panose="020B0604020202020204" pitchFamily="34" charset="0"/>
              </a:rPr>
              <a:t> est une constante.</a:t>
            </a:r>
          </a:p>
        </p:txBody>
      </p:sp>
      <p:sp>
        <p:nvSpPr>
          <p:cNvPr id="659467" name="Text Box 11"/>
          <p:cNvSpPr txBox="1">
            <a:spLocks noChangeArrowheads="1"/>
          </p:cNvSpPr>
          <p:nvPr/>
        </p:nvSpPr>
        <p:spPr bwMode="auto">
          <a:xfrm>
            <a:off x="1978025" y="5645150"/>
            <a:ext cx="54721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solidFill>
                  <a:srgbClr val="003300"/>
                </a:solidFill>
                <a:latin typeface="Arial" panose="020B0604020202020204" pitchFamily="34" charset="0"/>
              </a:rPr>
              <a:t>En général, l’hypothèse que </a:t>
            </a:r>
            <a:r>
              <a:rPr lang="fr-FR" altLang="fr-FR" sz="2400" b="0" i="1">
                <a:solidFill>
                  <a:srgbClr val="003300"/>
                </a:solidFill>
                <a:latin typeface="Arial" panose="020B0604020202020204" pitchFamily="34" charset="0"/>
              </a:rPr>
              <a:t>r(t)</a:t>
            </a:r>
            <a:r>
              <a:rPr lang="fr-FR" altLang="fr-FR" sz="2400" b="0">
                <a:solidFill>
                  <a:srgbClr val="003300"/>
                </a:solidFill>
                <a:latin typeface="Arial" panose="020B0604020202020204" pitchFamily="34" charset="0"/>
              </a:rPr>
              <a:t> est blanc n’est pas très pertinente. </a:t>
            </a:r>
          </a:p>
        </p:txBody>
      </p:sp>
      <p:sp>
        <p:nvSpPr>
          <p:cNvPr id="659468" name="AutoShape 12"/>
          <p:cNvSpPr>
            <a:spLocks noChangeArrowheads="1"/>
          </p:cNvSpPr>
          <p:nvPr/>
        </p:nvSpPr>
        <p:spPr bwMode="auto">
          <a:xfrm rot="10800000" flipH="1">
            <a:off x="1336675" y="5843588"/>
            <a:ext cx="342900" cy="293687"/>
          </a:xfrm>
          <a:prstGeom prst="rightArrow">
            <a:avLst>
              <a:gd name="adj1" fmla="val 50269"/>
              <a:gd name="adj2" fmla="val 58919"/>
            </a:avLst>
          </a:prstGeom>
          <a:noFill/>
          <a:ln w="76200">
            <a:solidFill>
              <a:srgbClr val="0033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9464" grpId="0"/>
      <p:bldP spid="659465" grpId="0"/>
      <p:bldP spid="659466" grpId="0"/>
      <p:bldP spid="659467" grpId="0"/>
      <p:bldP spid="65946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Filtre de Wiener</a:t>
            </a:r>
          </a:p>
        </p:txBody>
      </p:sp>
      <p:sp>
        <p:nvSpPr>
          <p:cNvPr id="56323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56324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4538" y="1220788"/>
            <a:ext cx="7940675" cy="51101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Filtre de Wiener</a:t>
            </a:r>
          </a:p>
        </p:txBody>
      </p:sp>
      <p:sp>
        <p:nvSpPr>
          <p:cNvPr id="58371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58372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3" y="1181100"/>
            <a:ext cx="3948112" cy="397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63557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5338" y="1225550"/>
            <a:ext cx="4011612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63558" name="Text Box 6"/>
          <p:cNvSpPr txBox="1">
            <a:spLocks noChangeArrowheads="1"/>
          </p:cNvSpPr>
          <p:nvPr/>
        </p:nvSpPr>
        <p:spPr bwMode="auto">
          <a:xfrm>
            <a:off x="104775" y="5367338"/>
            <a:ext cx="879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En général, r(t) est un signal passe-bas. </a:t>
            </a:r>
          </a:p>
        </p:txBody>
      </p:sp>
      <p:sp>
        <p:nvSpPr>
          <p:cNvPr id="663559" name="Text Box 7"/>
          <p:cNvSpPr txBox="1">
            <a:spLocks noChangeArrowheads="1"/>
          </p:cNvSpPr>
          <p:nvPr/>
        </p:nvSpPr>
        <p:spPr bwMode="auto">
          <a:xfrm>
            <a:off x="92075" y="5983288"/>
            <a:ext cx="87963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 b="0">
                <a:latin typeface="Arial" panose="020B0604020202020204" pitchFamily="34" charset="0"/>
              </a:rPr>
              <a:t> Pour estimer </a:t>
            </a:r>
            <a:r>
              <a:rPr lang="fr-FR" altLang="fr-FR" sz="2400" b="0">
                <a:latin typeface="Symbol" panose="05050102010706020507" pitchFamily="18" charset="2"/>
              </a:rPr>
              <a:t>G</a:t>
            </a:r>
            <a:r>
              <a:rPr lang="fr-FR" altLang="fr-FR" sz="2400" b="0" baseline="-25000">
                <a:latin typeface="Arial" panose="020B0604020202020204" pitchFamily="34" charset="0"/>
              </a:rPr>
              <a:t>rr</a:t>
            </a:r>
            <a:r>
              <a:rPr lang="fr-FR" altLang="fr-FR" sz="2400" b="0">
                <a:latin typeface="Arial" panose="020B0604020202020204" pitchFamily="34" charset="0"/>
              </a:rPr>
              <a:t>(</a:t>
            </a:r>
            <a:r>
              <a:rPr lang="fr-FR" altLang="fr-FR" sz="2400" b="0">
                <a:latin typeface="Symbol" panose="05050102010706020507" pitchFamily="18" charset="2"/>
              </a:rPr>
              <a:t>n</a:t>
            </a:r>
            <a:r>
              <a:rPr lang="fr-FR" altLang="fr-FR" sz="2400" b="0">
                <a:latin typeface="Arial" panose="020B0604020202020204" pitchFamily="34" charset="0"/>
              </a:rPr>
              <a:t>) ? </a:t>
            </a:r>
          </a:p>
        </p:txBody>
      </p:sp>
      <p:pic>
        <p:nvPicPr>
          <p:cNvPr id="663560" name="Picture 8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8513" y="5940425"/>
            <a:ext cx="2343150" cy="722313"/>
          </a:xfrm>
          <a:prstGeom prst="rect">
            <a:avLst/>
          </a:prstGeom>
          <a:noFill/>
          <a:ln w="9525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558" grpId="0"/>
      <p:bldP spid="663559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Text Box 2"/>
          <p:cNvSpPr txBox="1">
            <a:spLocks noChangeArrowheads="1"/>
          </p:cNvSpPr>
          <p:nvPr/>
        </p:nvSpPr>
        <p:spPr bwMode="auto">
          <a:xfrm>
            <a:off x="593725" y="457200"/>
            <a:ext cx="80168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>
              <a:spcBef>
                <a:spcPct val="0"/>
              </a:spcBef>
              <a:buFontTx/>
              <a:buNone/>
            </a:pPr>
            <a:r>
              <a:rPr lang="en-US" altLang="fr-FR">
                <a:latin typeface="Arial" panose="020B0604020202020204" pitchFamily="34" charset="0"/>
              </a:rPr>
              <a:t>Filtre de Wiener</a:t>
            </a:r>
          </a:p>
        </p:txBody>
      </p:sp>
      <p:sp>
        <p:nvSpPr>
          <p:cNvPr id="60419" name="Text Box 3"/>
          <p:cNvSpPr txBox="1">
            <a:spLocks noChangeArrowheads="1"/>
          </p:cNvSpPr>
          <p:nvPr/>
        </p:nvSpPr>
        <p:spPr bwMode="auto">
          <a:xfrm>
            <a:off x="0" y="0"/>
            <a:ext cx="47434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bg2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en-US" altLang="fr-FR" sz="2000">
                <a:solidFill>
                  <a:schemeClr val="bg2"/>
                </a:solidFill>
                <a:latin typeface="Arial" panose="020B0604020202020204" pitchFamily="34" charset="0"/>
              </a:rPr>
              <a:t>V. Restauration : Filtre de Wiener</a:t>
            </a:r>
            <a:endParaRPr lang="fr-FR" altLang="fr-FR" sz="2000" b="0">
              <a:solidFill>
                <a:schemeClr val="bg2"/>
              </a:solidFill>
              <a:latin typeface="Arial" panose="020B0604020202020204" pitchFamily="34" charset="0"/>
            </a:endParaRPr>
          </a:p>
        </p:txBody>
      </p:sp>
      <p:pic>
        <p:nvPicPr>
          <p:cNvPr id="60420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013" y="1181100"/>
            <a:ext cx="3948112" cy="39798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0421" name="Picture 5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1050" y="1239838"/>
            <a:ext cx="4011613" cy="390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0422" name="Text Box 6"/>
          <p:cNvSpPr txBox="1">
            <a:spLocks noChangeArrowheads="1"/>
          </p:cNvSpPr>
          <p:nvPr/>
        </p:nvSpPr>
        <p:spPr bwMode="auto">
          <a:xfrm>
            <a:off x="104775" y="5210175"/>
            <a:ext cx="8796338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 type="none" w="sm" len="sm"/>
                <a:tailEnd type="none" w="sm" len="sm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r>
              <a:rPr lang="fr-FR" altLang="fr-FR" sz="2400">
                <a:latin typeface="Arial" panose="020B0604020202020204" pitchFamily="34" charset="0"/>
              </a:rPr>
              <a:t> Autre problème :</a:t>
            </a:r>
            <a:r>
              <a:rPr lang="fr-FR" altLang="fr-FR" sz="2400" b="0">
                <a:latin typeface="Arial" panose="020B0604020202020204" pitchFamily="34" charset="0"/>
              </a:rPr>
              <a:t> la moyenne des </a:t>
            </a:r>
            <a:r>
              <a:rPr lang="fr-FR" altLang="fr-FR" sz="2400" b="0">
                <a:latin typeface="Symbol" panose="05050102010706020507" pitchFamily="18" charset="2"/>
              </a:rPr>
              <a:t>G</a:t>
            </a:r>
            <a:r>
              <a:rPr lang="fr-FR" altLang="fr-FR" sz="2400" b="0" baseline="-25000">
                <a:latin typeface="Arial" panose="020B0604020202020204" pitchFamily="34" charset="0"/>
              </a:rPr>
              <a:t>rr</a:t>
            </a:r>
            <a:r>
              <a:rPr lang="fr-FR" altLang="fr-FR" sz="2400" b="0">
                <a:latin typeface="Symbol" panose="05050102010706020507" pitchFamily="18" charset="2"/>
              </a:rPr>
              <a:t>(n)</a:t>
            </a:r>
            <a:r>
              <a:rPr lang="fr-FR" altLang="fr-FR" sz="2800">
                <a:latin typeface="Symbol" panose="05050102010706020507" pitchFamily="18" charset="2"/>
              </a:rPr>
              <a:t> </a:t>
            </a:r>
            <a:r>
              <a:rPr lang="fr-FR" altLang="fr-FR" sz="2400" b="0">
                <a:latin typeface="Arial" panose="020B0604020202020204" pitchFamily="34" charset="0"/>
              </a:rPr>
              <a:t>n’est pas forcément représentative du </a:t>
            </a:r>
            <a:r>
              <a:rPr lang="fr-FR" altLang="fr-FR" sz="2400" b="0">
                <a:latin typeface="Symbol" panose="05050102010706020507" pitchFamily="18" charset="2"/>
              </a:rPr>
              <a:t>G</a:t>
            </a:r>
            <a:r>
              <a:rPr lang="fr-FR" altLang="fr-FR" sz="2400" b="0" baseline="-25000">
                <a:latin typeface="Arial" panose="020B0604020202020204" pitchFamily="34" charset="0"/>
              </a:rPr>
              <a:t>rr</a:t>
            </a:r>
            <a:r>
              <a:rPr lang="fr-FR" altLang="fr-FR" sz="2400" b="0">
                <a:latin typeface="Symbol" panose="05050102010706020507" pitchFamily="18" charset="2"/>
              </a:rPr>
              <a:t>(n)</a:t>
            </a:r>
            <a:r>
              <a:rPr lang="fr-FR" altLang="fr-FR" sz="2800">
                <a:latin typeface="Symbol" panose="05050102010706020507" pitchFamily="18" charset="2"/>
              </a:rPr>
              <a:t> </a:t>
            </a:r>
            <a:r>
              <a:rPr lang="fr-FR" altLang="fr-FR" sz="2400" b="0">
                <a:latin typeface="Arial" panose="020B0604020202020204" pitchFamily="34" charset="0"/>
              </a:rPr>
              <a:t>correspondant à l’image qu’on traite</a:t>
            </a:r>
          </a:p>
        </p:txBody>
      </p:sp>
      <p:sp>
        <p:nvSpPr>
          <p:cNvPr id="665607" name="Text Box 7"/>
          <p:cNvSpPr txBox="1">
            <a:spLocks noChangeArrowheads="1"/>
          </p:cNvSpPr>
          <p:nvPr/>
        </p:nvSpPr>
        <p:spPr bwMode="auto">
          <a:xfrm>
            <a:off x="2247900" y="6221413"/>
            <a:ext cx="4151313" cy="485775"/>
          </a:xfrm>
          <a:prstGeom prst="rect">
            <a:avLst/>
          </a:prstGeom>
          <a:noFill/>
          <a:ln w="28575">
            <a:solidFill>
              <a:srgbClr val="800000"/>
            </a:solidFill>
            <a:miter lim="800000"/>
            <a:headEnd type="none" w="sm" len="sm"/>
            <a:tailEnd type="none" w="sm" len="sm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r>
              <a:rPr lang="fr-FR" altLang="fr-FR" sz="2400" b="0">
                <a:solidFill>
                  <a:srgbClr val="800000"/>
                </a:solidFill>
                <a:latin typeface="Arial" panose="020B0604020202020204" pitchFamily="34" charset="0"/>
              </a:rPr>
              <a:t>Problème de non-ergodicité</a:t>
            </a:r>
          </a:p>
        </p:txBody>
      </p:sp>
      <p:sp>
        <p:nvSpPr>
          <p:cNvPr id="665608" name="AutoShape 8"/>
          <p:cNvSpPr>
            <a:spLocks noChangeArrowheads="1"/>
          </p:cNvSpPr>
          <p:nvPr/>
        </p:nvSpPr>
        <p:spPr bwMode="auto">
          <a:xfrm rot="10800000" flipH="1">
            <a:off x="1552575" y="6337300"/>
            <a:ext cx="342900" cy="293688"/>
          </a:xfrm>
          <a:prstGeom prst="rightArrow">
            <a:avLst>
              <a:gd name="adj1" fmla="val 50269"/>
              <a:gd name="adj2" fmla="val 58919"/>
            </a:avLst>
          </a:prstGeom>
          <a:noFill/>
          <a:ln w="76200">
            <a:solidFill>
              <a:srgbClr val="8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fr-FR" altLang="fr-FR" sz="2800">
              <a:latin typeface="Symbol" panose="05050102010706020507" pitchFamily="18" charset="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07" grpId="0" animBg="1"/>
      <p:bldP spid="665608" grpId="0" animBg="1"/>
    </p:bldLst>
  </p:timing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ymbol" pitchFamily="18" charset="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Symbol" pitchFamily="18" charset="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18892</TotalTime>
  <Words>1232</Words>
  <Application>Microsoft Office PowerPoint</Application>
  <PresentationFormat>Affichage à l'écran (4:3)</PresentationFormat>
  <Paragraphs>278</Paragraphs>
  <Slides>37</Slides>
  <Notes>37</Notes>
  <HiddenSlides>4</HiddenSlides>
  <MMClips>0</MMClips>
  <ScaleCrop>false</ScaleCrop>
  <HeadingPairs>
    <vt:vector size="8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37</vt:i4>
      </vt:variant>
    </vt:vector>
  </HeadingPairs>
  <TitlesOfParts>
    <vt:vector size="45" baseType="lpstr">
      <vt:lpstr>Arial</vt:lpstr>
      <vt:lpstr>Calibri</vt:lpstr>
      <vt:lpstr>Cambria Math</vt:lpstr>
      <vt:lpstr>Courier New</vt:lpstr>
      <vt:lpstr>Symbol</vt:lpstr>
      <vt:lpstr>Times New Roman</vt:lpstr>
      <vt:lpstr>Modèle par défaut</vt:lpstr>
      <vt:lpstr>Equation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Francois</dc:creator>
  <cp:lastModifiedBy>Francois</cp:lastModifiedBy>
  <cp:revision>272</cp:revision>
  <dcterms:created xsi:type="dcterms:W3CDTF">1601-01-01T00:00:00Z</dcterms:created>
  <dcterms:modified xsi:type="dcterms:W3CDTF">2021-02-22T06:39:40Z</dcterms:modified>
</cp:coreProperties>
</file>